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99" r:id="rId8"/>
    <p:sldId id="300" r:id="rId9"/>
    <p:sldId id="263" r:id="rId10"/>
    <p:sldId id="264" r:id="rId11"/>
    <p:sldId id="266" r:id="rId12"/>
    <p:sldId id="267" r:id="rId13"/>
    <p:sldId id="268" r:id="rId14"/>
    <p:sldId id="261" r:id="rId15"/>
    <p:sldId id="265" r:id="rId16"/>
    <p:sldId id="269" r:id="rId17"/>
    <p:sldId id="270" r:id="rId18"/>
    <p:sldId id="275" r:id="rId19"/>
    <p:sldId id="276" r:id="rId20"/>
    <p:sldId id="277" r:id="rId21"/>
    <p:sldId id="279" r:id="rId22"/>
    <p:sldId id="278" r:id="rId23"/>
    <p:sldId id="271" r:id="rId24"/>
    <p:sldId id="272" r:id="rId25"/>
    <p:sldId id="281" r:id="rId26"/>
    <p:sldId id="280" r:id="rId27"/>
    <p:sldId id="282" r:id="rId28"/>
    <p:sldId id="283" r:id="rId29"/>
    <p:sldId id="274" r:id="rId30"/>
    <p:sldId id="284" r:id="rId31"/>
    <p:sldId id="285" r:id="rId32"/>
    <p:sldId id="273"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9CEB54A-5AA3-4A4D-AD3D-01ED13D24800}" type="datetimeFigureOut">
              <a:rPr lang="en-IN" smtClean="0"/>
              <a:t>25-04-2025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01DA63-205A-4615-9BFC-1A3E31B870E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843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EB54A-5AA3-4A4D-AD3D-01ED13D24800}" type="datetimeFigureOut">
              <a:rPr lang="en-IN" smtClean="0"/>
              <a:t>25-04-2025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834966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EB54A-5AA3-4A4D-AD3D-01ED13D24800}" type="datetimeFigureOut">
              <a:rPr lang="en-IN" smtClean="0"/>
              <a:t>25-04-2025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01DA63-205A-4615-9BFC-1A3E31B870E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647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CEB54A-5AA3-4A4D-AD3D-01ED13D24800}" type="datetimeFigureOut">
              <a:rPr lang="en-IN" smtClean="0"/>
              <a:t>25-04-2025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366685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CEB54A-5AA3-4A4D-AD3D-01ED13D24800}" type="datetimeFigureOut">
              <a:rPr lang="en-IN" smtClean="0"/>
              <a:t>25-04-2025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2059267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CEB54A-5AA3-4A4D-AD3D-01ED13D24800}" type="datetimeFigureOut">
              <a:rPr lang="en-IN" smtClean="0"/>
              <a:t>25-04-2025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235816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CEB54A-5AA3-4A4D-AD3D-01ED13D24800}" type="datetimeFigureOut">
              <a:rPr lang="en-IN" smtClean="0"/>
              <a:t>25-04-2025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3959208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CEB54A-5AA3-4A4D-AD3D-01ED13D24800}" type="datetimeFigureOut">
              <a:rPr lang="en-IN" smtClean="0"/>
              <a:t>25-04-2025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980035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CEB54A-5AA3-4A4D-AD3D-01ED13D24800}" type="datetimeFigureOut">
              <a:rPr lang="en-IN" smtClean="0"/>
              <a:t>25-04-2025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01DA63-205A-4615-9BFC-1A3E31B870E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363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EB54A-5AA3-4A4D-AD3D-01ED13D24800}" type="datetimeFigureOut">
              <a:rPr lang="en-IN" smtClean="0"/>
              <a:t>25-04-2025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01DA63-205A-4615-9BFC-1A3E31B870E4}" type="slidenum">
              <a:rPr lang="en-IN" smtClean="0"/>
              <a:t>‹#›</a:t>
            </a:fld>
            <a:endParaRPr lang="en-IN"/>
          </a:p>
        </p:txBody>
      </p:sp>
    </p:spTree>
    <p:extLst>
      <p:ext uri="{BB962C8B-B14F-4D97-AF65-F5344CB8AC3E}">
        <p14:creationId xmlns:p14="http://schemas.microsoft.com/office/powerpoint/2010/main" val="490819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EB54A-5AA3-4A4D-AD3D-01ED13D24800}" type="datetimeFigureOut">
              <a:rPr lang="en-IN" smtClean="0"/>
              <a:t>25-04-2025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01DA63-205A-4615-9BFC-1A3E31B870E4}"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964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9CEB54A-5AA3-4A4D-AD3D-01ED13D24800}" type="datetimeFigureOut">
              <a:rPr lang="en-IN" smtClean="0"/>
              <a:t>25-04-2025</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901DA63-205A-4615-9BFC-1A3E31B870E4}"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9452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44E9-9D94-2419-BE19-BD8CC6891ED7}"/>
              </a:ext>
            </a:extLst>
          </p:cNvPr>
          <p:cNvSpPr>
            <a:spLocks noGrp="1"/>
          </p:cNvSpPr>
          <p:nvPr>
            <p:ph type="ctrTitle"/>
          </p:nvPr>
        </p:nvSpPr>
        <p:spPr/>
        <p:txBody>
          <a:bodyPr/>
          <a:lstStyle/>
          <a:p>
            <a:r>
              <a:rPr lang="en-IN" dirty="0"/>
              <a:t>FORCE AND PRESSURE</a:t>
            </a:r>
          </a:p>
        </p:txBody>
      </p:sp>
      <p:sp>
        <p:nvSpPr>
          <p:cNvPr id="3" name="Subtitle 2">
            <a:extLst>
              <a:ext uri="{FF2B5EF4-FFF2-40B4-BE49-F238E27FC236}">
                <a16:creationId xmlns:a16="http://schemas.microsoft.com/office/drawing/2014/main" id="{F6A52B1B-7CB8-C8DA-5DBB-4701AC40006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9808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2B1B-7D06-0374-9740-1E4F776C3239}"/>
              </a:ext>
            </a:extLst>
          </p:cNvPr>
          <p:cNvSpPr>
            <a:spLocks noGrp="1"/>
          </p:cNvSpPr>
          <p:nvPr>
            <p:ph type="title"/>
          </p:nvPr>
        </p:nvSpPr>
        <p:spPr/>
        <p:txBody>
          <a:bodyPr/>
          <a:lstStyle/>
          <a:p>
            <a:r>
              <a:rPr lang="en-IN" dirty="0"/>
              <a:t>What is Force?</a:t>
            </a:r>
          </a:p>
        </p:txBody>
      </p:sp>
      <p:sp>
        <p:nvSpPr>
          <p:cNvPr id="3" name="Content Placeholder 2">
            <a:extLst>
              <a:ext uri="{FF2B5EF4-FFF2-40B4-BE49-F238E27FC236}">
                <a16:creationId xmlns:a16="http://schemas.microsoft.com/office/drawing/2014/main" id="{12F466B9-3F73-6D23-945B-6D32CECB080C}"/>
              </a:ext>
            </a:extLst>
          </p:cNvPr>
          <p:cNvSpPr>
            <a:spLocks noGrp="1"/>
          </p:cNvSpPr>
          <p:nvPr>
            <p:ph idx="1"/>
          </p:nvPr>
        </p:nvSpPr>
        <p:spPr>
          <a:xfrm>
            <a:off x="1168540" y="2168013"/>
            <a:ext cx="4747407" cy="4023360"/>
          </a:xfrm>
        </p:spPr>
        <p:txBody>
          <a:bodyPr/>
          <a:lstStyle/>
          <a:p>
            <a:pPr>
              <a:buFont typeface="Arial" panose="020B0604020202020204" pitchFamily="34" charset="0"/>
              <a:buChar char="•"/>
            </a:pPr>
            <a:r>
              <a:rPr lang="en-US" b="1" dirty="0"/>
              <a:t>Definition</a:t>
            </a:r>
            <a:r>
              <a:rPr lang="en-US" dirty="0"/>
              <a:t>: Force is a push or pull that changes or tends to change the state of rest or motion, or the shape of a body.</a:t>
            </a:r>
          </a:p>
          <a:p>
            <a:pPr>
              <a:buFont typeface="Arial" panose="020B0604020202020204" pitchFamily="34" charset="0"/>
              <a:buChar char="•"/>
            </a:pPr>
            <a:r>
              <a:rPr lang="en-US" b="1" dirty="0"/>
              <a:t>Equation</a:t>
            </a:r>
            <a:r>
              <a:rPr lang="en-US" dirty="0"/>
              <a:t>: F=ma</a:t>
            </a:r>
          </a:p>
          <a:p>
            <a:pPr>
              <a:buFont typeface="Arial" panose="020B0604020202020204" pitchFamily="34" charset="0"/>
              <a:buChar char="•"/>
            </a:pPr>
            <a:r>
              <a:rPr lang="en-US" b="1" dirty="0"/>
              <a:t>SI Unit</a:t>
            </a:r>
            <a:r>
              <a:rPr lang="en-US" dirty="0"/>
              <a:t>: Newton (N), CGS Unit: Dyne</a:t>
            </a:r>
          </a:p>
          <a:p>
            <a:pPr>
              <a:buFont typeface="Arial" panose="020B0604020202020204" pitchFamily="34" charset="0"/>
              <a:buChar char="•"/>
            </a:pPr>
            <a:r>
              <a:rPr lang="en-US" b="1" dirty="0"/>
              <a:t>Conversion</a:t>
            </a:r>
            <a:r>
              <a:rPr lang="en-US" dirty="0"/>
              <a:t>: 1 N=105 dyne1\,N = 10^5\,dyne1N=105dyne</a:t>
            </a:r>
          </a:p>
          <a:p>
            <a:endParaRPr lang="en-IN" dirty="0"/>
          </a:p>
        </p:txBody>
      </p:sp>
      <p:pic>
        <p:nvPicPr>
          <p:cNvPr id="1026" name="Picture 2" descr="Forces : The concept, their definition, types, characteristics, effects">
            <a:extLst>
              <a:ext uri="{FF2B5EF4-FFF2-40B4-BE49-F238E27FC236}">
                <a16:creationId xmlns:a16="http://schemas.microsoft.com/office/drawing/2014/main" id="{77438694-419E-4263-69FE-32BF446B3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1289" y="742335"/>
            <a:ext cx="285750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lass 8 Science &amp; Technology Idea of force - Vrindawan Boarding School">
            <a:extLst>
              <a:ext uri="{FF2B5EF4-FFF2-40B4-BE49-F238E27FC236}">
                <a16:creationId xmlns:a16="http://schemas.microsoft.com/office/drawing/2014/main" id="{7FC64D5B-7DB4-F556-75D2-7A4CB89D8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2698" y="3185849"/>
            <a:ext cx="4874175" cy="281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283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3BA7-9EB0-F747-8028-4C3D71B9442D}"/>
              </a:ext>
            </a:extLst>
          </p:cNvPr>
          <p:cNvSpPr>
            <a:spLocks noGrp="1"/>
          </p:cNvSpPr>
          <p:nvPr>
            <p:ph type="title"/>
          </p:nvPr>
        </p:nvSpPr>
        <p:spPr/>
        <p:txBody>
          <a:bodyPr/>
          <a:lstStyle/>
          <a:p>
            <a:r>
              <a:rPr lang="en-IN" dirty="0"/>
              <a:t>Effects of Force</a:t>
            </a:r>
          </a:p>
        </p:txBody>
      </p:sp>
      <p:sp>
        <p:nvSpPr>
          <p:cNvPr id="3" name="Content Placeholder 2">
            <a:extLst>
              <a:ext uri="{FF2B5EF4-FFF2-40B4-BE49-F238E27FC236}">
                <a16:creationId xmlns:a16="http://schemas.microsoft.com/office/drawing/2014/main" id="{41B7AC68-80AA-23AB-8151-9CE94DA06012}"/>
              </a:ext>
            </a:extLst>
          </p:cNvPr>
          <p:cNvSpPr>
            <a:spLocks noGrp="1"/>
          </p:cNvSpPr>
          <p:nvPr>
            <p:ph idx="1"/>
          </p:nvPr>
        </p:nvSpPr>
        <p:spPr>
          <a:xfrm>
            <a:off x="1024129" y="2286000"/>
            <a:ext cx="4157472" cy="4023360"/>
          </a:xfrm>
        </p:spPr>
        <p:txBody>
          <a:bodyPr/>
          <a:lstStyle/>
          <a:p>
            <a:pPr>
              <a:buFont typeface="Arial" panose="020B0604020202020204" pitchFamily="34" charset="0"/>
              <a:buChar char="•"/>
            </a:pPr>
            <a:r>
              <a:rPr lang="en-US" dirty="0"/>
              <a:t>Can move a stationary object</a:t>
            </a:r>
          </a:p>
          <a:p>
            <a:pPr>
              <a:buFont typeface="Arial" panose="020B0604020202020204" pitchFamily="34" charset="0"/>
              <a:buChar char="•"/>
            </a:pPr>
            <a:r>
              <a:rPr lang="en-US" dirty="0"/>
              <a:t>Can stop/slows a moving object</a:t>
            </a:r>
          </a:p>
          <a:p>
            <a:pPr>
              <a:buFont typeface="Arial" panose="020B0604020202020204" pitchFamily="34" charset="0"/>
              <a:buChar char="•"/>
            </a:pPr>
            <a:r>
              <a:rPr lang="en-US" dirty="0"/>
              <a:t>Can change the direction of motion</a:t>
            </a:r>
          </a:p>
          <a:p>
            <a:pPr>
              <a:buFont typeface="Arial" panose="020B0604020202020204" pitchFamily="34" charset="0"/>
              <a:buChar char="•"/>
            </a:pPr>
            <a:r>
              <a:rPr lang="en-US" dirty="0"/>
              <a:t>Can change shape of object</a:t>
            </a:r>
          </a:p>
          <a:p>
            <a:pPr>
              <a:buFont typeface="Arial" panose="020B0604020202020204" pitchFamily="34" charset="0"/>
              <a:buChar char="•"/>
            </a:pPr>
            <a:r>
              <a:rPr lang="en-US" b="1" dirty="0"/>
              <a:t>Examples</a:t>
            </a:r>
            <a:r>
              <a:rPr lang="en-US" dirty="0"/>
              <a:t>: Bending spring, squeezing lemon, braking bike</a:t>
            </a:r>
          </a:p>
          <a:p>
            <a:endParaRPr lang="en-IN" dirty="0"/>
          </a:p>
        </p:txBody>
      </p:sp>
      <p:pic>
        <p:nvPicPr>
          <p:cNvPr id="2050" name="Picture 2" descr="Class 5 Force And Its Types - Key Concepts Explained">
            <a:extLst>
              <a:ext uri="{FF2B5EF4-FFF2-40B4-BE49-F238E27FC236}">
                <a16:creationId xmlns:a16="http://schemas.microsoft.com/office/drawing/2014/main" id="{DA3060E5-FD81-C8C8-AA68-F17A2209BD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7111" y="841272"/>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412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8AC47-A815-ADA6-A2FE-58A24FCE57BF}"/>
              </a:ext>
            </a:extLst>
          </p:cNvPr>
          <p:cNvSpPr>
            <a:spLocks noGrp="1"/>
          </p:cNvSpPr>
          <p:nvPr>
            <p:ph type="title"/>
          </p:nvPr>
        </p:nvSpPr>
        <p:spPr/>
        <p:txBody>
          <a:bodyPr/>
          <a:lstStyle/>
          <a:p>
            <a:r>
              <a:rPr lang="en-IN" dirty="0"/>
              <a:t>Balanced vs Unbalanced Forces</a:t>
            </a:r>
          </a:p>
        </p:txBody>
      </p:sp>
      <p:sp>
        <p:nvSpPr>
          <p:cNvPr id="3" name="Content Placeholder 2">
            <a:extLst>
              <a:ext uri="{FF2B5EF4-FFF2-40B4-BE49-F238E27FC236}">
                <a16:creationId xmlns:a16="http://schemas.microsoft.com/office/drawing/2014/main" id="{B9AF53AD-63B7-8D34-C2CB-303BF8BE54BD}"/>
              </a:ext>
            </a:extLst>
          </p:cNvPr>
          <p:cNvSpPr>
            <a:spLocks noGrp="1"/>
          </p:cNvSpPr>
          <p:nvPr>
            <p:ph idx="1"/>
          </p:nvPr>
        </p:nvSpPr>
        <p:spPr>
          <a:xfrm>
            <a:off x="1024128" y="2286000"/>
            <a:ext cx="4177137" cy="4023360"/>
          </a:xfrm>
        </p:spPr>
        <p:txBody>
          <a:bodyPr/>
          <a:lstStyle/>
          <a:p>
            <a:pPr>
              <a:buFont typeface="Arial" panose="020B0604020202020204" pitchFamily="34" charset="0"/>
              <a:buChar char="•"/>
            </a:pPr>
            <a:r>
              <a:rPr lang="en-US" b="1" dirty="0"/>
              <a:t>Balanced</a:t>
            </a:r>
            <a:r>
              <a:rPr lang="en-US" dirty="0"/>
              <a:t>: No change in motion (e.g., book on table)</a:t>
            </a:r>
          </a:p>
          <a:p>
            <a:pPr>
              <a:buFont typeface="Arial" panose="020B0604020202020204" pitchFamily="34" charset="0"/>
              <a:buChar char="•"/>
            </a:pPr>
            <a:r>
              <a:rPr lang="en-US" b="1" dirty="0"/>
              <a:t>Unbalanced</a:t>
            </a:r>
            <a:r>
              <a:rPr lang="en-US" dirty="0"/>
              <a:t>: Causes acceleration or change (e.g., pushing a cart)</a:t>
            </a:r>
          </a:p>
          <a:p>
            <a:pPr>
              <a:buFont typeface="Arial" panose="020B0604020202020204" pitchFamily="34" charset="0"/>
              <a:buChar char="•"/>
            </a:pPr>
            <a:r>
              <a:rPr lang="en-US" b="1" dirty="0"/>
              <a:t>Visuals</a:t>
            </a:r>
            <a:r>
              <a:rPr lang="en-US" dirty="0"/>
              <a:t>: Tug of war, box resting, box accelerating</a:t>
            </a:r>
          </a:p>
          <a:p>
            <a:endParaRPr lang="en-IN" dirty="0"/>
          </a:p>
        </p:txBody>
      </p:sp>
      <p:pic>
        <p:nvPicPr>
          <p:cNvPr id="3074" name="Picture 2" descr="Balanced and Unbalanced Forces - Labster">
            <a:extLst>
              <a:ext uri="{FF2B5EF4-FFF2-40B4-BE49-F238E27FC236}">
                <a16:creationId xmlns:a16="http://schemas.microsoft.com/office/drawing/2014/main" id="{B6837F25-F1DD-648C-D9DF-04F67320D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9226" y="2084832"/>
            <a:ext cx="4768646" cy="2384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572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9B195-2245-B704-AC3A-A9E348A29D02}"/>
              </a:ext>
            </a:extLst>
          </p:cNvPr>
          <p:cNvSpPr>
            <a:spLocks noGrp="1"/>
          </p:cNvSpPr>
          <p:nvPr>
            <p:ph type="title"/>
          </p:nvPr>
        </p:nvSpPr>
        <p:spPr/>
        <p:txBody>
          <a:bodyPr/>
          <a:lstStyle/>
          <a:p>
            <a:r>
              <a:rPr lang="en-IN" dirty="0"/>
              <a:t>Resultant Force</a:t>
            </a:r>
          </a:p>
        </p:txBody>
      </p:sp>
      <p:sp>
        <p:nvSpPr>
          <p:cNvPr id="6" name="TextBox 5">
            <a:extLst>
              <a:ext uri="{FF2B5EF4-FFF2-40B4-BE49-F238E27FC236}">
                <a16:creationId xmlns:a16="http://schemas.microsoft.com/office/drawing/2014/main" id="{B2BE2A92-8BB2-D43D-E1C0-22DD6EFA84A0}"/>
              </a:ext>
            </a:extLst>
          </p:cNvPr>
          <p:cNvSpPr txBox="1"/>
          <p:nvPr/>
        </p:nvSpPr>
        <p:spPr>
          <a:xfrm>
            <a:off x="3657600" y="6088118"/>
            <a:ext cx="6096000" cy="369332"/>
          </a:xfrm>
          <a:prstGeom prst="rect">
            <a:avLst/>
          </a:prstGeom>
          <a:noFill/>
        </p:spPr>
        <p:txBody>
          <a:bodyPr wrap="square">
            <a:spAutoFit/>
          </a:bodyPr>
          <a:lstStyle/>
          <a:p>
            <a:pPr>
              <a:buFont typeface="Arial" panose="020B0604020202020204" pitchFamily="34" charset="0"/>
              <a:buChar char="•"/>
            </a:pPr>
            <a:r>
              <a:rPr lang="en-US" dirty="0"/>
              <a:t>HOTS: "Can the resultant of two non-zero forces be zero?"</a:t>
            </a:r>
          </a:p>
        </p:txBody>
      </p:sp>
      <p:pic>
        <p:nvPicPr>
          <p:cNvPr id="4099" name="Picture 3" descr="Resultant force - Simple English Wikipedia, the free encyclopedia">
            <a:extLst>
              <a:ext uri="{FF2B5EF4-FFF2-40B4-BE49-F238E27FC236}">
                <a16:creationId xmlns:a16="http://schemas.microsoft.com/office/drawing/2014/main" id="{A7C7F54C-451D-2B53-1B49-4EC8C359C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4164" y="1444950"/>
            <a:ext cx="4822066" cy="332821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3595B6F7-0D03-92D4-E925-0E8C95C9D32E}"/>
              </a:ext>
            </a:extLst>
          </p:cNvPr>
          <p:cNvSpPr>
            <a:spLocks noGrp="1" noChangeArrowheads="1"/>
          </p:cNvSpPr>
          <p:nvPr>
            <p:ph idx="1"/>
          </p:nvPr>
        </p:nvSpPr>
        <p:spPr bwMode="auto">
          <a:xfrm>
            <a:off x="1024128" y="1798057"/>
            <a:ext cx="409866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single force</a:t>
            </a:r>
            <a:r>
              <a:rPr kumimoji="0" lang="en-US" altLang="en-US" sz="1800" b="0" i="0" u="none" strike="noStrike" cap="none" normalizeH="0" baseline="0" dirty="0">
                <a:ln>
                  <a:noFill/>
                </a:ln>
                <a:solidFill>
                  <a:schemeClr val="tx1"/>
                </a:solidFill>
                <a:effectLst/>
                <a:latin typeface="Arial" panose="020B0604020202020204" pitchFamily="34" charset="0"/>
              </a:rPr>
              <a:t> that has the </a:t>
            </a:r>
            <a:r>
              <a:rPr kumimoji="0" lang="en-US" altLang="en-US" sz="1800" b="1" i="0" u="none" strike="noStrike" cap="none" normalizeH="0" baseline="0" dirty="0">
                <a:ln>
                  <a:noFill/>
                </a:ln>
                <a:solidFill>
                  <a:schemeClr val="tx1"/>
                </a:solidFill>
                <a:effectLst/>
                <a:latin typeface="Arial" panose="020B0604020202020204" pitchFamily="34" charset="0"/>
              </a:rPr>
              <a:t>same effect</a:t>
            </a:r>
            <a:r>
              <a:rPr kumimoji="0" lang="en-US" altLang="en-US" sz="1800" b="0" i="0" u="none" strike="noStrike" cap="none" normalizeH="0" baseline="0" dirty="0">
                <a:ln>
                  <a:noFill/>
                </a:ln>
                <a:solidFill>
                  <a:schemeClr val="tx1"/>
                </a:solidFill>
                <a:effectLst/>
                <a:latin typeface="Arial" panose="020B0604020202020204" pitchFamily="34" charset="0"/>
              </a:rPr>
              <a:t> as a number of forces acting together.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multiple forces act on a body, the net effect is calculated as the </a:t>
            </a:r>
            <a:r>
              <a:rPr kumimoji="0" lang="en-US" altLang="en-US" sz="1800" b="1" i="0" u="none" strike="noStrike" cap="none" normalizeH="0" baseline="0" dirty="0">
                <a:ln>
                  <a:noFill/>
                </a:ln>
                <a:solidFill>
                  <a:schemeClr val="tx1"/>
                </a:solidFill>
                <a:effectLst/>
                <a:latin typeface="Arial" panose="020B0604020202020204" pitchFamily="34" charset="0"/>
              </a:rPr>
              <a:t>vector sum</a:t>
            </a:r>
            <a:r>
              <a:rPr kumimoji="0" lang="en-US" altLang="en-US" sz="1800" b="0" i="0" u="none" strike="noStrike" cap="none" normalizeH="0" baseline="0" dirty="0">
                <a:ln>
                  <a:noFill/>
                </a:ln>
                <a:solidFill>
                  <a:schemeClr val="tx1"/>
                </a:solidFill>
                <a:effectLst/>
                <a:latin typeface="Arial" panose="020B0604020202020204" pitchFamily="34" charset="0"/>
              </a:rPr>
              <a:t> of all forces.</a:t>
            </a:r>
          </a:p>
        </p:txBody>
      </p:sp>
    </p:spTree>
    <p:extLst>
      <p:ext uri="{BB962C8B-B14F-4D97-AF65-F5344CB8AC3E}">
        <p14:creationId xmlns:p14="http://schemas.microsoft.com/office/powerpoint/2010/main" val="939564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2CF9-B4E0-BB08-A225-482D097127EE}"/>
              </a:ext>
            </a:extLst>
          </p:cNvPr>
          <p:cNvSpPr>
            <a:spLocks noGrp="1"/>
          </p:cNvSpPr>
          <p:nvPr>
            <p:ph type="title"/>
          </p:nvPr>
        </p:nvSpPr>
        <p:spPr/>
        <p:txBody>
          <a:bodyPr/>
          <a:lstStyle/>
          <a:p>
            <a:r>
              <a:rPr lang="en-IN" dirty="0"/>
              <a:t>Simple case</a:t>
            </a:r>
          </a:p>
        </p:txBody>
      </p:sp>
      <p:sp>
        <p:nvSpPr>
          <p:cNvPr id="5" name="Content Placeholder 4">
            <a:extLst>
              <a:ext uri="{FF2B5EF4-FFF2-40B4-BE49-F238E27FC236}">
                <a16:creationId xmlns:a16="http://schemas.microsoft.com/office/drawing/2014/main" id="{F331BFB9-24A6-EFEB-4CBF-C63E0F1570DE}"/>
              </a:ext>
            </a:extLst>
          </p:cNvPr>
          <p:cNvSpPr>
            <a:spLocks noGrp="1"/>
          </p:cNvSpPr>
          <p:nvPr>
            <p:ph idx="1"/>
          </p:nvPr>
        </p:nvSpPr>
        <p:spPr/>
        <p:txBody>
          <a:bodyPr/>
          <a:lstStyle/>
          <a:p>
            <a:endParaRPr lang="en-IN" dirty="0"/>
          </a:p>
        </p:txBody>
      </p:sp>
      <p:sp>
        <p:nvSpPr>
          <p:cNvPr id="7" name="TextBox 6">
            <a:extLst>
              <a:ext uri="{FF2B5EF4-FFF2-40B4-BE49-F238E27FC236}">
                <a16:creationId xmlns:a16="http://schemas.microsoft.com/office/drawing/2014/main" id="{63597B5E-3A5F-F5D9-8FCF-B485A683BEFF}"/>
              </a:ext>
            </a:extLst>
          </p:cNvPr>
          <p:cNvSpPr txBox="1"/>
          <p:nvPr/>
        </p:nvSpPr>
        <p:spPr>
          <a:xfrm>
            <a:off x="1145802" y="3176679"/>
            <a:ext cx="9476723" cy="2308324"/>
          </a:xfrm>
          <a:prstGeom prst="rect">
            <a:avLst/>
          </a:prstGeom>
          <a:noFill/>
        </p:spPr>
        <p:txBody>
          <a:bodyPr wrap="square">
            <a:spAutoFit/>
          </a:bodyPr>
          <a:lstStyle/>
          <a:p>
            <a:pPr>
              <a:buNone/>
            </a:pPr>
            <a:r>
              <a:rPr lang="en-IN" dirty="0"/>
              <a:t>Let’s say two forces F</a:t>
            </a:r>
            <a:r>
              <a:rPr lang="en-IN" baseline="-25000" dirty="0"/>
              <a:t>1</a:t>
            </a:r>
            <a:r>
              <a:rPr lang="en-IN" dirty="0"/>
              <a:t> and F</a:t>
            </a:r>
            <a:r>
              <a:rPr lang="en-IN" baseline="-25000" dirty="0"/>
              <a:t>2</a:t>
            </a:r>
            <a:r>
              <a:rPr lang="en-IN" dirty="0"/>
              <a:t>​ act </a:t>
            </a:r>
            <a:r>
              <a:rPr lang="en-IN" b="1" dirty="0"/>
              <a:t>along the same line</a:t>
            </a:r>
            <a:r>
              <a:rPr lang="en-IN" dirty="0"/>
              <a:t> (e.g., left-right).</a:t>
            </a:r>
          </a:p>
          <a:p>
            <a:pPr>
              <a:buNone/>
            </a:pPr>
            <a:r>
              <a:rPr lang="en-IN" b="1" dirty="0"/>
              <a:t>🔸 Case A: Same Direction</a:t>
            </a:r>
          </a:p>
          <a:p>
            <a:pPr>
              <a:buNone/>
            </a:pPr>
            <a:r>
              <a:rPr lang="en-IN" dirty="0" err="1"/>
              <a:t>F</a:t>
            </a:r>
            <a:r>
              <a:rPr lang="en-IN" baseline="-25000" dirty="0" err="1"/>
              <a:t>resultant</a:t>
            </a:r>
            <a:r>
              <a:rPr lang="en-IN" dirty="0"/>
              <a:t>= F</a:t>
            </a:r>
            <a:r>
              <a:rPr lang="en-IN" baseline="-25000" dirty="0"/>
              <a:t>1 </a:t>
            </a:r>
            <a:r>
              <a:rPr lang="en-IN" dirty="0"/>
              <a:t>+ F</a:t>
            </a:r>
            <a:r>
              <a:rPr lang="en-IN" baseline="-25000" dirty="0"/>
              <a:t>2 </a:t>
            </a:r>
            <a:r>
              <a:rPr lang="en-IN" dirty="0"/>
              <a:t>​ 👉 Both forces help each other.</a:t>
            </a:r>
          </a:p>
          <a:p>
            <a:pPr>
              <a:buNone/>
            </a:pPr>
            <a:r>
              <a:rPr lang="en-IN" b="1" dirty="0"/>
              <a:t>🔸 Case B: Opposite Directions</a:t>
            </a:r>
          </a:p>
          <a:p>
            <a:pPr>
              <a:buNone/>
            </a:pPr>
            <a:r>
              <a:rPr lang="en-IN" dirty="0" err="1"/>
              <a:t>F</a:t>
            </a:r>
            <a:r>
              <a:rPr lang="en-IN" baseline="-25000" dirty="0" err="1"/>
              <a:t>resultant</a:t>
            </a:r>
            <a:r>
              <a:rPr lang="en-IN" dirty="0"/>
              <a:t>=∣ F</a:t>
            </a:r>
            <a:r>
              <a:rPr lang="en-IN" baseline="-25000" dirty="0"/>
              <a:t>1 </a:t>
            </a:r>
            <a:r>
              <a:rPr lang="en-IN" dirty="0"/>
              <a:t>− F</a:t>
            </a:r>
            <a:r>
              <a:rPr lang="en-IN" baseline="-25000" dirty="0"/>
              <a:t>2 </a:t>
            </a:r>
            <a:r>
              <a:rPr lang="en-IN" dirty="0"/>
              <a:t>∣👉 Direction of resultant is toward the </a:t>
            </a:r>
            <a:r>
              <a:rPr lang="en-IN" b="1" dirty="0"/>
              <a:t>larger force</a:t>
            </a:r>
            <a:r>
              <a:rPr lang="en-IN" dirty="0"/>
              <a:t>.</a:t>
            </a:r>
          </a:p>
          <a:p>
            <a:pPr>
              <a:buNone/>
            </a:pPr>
            <a:r>
              <a:rPr lang="en-IN" dirty="0"/>
              <a:t>🧠 </a:t>
            </a:r>
            <a:r>
              <a:rPr lang="en-IN" b="1" dirty="0"/>
              <a:t>Example:</a:t>
            </a:r>
            <a:endParaRPr lang="en-IN" dirty="0"/>
          </a:p>
          <a:p>
            <a:pPr>
              <a:buFont typeface="Arial" panose="020B0604020202020204" pitchFamily="34" charset="0"/>
              <a:buChar char="•"/>
            </a:pPr>
            <a:r>
              <a:rPr lang="en-IN" dirty="0"/>
              <a:t>A 10 N force to the right and 6 N to the left.</a:t>
            </a:r>
          </a:p>
          <a:p>
            <a:pPr>
              <a:buNone/>
            </a:pPr>
            <a:r>
              <a:rPr lang="en-IN" dirty="0" err="1"/>
              <a:t>F</a:t>
            </a:r>
            <a:r>
              <a:rPr lang="en-IN" baseline="-25000" dirty="0" err="1"/>
              <a:t>resultant</a:t>
            </a:r>
            <a:r>
              <a:rPr lang="en-IN" dirty="0"/>
              <a:t>=∣10−6∣=4 N to the </a:t>
            </a:r>
            <a:r>
              <a:rPr lang="en-IN" dirty="0" err="1"/>
              <a:t>rightF</a:t>
            </a:r>
            <a:endParaRPr lang="en-IN" dirty="0"/>
          </a:p>
        </p:txBody>
      </p:sp>
    </p:spTree>
    <p:extLst>
      <p:ext uri="{BB962C8B-B14F-4D97-AF65-F5344CB8AC3E}">
        <p14:creationId xmlns:p14="http://schemas.microsoft.com/office/powerpoint/2010/main" val="359310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05FCB-C0DF-1A48-52B5-F13433FF650E}"/>
              </a:ext>
            </a:extLst>
          </p:cNvPr>
          <p:cNvSpPr>
            <a:spLocks noGrp="1"/>
          </p:cNvSpPr>
          <p:nvPr>
            <p:ph type="title"/>
          </p:nvPr>
        </p:nvSpPr>
        <p:spPr/>
        <p:txBody>
          <a:bodyPr/>
          <a:lstStyle/>
          <a:p>
            <a:r>
              <a:rPr lang="en-IN" dirty="0"/>
              <a:t>perpendicular</a:t>
            </a:r>
          </a:p>
        </p:txBody>
      </p:sp>
      <p:sp>
        <p:nvSpPr>
          <p:cNvPr id="5" name="Content Placeholder 4">
            <a:extLst>
              <a:ext uri="{FF2B5EF4-FFF2-40B4-BE49-F238E27FC236}">
                <a16:creationId xmlns:a16="http://schemas.microsoft.com/office/drawing/2014/main" id="{88CDCDDC-66F7-786F-526B-68F781F42CCE}"/>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15FF5942-41F6-7891-6D2A-109DE19BA5F9}"/>
              </a:ext>
            </a:extLst>
          </p:cNvPr>
          <p:cNvPicPr>
            <a:picLocks noChangeAspect="1"/>
          </p:cNvPicPr>
          <p:nvPr/>
        </p:nvPicPr>
        <p:blipFill>
          <a:blip r:embed="rId2"/>
          <a:stretch>
            <a:fillRect/>
          </a:stretch>
        </p:blipFill>
        <p:spPr>
          <a:xfrm>
            <a:off x="1447799" y="1777933"/>
            <a:ext cx="9259592" cy="4639322"/>
          </a:xfrm>
          <a:prstGeom prst="rect">
            <a:avLst/>
          </a:prstGeom>
        </p:spPr>
      </p:pic>
    </p:spTree>
    <p:extLst>
      <p:ext uri="{BB962C8B-B14F-4D97-AF65-F5344CB8AC3E}">
        <p14:creationId xmlns:p14="http://schemas.microsoft.com/office/powerpoint/2010/main" val="1818224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82D2-C950-F640-9AC7-7ACA47B1205C}"/>
              </a:ext>
            </a:extLst>
          </p:cNvPr>
          <p:cNvSpPr>
            <a:spLocks noGrp="1"/>
          </p:cNvSpPr>
          <p:nvPr>
            <p:ph type="title"/>
          </p:nvPr>
        </p:nvSpPr>
        <p:spPr/>
        <p:txBody>
          <a:bodyPr/>
          <a:lstStyle/>
          <a:p>
            <a:r>
              <a:rPr lang="en-IN" dirty="0"/>
              <a:t>General case</a:t>
            </a:r>
          </a:p>
        </p:txBody>
      </p:sp>
      <p:pic>
        <p:nvPicPr>
          <p:cNvPr id="5" name="Content Placeholder 4">
            <a:extLst>
              <a:ext uri="{FF2B5EF4-FFF2-40B4-BE49-F238E27FC236}">
                <a16:creationId xmlns:a16="http://schemas.microsoft.com/office/drawing/2014/main" id="{94D36A7E-EA28-6151-6550-C16563D58A10}"/>
              </a:ext>
            </a:extLst>
          </p:cNvPr>
          <p:cNvPicPr>
            <a:picLocks noGrp="1" noChangeAspect="1"/>
          </p:cNvPicPr>
          <p:nvPr>
            <p:ph idx="1"/>
          </p:nvPr>
        </p:nvPicPr>
        <p:blipFill>
          <a:blip r:embed="rId2"/>
          <a:stretch>
            <a:fillRect/>
          </a:stretch>
        </p:blipFill>
        <p:spPr>
          <a:xfrm>
            <a:off x="1023938" y="2514083"/>
            <a:ext cx="9720262" cy="3566559"/>
          </a:xfrm>
        </p:spPr>
      </p:pic>
    </p:spTree>
    <p:extLst>
      <p:ext uri="{BB962C8B-B14F-4D97-AF65-F5344CB8AC3E}">
        <p14:creationId xmlns:p14="http://schemas.microsoft.com/office/powerpoint/2010/main" val="3466934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FC3D2-D0CE-BCD9-B8D9-D9A16F559703}"/>
              </a:ext>
            </a:extLst>
          </p:cNvPr>
          <p:cNvSpPr>
            <a:spLocks noGrp="1"/>
          </p:cNvSpPr>
          <p:nvPr>
            <p:ph type="title"/>
          </p:nvPr>
        </p:nvSpPr>
        <p:spPr/>
        <p:txBody>
          <a:bodyPr/>
          <a:lstStyle/>
          <a:p>
            <a:r>
              <a:rPr lang="en-IN" dirty="0"/>
              <a:t>Scalar vs vector</a:t>
            </a:r>
          </a:p>
        </p:txBody>
      </p:sp>
      <p:graphicFrame>
        <p:nvGraphicFramePr>
          <p:cNvPr id="4" name="Content Placeholder 3">
            <a:extLst>
              <a:ext uri="{FF2B5EF4-FFF2-40B4-BE49-F238E27FC236}">
                <a16:creationId xmlns:a16="http://schemas.microsoft.com/office/drawing/2014/main" id="{8BFCD60A-A11E-F2CF-902E-D7BEAE1B8C41}"/>
              </a:ext>
            </a:extLst>
          </p:cNvPr>
          <p:cNvGraphicFramePr>
            <a:graphicFrameLocks noGrp="1"/>
          </p:cNvGraphicFramePr>
          <p:nvPr>
            <p:ph idx="1"/>
          </p:nvPr>
        </p:nvGraphicFramePr>
        <p:xfrm>
          <a:off x="1023938" y="3382962"/>
          <a:ext cx="9720261" cy="1828800"/>
        </p:xfrm>
        <a:graphic>
          <a:graphicData uri="http://schemas.openxmlformats.org/drawingml/2006/table">
            <a:tbl>
              <a:tblPr/>
              <a:tblGrid>
                <a:gridCol w="3240087">
                  <a:extLst>
                    <a:ext uri="{9D8B030D-6E8A-4147-A177-3AD203B41FA5}">
                      <a16:colId xmlns:a16="http://schemas.microsoft.com/office/drawing/2014/main" val="2363779009"/>
                    </a:ext>
                  </a:extLst>
                </a:gridCol>
                <a:gridCol w="3240087">
                  <a:extLst>
                    <a:ext uri="{9D8B030D-6E8A-4147-A177-3AD203B41FA5}">
                      <a16:colId xmlns:a16="http://schemas.microsoft.com/office/drawing/2014/main" val="3123862689"/>
                    </a:ext>
                  </a:extLst>
                </a:gridCol>
                <a:gridCol w="3240087">
                  <a:extLst>
                    <a:ext uri="{9D8B030D-6E8A-4147-A177-3AD203B41FA5}">
                      <a16:colId xmlns:a16="http://schemas.microsoft.com/office/drawing/2014/main" val="3588577441"/>
                    </a:ext>
                  </a:extLst>
                </a:gridCol>
              </a:tblGrid>
              <a:tr h="0">
                <a:tc>
                  <a:txBody>
                    <a:bodyPr/>
                    <a:lstStyle/>
                    <a:p>
                      <a:r>
                        <a:rPr lang="en-IN"/>
                        <a:t>Quantity</a:t>
                      </a:r>
                    </a:p>
                  </a:txBody>
                  <a:tcPr anchor="ctr">
                    <a:lnL>
                      <a:noFill/>
                    </a:lnL>
                    <a:lnR>
                      <a:noFill/>
                    </a:lnR>
                    <a:lnT>
                      <a:noFill/>
                    </a:lnT>
                    <a:lnB>
                      <a:noFill/>
                    </a:lnB>
                    <a:noFill/>
                  </a:tcPr>
                </a:tc>
                <a:tc>
                  <a:txBody>
                    <a:bodyPr/>
                    <a:lstStyle/>
                    <a:p>
                      <a:r>
                        <a:rPr lang="en-IN"/>
                        <a:t>Type</a:t>
                      </a:r>
                    </a:p>
                  </a:txBody>
                  <a:tcPr anchor="ctr">
                    <a:lnL>
                      <a:noFill/>
                    </a:lnL>
                    <a:lnR>
                      <a:noFill/>
                    </a:lnR>
                    <a:lnT>
                      <a:noFill/>
                    </a:lnT>
                    <a:lnB>
                      <a:noFill/>
                    </a:lnB>
                    <a:noFill/>
                  </a:tcPr>
                </a:tc>
                <a:tc>
                  <a:txBody>
                    <a:bodyPr/>
                    <a:lstStyle/>
                    <a:p>
                      <a:r>
                        <a:rPr lang="en-IN"/>
                        <a:t>Example</a:t>
                      </a:r>
                    </a:p>
                  </a:txBody>
                  <a:tcPr anchor="ctr">
                    <a:lnL>
                      <a:noFill/>
                    </a:lnL>
                    <a:lnR>
                      <a:noFill/>
                    </a:lnR>
                    <a:lnT>
                      <a:noFill/>
                    </a:lnT>
                    <a:lnB>
                      <a:noFill/>
                    </a:lnB>
                    <a:noFill/>
                  </a:tcPr>
                </a:tc>
                <a:extLst>
                  <a:ext uri="{0D108BD9-81ED-4DB2-BD59-A6C34878D82A}">
                    <a16:rowId xmlns:a16="http://schemas.microsoft.com/office/drawing/2014/main" val="3176296233"/>
                  </a:ext>
                </a:extLst>
              </a:tr>
              <a:tr h="0">
                <a:tc>
                  <a:txBody>
                    <a:bodyPr/>
                    <a:lstStyle/>
                    <a:p>
                      <a:r>
                        <a:rPr lang="en-IN"/>
                        <a:t>Distance</a:t>
                      </a:r>
                    </a:p>
                  </a:txBody>
                  <a:tcPr anchor="ctr">
                    <a:lnL>
                      <a:noFill/>
                    </a:lnL>
                    <a:lnR>
                      <a:noFill/>
                    </a:lnR>
                    <a:lnT>
                      <a:noFill/>
                    </a:lnT>
                    <a:lnB>
                      <a:noFill/>
                    </a:lnB>
                    <a:noFill/>
                  </a:tcPr>
                </a:tc>
                <a:tc>
                  <a:txBody>
                    <a:bodyPr/>
                    <a:lstStyle/>
                    <a:p>
                      <a:r>
                        <a:rPr lang="en-IN"/>
                        <a:t>Scalar</a:t>
                      </a:r>
                    </a:p>
                  </a:txBody>
                  <a:tcPr anchor="ctr">
                    <a:lnL>
                      <a:noFill/>
                    </a:lnL>
                    <a:lnR>
                      <a:noFill/>
                    </a:lnR>
                    <a:lnT>
                      <a:noFill/>
                    </a:lnT>
                    <a:lnB>
                      <a:noFill/>
                    </a:lnB>
                    <a:noFill/>
                  </a:tcPr>
                </a:tc>
                <a:tc>
                  <a:txBody>
                    <a:bodyPr/>
                    <a:lstStyle/>
                    <a:p>
                      <a:r>
                        <a:rPr lang="en-IN"/>
                        <a:t>10 m</a:t>
                      </a:r>
                    </a:p>
                  </a:txBody>
                  <a:tcPr anchor="ctr">
                    <a:lnL>
                      <a:noFill/>
                    </a:lnL>
                    <a:lnR>
                      <a:noFill/>
                    </a:lnR>
                    <a:lnT>
                      <a:noFill/>
                    </a:lnT>
                    <a:lnB>
                      <a:noFill/>
                    </a:lnB>
                    <a:noFill/>
                  </a:tcPr>
                </a:tc>
                <a:extLst>
                  <a:ext uri="{0D108BD9-81ED-4DB2-BD59-A6C34878D82A}">
                    <a16:rowId xmlns:a16="http://schemas.microsoft.com/office/drawing/2014/main" val="2216732430"/>
                  </a:ext>
                </a:extLst>
              </a:tr>
              <a:tr h="0">
                <a:tc>
                  <a:txBody>
                    <a:bodyPr/>
                    <a:lstStyle/>
                    <a:p>
                      <a:r>
                        <a:rPr lang="en-IN"/>
                        <a:t>Force</a:t>
                      </a:r>
                    </a:p>
                  </a:txBody>
                  <a:tcPr anchor="ctr">
                    <a:lnL>
                      <a:noFill/>
                    </a:lnL>
                    <a:lnR>
                      <a:noFill/>
                    </a:lnR>
                    <a:lnT>
                      <a:noFill/>
                    </a:lnT>
                    <a:lnB>
                      <a:noFill/>
                    </a:lnB>
                    <a:noFill/>
                  </a:tcPr>
                </a:tc>
                <a:tc>
                  <a:txBody>
                    <a:bodyPr/>
                    <a:lstStyle/>
                    <a:p>
                      <a:r>
                        <a:rPr lang="en-IN"/>
                        <a:t>Vector</a:t>
                      </a:r>
                    </a:p>
                  </a:txBody>
                  <a:tcPr anchor="ctr">
                    <a:lnL>
                      <a:noFill/>
                    </a:lnL>
                    <a:lnR>
                      <a:noFill/>
                    </a:lnR>
                    <a:lnT>
                      <a:noFill/>
                    </a:lnT>
                    <a:lnB>
                      <a:noFill/>
                    </a:lnB>
                    <a:noFill/>
                  </a:tcPr>
                </a:tc>
                <a:tc>
                  <a:txBody>
                    <a:bodyPr/>
                    <a:lstStyle/>
                    <a:p>
                      <a:r>
                        <a:rPr lang="en-IN"/>
                        <a:t>5 N east</a:t>
                      </a:r>
                    </a:p>
                  </a:txBody>
                  <a:tcPr anchor="ctr">
                    <a:lnL>
                      <a:noFill/>
                    </a:lnL>
                    <a:lnR>
                      <a:noFill/>
                    </a:lnR>
                    <a:lnT>
                      <a:noFill/>
                    </a:lnT>
                    <a:lnB>
                      <a:noFill/>
                    </a:lnB>
                    <a:noFill/>
                  </a:tcPr>
                </a:tc>
                <a:extLst>
                  <a:ext uri="{0D108BD9-81ED-4DB2-BD59-A6C34878D82A}">
                    <a16:rowId xmlns:a16="http://schemas.microsoft.com/office/drawing/2014/main" val="1758207951"/>
                  </a:ext>
                </a:extLst>
              </a:tr>
              <a:tr h="0">
                <a:tc>
                  <a:txBody>
                    <a:bodyPr/>
                    <a:lstStyle/>
                    <a:p>
                      <a:r>
                        <a:rPr lang="en-IN"/>
                        <a:t>Speed</a:t>
                      </a:r>
                    </a:p>
                  </a:txBody>
                  <a:tcPr anchor="ctr">
                    <a:lnL>
                      <a:noFill/>
                    </a:lnL>
                    <a:lnR>
                      <a:noFill/>
                    </a:lnR>
                    <a:lnT>
                      <a:noFill/>
                    </a:lnT>
                    <a:lnB>
                      <a:noFill/>
                    </a:lnB>
                    <a:noFill/>
                  </a:tcPr>
                </a:tc>
                <a:tc>
                  <a:txBody>
                    <a:bodyPr/>
                    <a:lstStyle/>
                    <a:p>
                      <a:r>
                        <a:rPr lang="en-IN"/>
                        <a:t>Scalar</a:t>
                      </a:r>
                    </a:p>
                  </a:txBody>
                  <a:tcPr anchor="ctr">
                    <a:lnL>
                      <a:noFill/>
                    </a:lnL>
                    <a:lnR>
                      <a:noFill/>
                    </a:lnR>
                    <a:lnT>
                      <a:noFill/>
                    </a:lnT>
                    <a:lnB>
                      <a:noFill/>
                    </a:lnB>
                    <a:noFill/>
                  </a:tcPr>
                </a:tc>
                <a:tc>
                  <a:txBody>
                    <a:bodyPr/>
                    <a:lstStyle/>
                    <a:p>
                      <a:r>
                        <a:rPr lang="en-IN"/>
                        <a:t>30 km/h</a:t>
                      </a:r>
                    </a:p>
                  </a:txBody>
                  <a:tcPr anchor="ctr">
                    <a:lnL>
                      <a:noFill/>
                    </a:lnL>
                    <a:lnR>
                      <a:noFill/>
                    </a:lnR>
                    <a:lnT>
                      <a:noFill/>
                    </a:lnT>
                    <a:lnB>
                      <a:noFill/>
                    </a:lnB>
                    <a:noFill/>
                  </a:tcPr>
                </a:tc>
                <a:extLst>
                  <a:ext uri="{0D108BD9-81ED-4DB2-BD59-A6C34878D82A}">
                    <a16:rowId xmlns:a16="http://schemas.microsoft.com/office/drawing/2014/main" val="2902720480"/>
                  </a:ext>
                </a:extLst>
              </a:tr>
              <a:tr h="0">
                <a:tc>
                  <a:txBody>
                    <a:bodyPr/>
                    <a:lstStyle/>
                    <a:p>
                      <a:r>
                        <a:rPr lang="en-IN"/>
                        <a:t>Velocity</a:t>
                      </a:r>
                    </a:p>
                  </a:txBody>
                  <a:tcPr anchor="ctr">
                    <a:lnL>
                      <a:noFill/>
                    </a:lnL>
                    <a:lnR>
                      <a:noFill/>
                    </a:lnR>
                    <a:lnT>
                      <a:noFill/>
                    </a:lnT>
                    <a:lnB>
                      <a:noFill/>
                    </a:lnB>
                    <a:noFill/>
                  </a:tcPr>
                </a:tc>
                <a:tc>
                  <a:txBody>
                    <a:bodyPr/>
                    <a:lstStyle/>
                    <a:p>
                      <a:r>
                        <a:rPr lang="en-IN"/>
                        <a:t>Vector</a:t>
                      </a:r>
                    </a:p>
                  </a:txBody>
                  <a:tcPr anchor="ctr">
                    <a:lnL>
                      <a:noFill/>
                    </a:lnL>
                    <a:lnR>
                      <a:noFill/>
                    </a:lnR>
                    <a:lnT>
                      <a:noFill/>
                    </a:lnT>
                    <a:lnB>
                      <a:noFill/>
                    </a:lnB>
                    <a:noFill/>
                  </a:tcPr>
                </a:tc>
                <a:tc>
                  <a:txBody>
                    <a:bodyPr/>
                    <a:lstStyle/>
                    <a:p>
                      <a:r>
                        <a:rPr lang="en-IN" dirty="0"/>
                        <a:t>30 km/h north</a:t>
                      </a:r>
                    </a:p>
                  </a:txBody>
                  <a:tcPr anchor="ctr">
                    <a:lnL>
                      <a:noFill/>
                    </a:lnL>
                    <a:lnR>
                      <a:noFill/>
                    </a:lnR>
                    <a:lnT>
                      <a:noFill/>
                    </a:lnT>
                    <a:lnB>
                      <a:noFill/>
                    </a:lnB>
                    <a:noFill/>
                  </a:tcPr>
                </a:tc>
                <a:extLst>
                  <a:ext uri="{0D108BD9-81ED-4DB2-BD59-A6C34878D82A}">
                    <a16:rowId xmlns:a16="http://schemas.microsoft.com/office/drawing/2014/main" val="783833174"/>
                  </a:ext>
                </a:extLst>
              </a:tr>
            </a:tbl>
          </a:graphicData>
        </a:graphic>
      </p:graphicFrame>
    </p:spTree>
    <p:extLst>
      <p:ext uri="{BB962C8B-B14F-4D97-AF65-F5344CB8AC3E}">
        <p14:creationId xmlns:p14="http://schemas.microsoft.com/office/powerpoint/2010/main" val="143130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7F614-6E6A-588E-DA4E-9BDB9D477F6E}"/>
              </a:ext>
            </a:extLst>
          </p:cNvPr>
          <p:cNvSpPr>
            <a:spLocks noGrp="1"/>
          </p:cNvSpPr>
          <p:nvPr>
            <p:ph type="title"/>
          </p:nvPr>
        </p:nvSpPr>
        <p:spPr/>
        <p:txBody>
          <a:bodyPr/>
          <a:lstStyle/>
          <a:p>
            <a:endParaRPr lang="en-IN"/>
          </a:p>
        </p:txBody>
      </p:sp>
      <p:sp>
        <p:nvSpPr>
          <p:cNvPr id="5" name="Rectangle 2">
            <a:extLst>
              <a:ext uri="{FF2B5EF4-FFF2-40B4-BE49-F238E27FC236}">
                <a16:creationId xmlns:a16="http://schemas.microsoft.com/office/drawing/2014/main" id="{307A8436-E7EB-78E7-4DE9-E888F450C36C}"/>
              </a:ext>
            </a:extLst>
          </p:cNvPr>
          <p:cNvSpPr>
            <a:spLocks noGrp="1" noChangeArrowheads="1"/>
          </p:cNvSpPr>
          <p:nvPr>
            <p:ph idx="1"/>
          </p:nvPr>
        </p:nvSpPr>
        <p:spPr bwMode="auto">
          <a:xfrm>
            <a:off x="1024128" y="3380291"/>
            <a:ext cx="396082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Scalars have </a:t>
            </a:r>
            <a:r>
              <a:rPr kumimoji="0" lang="en-US" altLang="en-US" sz="1800" b="1" i="0" u="none" strike="noStrike" cap="none" normalizeH="0" baseline="0" dirty="0">
                <a:ln>
                  <a:noFill/>
                </a:ln>
                <a:solidFill>
                  <a:schemeClr val="tx1"/>
                </a:solidFill>
                <a:effectLst/>
                <a:latin typeface="Arial" panose="020B0604020202020204" pitchFamily="34" charset="0"/>
              </a:rPr>
              <a:t>only magnitude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Vectors have </a:t>
            </a:r>
            <a:r>
              <a:rPr kumimoji="0" lang="en-US" altLang="en-US" sz="1800" b="1" i="0" u="none" strike="noStrike" cap="none" normalizeH="0" baseline="0" dirty="0">
                <a:ln>
                  <a:noFill/>
                </a:ln>
                <a:solidFill>
                  <a:schemeClr val="tx1"/>
                </a:solidFill>
                <a:effectLst/>
                <a:latin typeface="Arial" panose="020B0604020202020204" pitchFamily="34" charset="0"/>
              </a:rPr>
              <a:t>magnitude + direction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79C16AF8-8896-92FF-8FCF-D481CF088885}"/>
              </a:ext>
            </a:extLst>
          </p:cNvPr>
          <p:cNvSpPr>
            <a:spLocks noChangeArrowheads="1"/>
          </p:cNvSpPr>
          <p:nvPr/>
        </p:nvSpPr>
        <p:spPr bwMode="auto">
          <a:xfrm>
            <a:off x="5122607" y="3380291"/>
            <a:ext cx="642675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5 N up and 5 N down → Resultant = 0 N (balanced forces)</a:t>
            </a:r>
          </a:p>
          <a:p>
            <a:pPr defTabSz="91440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 force of 10 N right and 4 N left → Resultant = 6 N right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5422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D0DA5-49A7-806B-0D71-3900768D37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126286-F5D3-D15F-76E1-110C37E0E536}"/>
              </a:ext>
            </a:extLst>
          </p:cNvPr>
          <p:cNvSpPr>
            <a:spLocks noGrp="1"/>
          </p:cNvSpPr>
          <p:nvPr>
            <p:ph idx="1"/>
          </p:nvPr>
        </p:nvSpPr>
        <p:spPr/>
        <p:txBody>
          <a:bodyPr/>
          <a:lstStyle/>
          <a:p>
            <a:endParaRPr lang="en-IN"/>
          </a:p>
        </p:txBody>
      </p:sp>
      <p:pic>
        <p:nvPicPr>
          <p:cNvPr id="9218" name="Picture 2" descr="Resultant Force Questions and Revision | MME">
            <a:extLst>
              <a:ext uri="{FF2B5EF4-FFF2-40B4-BE49-F238E27FC236}">
                <a16:creationId xmlns:a16="http://schemas.microsoft.com/office/drawing/2014/main" id="{743363A5-8040-002F-99FB-10D7775BC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09588"/>
            <a:ext cx="9753600" cy="583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800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C183-BB8E-93FA-B8B1-F87D42D144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BFCB55-8C04-AEB7-6F0C-BDE4DCC1185D}"/>
              </a:ext>
            </a:extLst>
          </p:cNvPr>
          <p:cNvSpPr>
            <a:spLocks noGrp="1"/>
          </p:cNvSpPr>
          <p:nvPr>
            <p:ph idx="1"/>
          </p:nvPr>
        </p:nvSpPr>
        <p:spPr/>
        <p:txBody>
          <a:bodyPr/>
          <a:lstStyle/>
          <a:p>
            <a:endParaRPr lang="en-IN"/>
          </a:p>
        </p:txBody>
      </p:sp>
      <p:pic>
        <p:nvPicPr>
          <p:cNvPr id="10242" name="Picture 2" descr="What is the Resultant Force and How to Find it (with Examples) | Phyley">
            <a:extLst>
              <a:ext uri="{FF2B5EF4-FFF2-40B4-BE49-F238E27FC236}">
                <a16:creationId xmlns:a16="http://schemas.microsoft.com/office/drawing/2014/main" id="{673497EA-8CC1-1072-582B-0F7E70CEA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833" y="2694633"/>
            <a:ext cx="8326212" cy="2072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808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A0AA-6137-FA6F-C7D3-92920D4ED1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80ACB1-9BCE-58FF-0C3E-11DA2B3F44CF}"/>
              </a:ext>
            </a:extLst>
          </p:cNvPr>
          <p:cNvSpPr>
            <a:spLocks noGrp="1"/>
          </p:cNvSpPr>
          <p:nvPr>
            <p:ph idx="1"/>
          </p:nvPr>
        </p:nvSpPr>
        <p:spPr/>
        <p:txBody>
          <a:bodyPr/>
          <a:lstStyle/>
          <a:p>
            <a:endParaRPr lang="en-IN"/>
          </a:p>
        </p:txBody>
      </p:sp>
      <p:pic>
        <p:nvPicPr>
          <p:cNvPr id="11266" name="Picture 2" descr="Find the resultant force acting on the body with the force diagram">
            <a:extLst>
              <a:ext uri="{FF2B5EF4-FFF2-40B4-BE49-F238E27FC236}">
                <a16:creationId xmlns:a16="http://schemas.microsoft.com/office/drawing/2014/main" id="{A9590CDA-2C88-DBEE-7140-56E0823B9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2979" y="1707588"/>
            <a:ext cx="4202369" cy="4001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3179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933E-B215-57C5-77A0-FCCF579C2F0F}"/>
              </a:ext>
            </a:extLst>
          </p:cNvPr>
          <p:cNvSpPr>
            <a:spLocks noGrp="1"/>
          </p:cNvSpPr>
          <p:nvPr>
            <p:ph type="title"/>
          </p:nvPr>
        </p:nvSpPr>
        <p:spPr/>
        <p:txBody>
          <a:bodyPr/>
          <a:lstStyle/>
          <a:p>
            <a:r>
              <a:rPr lang="en-IN" dirty="0"/>
              <a:t>Direction?</a:t>
            </a:r>
          </a:p>
        </p:txBody>
      </p:sp>
      <p:sp>
        <p:nvSpPr>
          <p:cNvPr id="3" name="Content Placeholder 2">
            <a:extLst>
              <a:ext uri="{FF2B5EF4-FFF2-40B4-BE49-F238E27FC236}">
                <a16:creationId xmlns:a16="http://schemas.microsoft.com/office/drawing/2014/main" id="{3DD937AA-8461-7051-A10B-31CA002F679A}"/>
              </a:ext>
            </a:extLst>
          </p:cNvPr>
          <p:cNvSpPr>
            <a:spLocks noGrp="1"/>
          </p:cNvSpPr>
          <p:nvPr>
            <p:ph idx="1"/>
          </p:nvPr>
        </p:nvSpPr>
        <p:spPr/>
        <p:txBody>
          <a:bodyPr/>
          <a:lstStyle/>
          <a:p>
            <a:endParaRPr lang="en-IN"/>
          </a:p>
        </p:txBody>
      </p:sp>
      <p:pic>
        <p:nvPicPr>
          <p:cNvPr id="5122" name="Picture 2" descr="Resultant Force | GeeksforGeeks">
            <a:extLst>
              <a:ext uri="{FF2B5EF4-FFF2-40B4-BE49-F238E27FC236}">
                <a16:creationId xmlns:a16="http://schemas.microsoft.com/office/drawing/2014/main" id="{82E6C39E-1702-0CB0-F014-3B3A9A247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4579" y="2286000"/>
            <a:ext cx="7334250"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434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FC533-C449-EE4C-22A7-8C5A17366174}"/>
              </a:ext>
            </a:extLst>
          </p:cNvPr>
          <p:cNvSpPr>
            <a:spLocks noGrp="1"/>
          </p:cNvSpPr>
          <p:nvPr>
            <p:ph type="title"/>
          </p:nvPr>
        </p:nvSpPr>
        <p:spPr/>
        <p:txBody>
          <a:bodyPr/>
          <a:lstStyle/>
          <a:p>
            <a:r>
              <a:rPr lang="en-IN" dirty="0"/>
              <a:t>trigonometry</a:t>
            </a:r>
          </a:p>
        </p:txBody>
      </p:sp>
      <p:sp>
        <p:nvSpPr>
          <p:cNvPr id="3" name="Content Placeholder 2">
            <a:extLst>
              <a:ext uri="{FF2B5EF4-FFF2-40B4-BE49-F238E27FC236}">
                <a16:creationId xmlns:a16="http://schemas.microsoft.com/office/drawing/2014/main" id="{E9A6A303-D697-93DD-D8C5-4D961704E54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8800C81-398C-D627-595F-430DAD97C8FC}"/>
              </a:ext>
            </a:extLst>
          </p:cNvPr>
          <p:cNvPicPr>
            <a:picLocks noChangeAspect="1"/>
          </p:cNvPicPr>
          <p:nvPr/>
        </p:nvPicPr>
        <p:blipFill>
          <a:blip r:embed="rId2"/>
          <a:stretch>
            <a:fillRect/>
          </a:stretch>
        </p:blipFill>
        <p:spPr>
          <a:xfrm>
            <a:off x="1024128" y="2213691"/>
            <a:ext cx="9628312" cy="2446799"/>
          </a:xfrm>
          <a:prstGeom prst="rect">
            <a:avLst/>
          </a:prstGeom>
        </p:spPr>
      </p:pic>
    </p:spTree>
    <p:extLst>
      <p:ext uri="{BB962C8B-B14F-4D97-AF65-F5344CB8AC3E}">
        <p14:creationId xmlns:p14="http://schemas.microsoft.com/office/powerpoint/2010/main" val="398338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9E239-DB1E-44B7-EB51-7F44939936F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273000-826D-A99B-67C6-F0A1A512780D}"/>
              </a:ext>
            </a:extLst>
          </p:cNvPr>
          <p:cNvSpPr>
            <a:spLocks noGrp="1"/>
          </p:cNvSpPr>
          <p:nvPr>
            <p:ph idx="1"/>
          </p:nvPr>
        </p:nvSpPr>
        <p:spPr/>
        <p:txBody>
          <a:bodyPr/>
          <a:lstStyle/>
          <a:p>
            <a:endParaRPr lang="en-IN"/>
          </a:p>
        </p:txBody>
      </p:sp>
      <p:pic>
        <p:nvPicPr>
          <p:cNvPr id="12290" name="Picture 2" descr="Force Vectors General Questions - Engineering Mechanics Questions and  Answers Discussion Page For Q.2">
            <a:extLst>
              <a:ext uri="{FF2B5EF4-FFF2-40B4-BE49-F238E27FC236}">
                <a16:creationId xmlns:a16="http://schemas.microsoft.com/office/drawing/2014/main" id="{A594E39B-096B-3742-7F54-917035E4E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128" y="585216"/>
            <a:ext cx="4679693" cy="3937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341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5DDB5-5121-6821-ACC9-25FECB5F9C58}"/>
              </a:ext>
            </a:extLst>
          </p:cNvPr>
          <p:cNvSpPr>
            <a:spLocks noGrp="1"/>
          </p:cNvSpPr>
          <p:nvPr>
            <p:ph type="title"/>
          </p:nvPr>
        </p:nvSpPr>
        <p:spPr/>
        <p:txBody>
          <a:bodyPr/>
          <a:lstStyle/>
          <a:p>
            <a:r>
              <a:rPr lang="en-IN" dirty="0"/>
              <a:t>Contact Forces</a:t>
            </a:r>
          </a:p>
        </p:txBody>
      </p:sp>
      <p:sp>
        <p:nvSpPr>
          <p:cNvPr id="4" name="Rectangle 1">
            <a:extLst>
              <a:ext uri="{FF2B5EF4-FFF2-40B4-BE49-F238E27FC236}">
                <a16:creationId xmlns:a16="http://schemas.microsoft.com/office/drawing/2014/main" id="{A4471F9C-F6CF-502E-9579-BBD454F88B87}"/>
              </a:ext>
            </a:extLst>
          </p:cNvPr>
          <p:cNvSpPr>
            <a:spLocks noGrp="1" noChangeArrowheads="1"/>
          </p:cNvSpPr>
          <p:nvPr>
            <p:ph idx="1"/>
          </p:nvPr>
        </p:nvSpPr>
        <p:spPr bwMode="auto">
          <a:xfrm>
            <a:off x="1024129" y="3420517"/>
            <a:ext cx="507187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Require physical contact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Muscular force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Frictional force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Normal force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Example</a:t>
            </a:r>
            <a:r>
              <a:rPr kumimoji="0" lang="en-US" altLang="en-US" sz="1800" b="0" i="0" u="none" strike="noStrike" cap="none" normalizeH="0" baseline="0">
                <a:ln>
                  <a:noFill/>
                </a:ln>
                <a:solidFill>
                  <a:schemeClr val="tx1"/>
                </a:solidFill>
                <a:effectLst/>
                <a:latin typeface="Arial" panose="020B0604020202020204" pitchFamily="34" charset="0"/>
              </a:rPr>
              <a:t>: Walking, pushing cart, book on table</a:t>
            </a:r>
          </a:p>
        </p:txBody>
      </p:sp>
      <p:pic>
        <p:nvPicPr>
          <p:cNvPr id="13315" name="Picture 3" descr="Contact and Non Contact Forces | GeeksforGeeks">
            <a:extLst>
              <a:ext uri="{FF2B5EF4-FFF2-40B4-BE49-F238E27FC236}">
                <a16:creationId xmlns:a16="http://schemas.microsoft.com/office/drawing/2014/main" id="{C34B2C01-921F-11B7-6BEB-F86FC1265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5342" y="1101212"/>
            <a:ext cx="5819468" cy="2909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311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ED51E-F1DC-82F0-CA9A-53093E77F1AC}"/>
              </a:ext>
            </a:extLst>
          </p:cNvPr>
          <p:cNvSpPr>
            <a:spLocks noGrp="1"/>
          </p:cNvSpPr>
          <p:nvPr>
            <p:ph type="title"/>
          </p:nvPr>
        </p:nvSpPr>
        <p:spPr/>
        <p:txBody>
          <a:bodyPr/>
          <a:lstStyle/>
          <a:p>
            <a:r>
              <a:rPr lang="en-IN" dirty="0"/>
              <a:t>Normal force :</a:t>
            </a:r>
          </a:p>
        </p:txBody>
      </p:sp>
      <p:sp>
        <p:nvSpPr>
          <p:cNvPr id="3" name="Content Placeholder 2">
            <a:extLst>
              <a:ext uri="{FF2B5EF4-FFF2-40B4-BE49-F238E27FC236}">
                <a16:creationId xmlns:a16="http://schemas.microsoft.com/office/drawing/2014/main" id="{0D154457-95B8-A99A-0EC6-CF0638021974}"/>
              </a:ext>
            </a:extLst>
          </p:cNvPr>
          <p:cNvSpPr>
            <a:spLocks noGrp="1"/>
          </p:cNvSpPr>
          <p:nvPr>
            <p:ph idx="1"/>
          </p:nvPr>
        </p:nvSpPr>
        <p:spPr>
          <a:xfrm>
            <a:off x="1024129" y="2286000"/>
            <a:ext cx="3469214" cy="4023360"/>
          </a:xfrm>
        </p:spPr>
        <p:txBody>
          <a:bodyPr/>
          <a:lstStyle/>
          <a:p>
            <a:r>
              <a:rPr lang="en-US" dirty="0"/>
              <a:t>If contact forces between the bodies is perpendicular to the surface in contact, then the forces are known as normal forces.</a:t>
            </a:r>
            <a:endParaRPr lang="en-IN" dirty="0"/>
          </a:p>
        </p:txBody>
      </p:sp>
      <p:pic>
        <p:nvPicPr>
          <p:cNvPr id="16386" name="Picture 2" descr="Normal Force: Definition, Equation, and Example">
            <a:extLst>
              <a:ext uri="{FF2B5EF4-FFF2-40B4-BE49-F238E27FC236}">
                <a16:creationId xmlns:a16="http://schemas.microsoft.com/office/drawing/2014/main" id="{8B2A1997-36C4-A68A-3CFE-C8CA066572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2871" y="680269"/>
            <a:ext cx="5715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What is normal force? (article) | Khan Academy">
            <a:extLst>
              <a:ext uri="{FF2B5EF4-FFF2-40B4-BE49-F238E27FC236}">
                <a16:creationId xmlns:a16="http://schemas.microsoft.com/office/drawing/2014/main" id="{5F2643D8-A4C7-95B2-6779-C7278CA457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593" y="4203598"/>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614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3ED5-8678-5F10-AB73-077FF0AE55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BA0E46-A000-531E-57C5-EA5C1E694F3F}"/>
              </a:ext>
            </a:extLst>
          </p:cNvPr>
          <p:cNvSpPr>
            <a:spLocks noGrp="1"/>
          </p:cNvSpPr>
          <p:nvPr>
            <p:ph idx="1"/>
          </p:nvPr>
        </p:nvSpPr>
        <p:spPr/>
        <p:txBody>
          <a:bodyPr/>
          <a:lstStyle/>
          <a:p>
            <a:endParaRPr lang="en-IN"/>
          </a:p>
        </p:txBody>
      </p:sp>
      <p:pic>
        <p:nvPicPr>
          <p:cNvPr id="17412" name="Picture 4" descr="Normal Force">
            <a:extLst>
              <a:ext uri="{FF2B5EF4-FFF2-40B4-BE49-F238E27FC236}">
                <a16:creationId xmlns:a16="http://schemas.microsoft.com/office/drawing/2014/main" id="{C19FC08D-029C-90BD-4D6F-C9D4D94940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35024"/>
            <a:ext cx="9144000" cy="4583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3213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2D03-36AE-5E9C-8BA0-757B1E106D1B}"/>
              </a:ext>
            </a:extLst>
          </p:cNvPr>
          <p:cNvSpPr>
            <a:spLocks noGrp="1"/>
          </p:cNvSpPr>
          <p:nvPr>
            <p:ph type="title"/>
          </p:nvPr>
        </p:nvSpPr>
        <p:spPr/>
        <p:txBody>
          <a:bodyPr/>
          <a:lstStyle/>
          <a:p>
            <a:r>
              <a:rPr lang="en-IN" dirty="0"/>
              <a:t> Force of friction </a:t>
            </a:r>
          </a:p>
        </p:txBody>
      </p:sp>
      <p:sp>
        <p:nvSpPr>
          <p:cNvPr id="3" name="Content Placeholder 2">
            <a:extLst>
              <a:ext uri="{FF2B5EF4-FFF2-40B4-BE49-F238E27FC236}">
                <a16:creationId xmlns:a16="http://schemas.microsoft.com/office/drawing/2014/main" id="{E40840E0-8B33-D082-DF06-E3E5903837AA}"/>
              </a:ext>
            </a:extLst>
          </p:cNvPr>
          <p:cNvSpPr>
            <a:spLocks noGrp="1"/>
          </p:cNvSpPr>
          <p:nvPr>
            <p:ph idx="1"/>
          </p:nvPr>
        </p:nvSpPr>
        <p:spPr>
          <a:xfrm>
            <a:off x="1024129" y="2286000"/>
            <a:ext cx="4068982" cy="4023360"/>
          </a:xfrm>
        </p:spPr>
        <p:txBody>
          <a:bodyPr/>
          <a:lstStyle/>
          <a:p>
            <a:r>
              <a:rPr lang="en-US" dirty="0"/>
              <a:t>Two bodies placed in contact can also exert forces parallel to the surfaces in contact, such a force is called force of friction or simply friction. It always opposes relative motion of an object.</a:t>
            </a:r>
            <a:endParaRPr lang="en-IN" dirty="0"/>
          </a:p>
        </p:txBody>
      </p:sp>
      <p:pic>
        <p:nvPicPr>
          <p:cNvPr id="18434" name="Picture 2" descr="Friction (Frictional Force): Definition, Formula, &amp; Examples">
            <a:extLst>
              <a:ext uri="{FF2B5EF4-FFF2-40B4-BE49-F238E27FC236}">
                <a16:creationId xmlns:a16="http://schemas.microsoft.com/office/drawing/2014/main" id="{B24DA089-1CFF-A52C-1822-CE6944A4B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4301" y="904875"/>
            <a:ext cx="5048250" cy="504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372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4B20B-D2AE-3A64-51EB-6241A4B218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774295-9092-429A-A48D-9D94DB8F7630}"/>
              </a:ext>
            </a:extLst>
          </p:cNvPr>
          <p:cNvSpPr>
            <a:spLocks noGrp="1"/>
          </p:cNvSpPr>
          <p:nvPr>
            <p:ph idx="1"/>
          </p:nvPr>
        </p:nvSpPr>
        <p:spPr/>
        <p:txBody>
          <a:bodyPr/>
          <a:lstStyle/>
          <a:p>
            <a:endParaRPr lang="en-IN"/>
          </a:p>
        </p:txBody>
      </p:sp>
      <p:pic>
        <p:nvPicPr>
          <p:cNvPr id="20482" name="Picture 2" descr="Friction—Sample Problem 3 - YouTube">
            <a:extLst>
              <a:ext uri="{FF2B5EF4-FFF2-40B4-BE49-F238E27FC236}">
                <a16:creationId xmlns:a16="http://schemas.microsoft.com/office/drawing/2014/main" id="{D11E79A7-C38B-B538-C9F8-884AF3CE5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14300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29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A26B5-B4DD-F1A4-0482-BB5B92D841D4}"/>
              </a:ext>
            </a:extLst>
          </p:cNvPr>
          <p:cNvSpPr>
            <a:spLocks noGrp="1"/>
          </p:cNvSpPr>
          <p:nvPr>
            <p:ph type="title"/>
          </p:nvPr>
        </p:nvSpPr>
        <p:spPr/>
        <p:txBody>
          <a:bodyPr/>
          <a:lstStyle/>
          <a:p>
            <a:r>
              <a:rPr lang="en-IN" dirty="0"/>
              <a:t>Muscular force</a:t>
            </a:r>
          </a:p>
        </p:txBody>
      </p:sp>
      <p:sp>
        <p:nvSpPr>
          <p:cNvPr id="3" name="Content Placeholder 2">
            <a:extLst>
              <a:ext uri="{FF2B5EF4-FFF2-40B4-BE49-F238E27FC236}">
                <a16:creationId xmlns:a16="http://schemas.microsoft.com/office/drawing/2014/main" id="{ACA77255-6047-7EE1-ED4A-1C29B32E9D17}"/>
              </a:ext>
            </a:extLst>
          </p:cNvPr>
          <p:cNvSpPr>
            <a:spLocks noGrp="1"/>
          </p:cNvSpPr>
          <p:nvPr>
            <p:ph idx="1"/>
          </p:nvPr>
        </p:nvSpPr>
        <p:spPr>
          <a:xfrm>
            <a:off x="1024128" y="2286000"/>
            <a:ext cx="4668749" cy="4023360"/>
          </a:xfrm>
        </p:spPr>
        <p:txBody>
          <a:bodyPr/>
          <a:lstStyle/>
          <a:p>
            <a:r>
              <a:rPr lang="en-US" dirty="0"/>
              <a:t>This is the force we can exert with our bodies by using our muscles, e.g. pull, push, kick, etc. Such forces are also called muscular forces. These are contact forces.</a:t>
            </a:r>
            <a:endParaRPr lang="en-IN" dirty="0"/>
          </a:p>
        </p:txBody>
      </p:sp>
      <p:pic>
        <p:nvPicPr>
          <p:cNvPr id="19462" name="Picture 6" descr="What is muscular force and example? » Open access journals">
            <a:extLst>
              <a:ext uri="{FF2B5EF4-FFF2-40B4-BE49-F238E27FC236}">
                <a16:creationId xmlns:a16="http://schemas.microsoft.com/office/drawing/2014/main" id="{C22A4128-6883-B562-0BF0-C9150F34FC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5945" y="2045895"/>
            <a:ext cx="5494827" cy="3077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98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D6B7C-1F04-CB0E-7483-38B34E37B82F}"/>
              </a:ext>
            </a:extLst>
          </p:cNvPr>
          <p:cNvSpPr>
            <a:spLocks noGrp="1"/>
          </p:cNvSpPr>
          <p:nvPr>
            <p:ph type="title"/>
          </p:nvPr>
        </p:nvSpPr>
        <p:spPr/>
        <p:txBody>
          <a:bodyPr/>
          <a:lstStyle/>
          <a:p>
            <a:r>
              <a:rPr lang="en-IN" dirty="0"/>
              <a:t>Non-Contact Forces</a:t>
            </a:r>
            <a:br>
              <a:rPr lang="en-IN" b="1" dirty="0"/>
            </a:br>
            <a:endParaRPr lang="en-IN" dirty="0"/>
          </a:p>
        </p:txBody>
      </p:sp>
      <p:sp>
        <p:nvSpPr>
          <p:cNvPr id="3" name="Content Placeholder 2">
            <a:extLst>
              <a:ext uri="{FF2B5EF4-FFF2-40B4-BE49-F238E27FC236}">
                <a16:creationId xmlns:a16="http://schemas.microsoft.com/office/drawing/2014/main" id="{057F5090-382A-7546-AC87-528C4BD981AA}"/>
              </a:ext>
            </a:extLst>
          </p:cNvPr>
          <p:cNvSpPr>
            <a:spLocks noGrp="1"/>
          </p:cNvSpPr>
          <p:nvPr>
            <p:ph idx="1"/>
          </p:nvPr>
        </p:nvSpPr>
        <p:spPr>
          <a:xfrm>
            <a:off x="1024128" y="2286000"/>
            <a:ext cx="3833007" cy="4023360"/>
          </a:xfrm>
        </p:spPr>
        <p:txBody>
          <a:bodyPr/>
          <a:lstStyle/>
          <a:p>
            <a:pPr>
              <a:buFont typeface="Arial" panose="020B0604020202020204" pitchFamily="34" charset="0"/>
              <a:buChar char="•"/>
            </a:pPr>
            <a:r>
              <a:rPr lang="en-US" dirty="0"/>
              <a:t>Do not require contact</a:t>
            </a:r>
          </a:p>
          <a:p>
            <a:pPr>
              <a:buFont typeface="Arial" panose="020B0604020202020204" pitchFamily="34" charset="0"/>
              <a:buChar char="•"/>
            </a:pPr>
            <a:r>
              <a:rPr lang="en-US" dirty="0"/>
              <a:t>Types:</a:t>
            </a:r>
          </a:p>
          <a:p>
            <a:pPr marL="742950" lvl="1" indent="-285750">
              <a:buFont typeface="Arial" panose="020B0604020202020204" pitchFamily="34" charset="0"/>
              <a:buChar char="•"/>
            </a:pPr>
            <a:r>
              <a:rPr lang="en-US" b="1" dirty="0"/>
              <a:t>Gravitational</a:t>
            </a:r>
            <a:endParaRPr lang="en-US" dirty="0"/>
          </a:p>
          <a:p>
            <a:pPr marL="742950" lvl="1" indent="-285750">
              <a:buFont typeface="Arial" panose="020B0604020202020204" pitchFamily="34" charset="0"/>
              <a:buChar char="•"/>
            </a:pPr>
            <a:r>
              <a:rPr lang="en-US" b="1" dirty="0"/>
              <a:t>Electrostatic</a:t>
            </a:r>
            <a:endParaRPr lang="en-US" dirty="0"/>
          </a:p>
          <a:p>
            <a:pPr marL="742950" lvl="1" indent="-285750">
              <a:buFont typeface="Arial" panose="020B0604020202020204" pitchFamily="34" charset="0"/>
              <a:buChar char="•"/>
            </a:pPr>
            <a:r>
              <a:rPr lang="en-US" b="1" dirty="0"/>
              <a:t>Magnetic</a:t>
            </a:r>
            <a:endParaRPr lang="en-US" dirty="0"/>
          </a:p>
          <a:p>
            <a:pPr>
              <a:buFont typeface="Arial" panose="020B0604020202020204" pitchFamily="34" charset="0"/>
              <a:buChar char="•"/>
            </a:pPr>
            <a:r>
              <a:rPr lang="en-US" dirty="0"/>
              <a:t>Visual: Iron nails near magnet, rubbed comb attracting paper</a:t>
            </a:r>
          </a:p>
          <a:p>
            <a:endParaRPr lang="en-IN" dirty="0"/>
          </a:p>
        </p:txBody>
      </p:sp>
      <p:pic>
        <p:nvPicPr>
          <p:cNvPr id="14338" name="Picture 2" descr="Non Contact Force | GeeksforGeeks">
            <a:extLst>
              <a:ext uri="{FF2B5EF4-FFF2-40B4-BE49-F238E27FC236}">
                <a16:creationId xmlns:a16="http://schemas.microsoft.com/office/drawing/2014/main" id="{D2603562-FEDE-1E0E-FD5C-F518064AD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3832" y="1111045"/>
            <a:ext cx="5976784" cy="298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5626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7D0C-C25E-6121-A411-8C6942998DC1}"/>
              </a:ext>
            </a:extLst>
          </p:cNvPr>
          <p:cNvSpPr>
            <a:spLocks noGrp="1"/>
          </p:cNvSpPr>
          <p:nvPr>
            <p:ph type="title"/>
          </p:nvPr>
        </p:nvSpPr>
        <p:spPr>
          <a:xfrm>
            <a:off x="1024127" y="548640"/>
            <a:ext cx="9720072" cy="1499616"/>
          </a:xfrm>
        </p:spPr>
        <p:txBody>
          <a:bodyPr/>
          <a:lstStyle/>
          <a:p>
            <a:r>
              <a:rPr lang="en-IN" dirty="0"/>
              <a:t>Gravitational Force &amp; Weight</a:t>
            </a:r>
          </a:p>
        </p:txBody>
      </p:sp>
      <p:pic>
        <p:nvPicPr>
          <p:cNvPr id="15362" name="Picture 2" descr="Law of Gravity">
            <a:extLst>
              <a:ext uri="{FF2B5EF4-FFF2-40B4-BE49-F238E27FC236}">
                <a16:creationId xmlns:a16="http://schemas.microsoft.com/office/drawing/2014/main" id="{0C0E851D-1421-CCC4-EDAF-A177BF707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127" y="2211487"/>
            <a:ext cx="4491038" cy="409787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9B1FD25C-2BD9-468A-4E3E-A020887EB1EE}"/>
              </a:ext>
            </a:extLst>
          </p:cNvPr>
          <p:cNvSpPr>
            <a:spLocks noGrp="1" noChangeArrowheads="1"/>
          </p:cNvSpPr>
          <p:nvPr>
            <p:ph idx="1"/>
          </p:nvPr>
        </p:nvSpPr>
        <p:spPr bwMode="auto">
          <a:xfrm>
            <a:off x="7152524" y="1888887"/>
            <a:ext cx="383994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Newton said that every object in this universe attracts every other object with a certain force. The force with which two objects attract each other is called the force of gravitation. The force of gravitation acts even if the two objects are not connected by any means. If however, the masses of the objects are small, the force of gravitation between them is small and cannot be detected easily. The force of attraction between any two particles in the universe is called gravitation or gravitational force.</a:t>
            </a:r>
          </a:p>
        </p:txBody>
      </p:sp>
    </p:spTree>
    <p:extLst>
      <p:ext uri="{BB962C8B-B14F-4D97-AF65-F5344CB8AC3E}">
        <p14:creationId xmlns:p14="http://schemas.microsoft.com/office/powerpoint/2010/main" val="1084141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376BE-F0A7-DBA2-BC05-702503C863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8AE6E19-F031-0DFE-2D81-FEF5DC7037A5}"/>
              </a:ext>
            </a:extLst>
          </p:cNvPr>
          <p:cNvSpPr>
            <a:spLocks noGrp="1"/>
          </p:cNvSpPr>
          <p:nvPr>
            <p:ph idx="1"/>
          </p:nvPr>
        </p:nvSpPr>
        <p:spPr>
          <a:xfrm>
            <a:off x="1024129" y="2286000"/>
            <a:ext cx="4619587" cy="4023360"/>
          </a:xfrm>
        </p:spPr>
        <p:txBody>
          <a:bodyPr/>
          <a:lstStyle/>
          <a:p>
            <a:r>
              <a:rPr lang="en-US" dirty="0"/>
              <a:t>The earth attracts all the bodies towards its </a:t>
            </a:r>
            <a:r>
              <a:rPr lang="en-US" dirty="0" err="1"/>
              <a:t>centre</a:t>
            </a:r>
            <a:r>
              <a:rPr lang="en-US" dirty="0"/>
              <a:t>. The force exerted by the earth on the body is known as  weight of the body or force of gravity. It acts in vertically downward direction. If mass of the body is m and acceleration due to gravity is g. Then force of gravity or weight = mg. The value of g is 9.8 m/s2. For a body moving downward, g is taken as positive while for a body moving upward, g is taken as negative.</a:t>
            </a:r>
            <a:endParaRPr lang="en-IN" dirty="0"/>
          </a:p>
        </p:txBody>
      </p:sp>
      <p:pic>
        <p:nvPicPr>
          <p:cNvPr id="21506" name="Picture 2" descr="Gravitational Search Algorithm (GSA) in view of Newton's Law of Gravitation  – Transpire Online">
            <a:extLst>
              <a:ext uri="{FF2B5EF4-FFF2-40B4-BE49-F238E27FC236}">
                <a16:creationId xmlns:a16="http://schemas.microsoft.com/office/drawing/2014/main" id="{9C293D70-F31E-1B94-6E0C-4A8EB06B9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1871" y="2286000"/>
            <a:ext cx="6038850" cy="29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366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C415-1D7D-1246-BEFC-CDBED5E3A8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D1E9F3-CB6B-B4CD-B8D0-ED155B3E2BD3}"/>
              </a:ext>
            </a:extLst>
          </p:cNvPr>
          <p:cNvSpPr>
            <a:spLocks noGrp="1"/>
          </p:cNvSpPr>
          <p:nvPr>
            <p:ph idx="1"/>
          </p:nvPr>
        </p:nvSpPr>
        <p:spPr>
          <a:xfrm>
            <a:off x="1024129" y="2286000"/>
            <a:ext cx="5229188" cy="4023360"/>
          </a:xfrm>
        </p:spPr>
        <p:txBody>
          <a:bodyPr/>
          <a:lstStyle/>
          <a:p>
            <a:r>
              <a:rPr lang="en-US" dirty="0"/>
              <a:t>The force due to gravity on a body of mass m at a place where acceleration due to gravity is g, is given as F = mg</a:t>
            </a:r>
            <a:endParaRPr lang="en-IN" dirty="0"/>
          </a:p>
        </p:txBody>
      </p:sp>
      <p:sp>
        <p:nvSpPr>
          <p:cNvPr id="5" name="TextBox 4">
            <a:extLst>
              <a:ext uri="{FF2B5EF4-FFF2-40B4-BE49-F238E27FC236}">
                <a16:creationId xmlns:a16="http://schemas.microsoft.com/office/drawing/2014/main" id="{DAC71BDD-BCFB-34EB-394D-7F642566438D}"/>
              </a:ext>
            </a:extLst>
          </p:cNvPr>
          <p:cNvSpPr txBox="1"/>
          <p:nvPr/>
        </p:nvSpPr>
        <p:spPr>
          <a:xfrm>
            <a:off x="1140542" y="4915732"/>
            <a:ext cx="6096000" cy="1200329"/>
          </a:xfrm>
          <a:prstGeom prst="rect">
            <a:avLst/>
          </a:prstGeom>
          <a:noFill/>
        </p:spPr>
        <p:txBody>
          <a:bodyPr wrap="square">
            <a:spAutoFit/>
          </a:bodyPr>
          <a:lstStyle/>
          <a:p>
            <a:r>
              <a:rPr lang="en-IN" dirty="0"/>
              <a:t>Since the average value of  g is 980 </a:t>
            </a:r>
            <a:r>
              <a:rPr lang="en-IN" dirty="0" err="1"/>
              <a:t>cms</a:t>
            </a:r>
            <a:r>
              <a:rPr lang="en-IN" dirty="0"/>
              <a:t>–2, 1 gf = 980 dyne Further, 1 </a:t>
            </a:r>
            <a:r>
              <a:rPr lang="en-IN" dirty="0" err="1"/>
              <a:t>kgf</a:t>
            </a:r>
            <a:r>
              <a:rPr lang="en-IN" dirty="0"/>
              <a:t> = 1000 gf To an approximation 1 </a:t>
            </a:r>
            <a:r>
              <a:rPr lang="en-IN" dirty="0" err="1"/>
              <a:t>kgf</a:t>
            </a:r>
            <a:r>
              <a:rPr lang="en-IN" dirty="0"/>
              <a:t> can be treated to be nearly equal to 10 N. Then 1 N = 0.1 </a:t>
            </a:r>
            <a:r>
              <a:rPr lang="en-IN" dirty="0" err="1"/>
              <a:t>kgf</a:t>
            </a:r>
            <a:r>
              <a:rPr lang="en-IN" dirty="0"/>
              <a:t> or  1 N = 100 gf.</a:t>
            </a:r>
          </a:p>
        </p:txBody>
      </p:sp>
    </p:spTree>
    <p:extLst>
      <p:ext uri="{BB962C8B-B14F-4D97-AF65-F5344CB8AC3E}">
        <p14:creationId xmlns:p14="http://schemas.microsoft.com/office/powerpoint/2010/main" val="2917145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3ED7B-F5BA-2189-9E75-EEAE6372DF68}"/>
              </a:ext>
            </a:extLst>
          </p:cNvPr>
          <p:cNvSpPr>
            <a:spLocks noGrp="1"/>
          </p:cNvSpPr>
          <p:nvPr>
            <p:ph type="title"/>
          </p:nvPr>
        </p:nvSpPr>
        <p:spPr/>
        <p:txBody>
          <a:bodyPr/>
          <a:lstStyle/>
          <a:p>
            <a:r>
              <a:rPr lang="en-IN" dirty="0"/>
              <a:t>Electrostatic force</a:t>
            </a:r>
          </a:p>
        </p:txBody>
      </p:sp>
      <p:sp>
        <p:nvSpPr>
          <p:cNvPr id="3" name="Content Placeholder 2">
            <a:extLst>
              <a:ext uri="{FF2B5EF4-FFF2-40B4-BE49-F238E27FC236}">
                <a16:creationId xmlns:a16="http://schemas.microsoft.com/office/drawing/2014/main" id="{C62934EB-02BF-D1BE-7E63-A9357F26E39D}"/>
              </a:ext>
            </a:extLst>
          </p:cNvPr>
          <p:cNvSpPr>
            <a:spLocks noGrp="1"/>
          </p:cNvSpPr>
          <p:nvPr>
            <p:ph idx="1"/>
          </p:nvPr>
        </p:nvSpPr>
        <p:spPr>
          <a:xfrm>
            <a:off x="1161780" y="2252386"/>
            <a:ext cx="5170195" cy="4023360"/>
          </a:xfrm>
        </p:spPr>
        <p:txBody>
          <a:bodyPr>
            <a:normAutofit lnSpcReduction="10000"/>
          </a:bodyPr>
          <a:lstStyle/>
          <a:p>
            <a:r>
              <a:rPr lang="en-US" dirty="0"/>
              <a:t>The force exerted by a charged body on another charged or uncharged body is known as electrostatic force. When a plastic comb is rubbed with silk, it can pick up small bits of paper . This is because the comb acquires an electric charge because of which it can exert a force called electrostatic force. Electrostatic force can also act from a distance and is therefore a non contact force. A body with electrostatic charge can either attract or repel another charged body. Electrostatic force is used to separate solid pollutant particles from smoke given out from factories.</a:t>
            </a:r>
            <a:endParaRPr lang="en-IN" dirty="0"/>
          </a:p>
        </p:txBody>
      </p:sp>
      <p:pic>
        <p:nvPicPr>
          <p:cNvPr id="22530" name="Picture 2" descr="Electrostatic Force: Definition, Formula, and Examples">
            <a:extLst>
              <a:ext uri="{FF2B5EF4-FFF2-40B4-BE49-F238E27FC236}">
                <a16:creationId xmlns:a16="http://schemas.microsoft.com/office/drawing/2014/main" id="{758EC3E7-F417-C4A0-82B7-7E4F627912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470" y="1537396"/>
            <a:ext cx="40957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11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4DF9-4669-93A8-8AF7-00EC36301023}"/>
              </a:ext>
            </a:extLst>
          </p:cNvPr>
          <p:cNvSpPr>
            <a:spLocks noGrp="1"/>
          </p:cNvSpPr>
          <p:nvPr>
            <p:ph type="title"/>
          </p:nvPr>
        </p:nvSpPr>
        <p:spPr/>
        <p:txBody>
          <a:bodyPr/>
          <a:lstStyle/>
          <a:p>
            <a:r>
              <a:rPr lang="en-IN" dirty="0"/>
              <a:t>Magnetic force</a:t>
            </a:r>
          </a:p>
        </p:txBody>
      </p:sp>
      <p:sp>
        <p:nvSpPr>
          <p:cNvPr id="3" name="Content Placeholder 2">
            <a:extLst>
              <a:ext uri="{FF2B5EF4-FFF2-40B4-BE49-F238E27FC236}">
                <a16:creationId xmlns:a16="http://schemas.microsoft.com/office/drawing/2014/main" id="{EB4BF54B-7316-8612-E203-10223A1A113B}"/>
              </a:ext>
            </a:extLst>
          </p:cNvPr>
          <p:cNvSpPr>
            <a:spLocks noGrp="1"/>
          </p:cNvSpPr>
          <p:nvPr>
            <p:ph idx="1"/>
          </p:nvPr>
        </p:nvSpPr>
        <p:spPr>
          <a:xfrm>
            <a:off x="1024128" y="2286000"/>
            <a:ext cx="4639253" cy="4023360"/>
          </a:xfrm>
        </p:spPr>
        <p:txBody>
          <a:bodyPr/>
          <a:lstStyle/>
          <a:p>
            <a:r>
              <a:rPr lang="en-US" dirty="0"/>
              <a:t>A magnet attracts iron filings, nails and other objects made of iron, steel, nickel and cobalt . Magnets exert forces of attraction or repulsion on other magnets. An important feature of magnetic force is that it can act from a distance and is therefore a non–contact force. </a:t>
            </a:r>
            <a:endParaRPr lang="en-IN" dirty="0"/>
          </a:p>
        </p:txBody>
      </p:sp>
      <p:sp>
        <p:nvSpPr>
          <p:cNvPr id="4" name="AutoShape 2" descr="What is Magnetic Force? Definition, Formula, Applications, and Examples |  GeeksforGeeks">
            <a:extLst>
              <a:ext uri="{FF2B5EF4-FFF2-40B4-BE49-F238E27FC236}">
                <a16:creationId xmlns:a16="http://schemas.microsoft.com/office/drawing/2014/main" id="{BC74C29F-F511-8A78-FD84-F41D374E3A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What is Magnetic Force? Definition, Formula, Applications, and Examples |  GeeksforGeeks">
            <a:extLst>
              <a:ext uri="{FF2B5EF4-FFF2-40B4-BE49-F238E27FC236}">
                <a16:creationId xmlns:a16="http://schemas.microsoft.com/office/drawing/2014/main" id="{A513D06B-8D64-0676-3C87-EBF7316A1E9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What is Magnetic Force? Definition, Formula, Applications, and Examples |  GeeksforGeeks">
            <a:extLst>
              <a:ext uri="{FF2B5EF4-FFF2-40B4-BE49-F238E27FC236}">
                <a16:creationId xmlns:a16="http://schemas.microsoft.com/office/drawing/2014/main" id="{E74BD151-8850-986C-C52E-5531E5F2F9D5}"/>
              </a:ext>
            </a:extLst>
          </p:cNvPr>
          <p:cNvSpPr>
            <a:spLocks noChangeAspect="1" noChangeArrowheads="1"/>
          </p:cNvSpPr>
          <p:nvPr/>
        </p:nvSpPr>
        <p:spPr bwMode="auto">
          <a:xfrm>
            <a:off x="7830947" y="2692400"/>
            <a:ext cx="203200" cy="203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3560" name="Picture 8" descr="Diagram Showing Magnetic Force Attract Repel Stock Vector (Royalty Free)  1747180829 | Shutterstock">
            <a:extLst>
              <a:ext uri="{FF2B5EF4-FFF2-40B4-BE49-F238E27FC236}">
                <a16:creationId xmlns:a16="http://schemas.microsoft.com/office/drawing/2014/main" id="{4D36ACE4-E8E1-7704-0460-A9516557D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8914" y="1295400"/>
            <a:ext cx="4788958"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263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D30A5-A298-2A34-99AC-E199FB2ABB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962C45-C051-2455-DF29-25B2705A98A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A1195DF-6D3D-2754-ADBA-2B83BB84B1B6}"/>
              </a:ext>
            </a:extLst>
          </p:cNvPr>
          <p:cNvPicPr>
            <a:picLocks noChangeAspect="1"/>
          </p:cNvPicPr>
          <p:nvPr/>
        </p:nvPicPr>
        <p:blipFill>
          <a:blip r:embed="rId2"/>
          <a:stretch>
            <a:fillRect/>
          </a:stretch>
        </p:blipFill>
        <p:spPr>
          <a:xfrm>
            <a:off x="2497056" y="2840904"/>
            <a:ext cx="7020905" cy="2257740"/>
          </a:xfrm>
          <a:prstGeom prst="rect">
            <a:avLst/>
          </a:prstGeom>
        </p:spPr>
      </p:pic>
    </p:spTree>
    <p:extLst>
      <p:ext uri="{BB962C8B-B14F-4D97-AF65-F5344CB8AC3E}">
        <p14:creationId xmlns:p14="http://schemas.microsoft.com/office/powerpoint/2010/main" val="2810049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27494-A17E-DBEC-FFED-71667ADCC4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1A9E67-D134-F1CE-7F84-CEAF00AF228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D2912FC-CB6E-FEEC-061A-C6566E6B2A77}"/>
              </a:ext>
            </a:extLst>
          </p:cNvPr>
          <p:cNvPicPr>
            <a:picLocks noChangeAspect="1"/>
          </p:cNvPicPr>
          <p:nvPr/>
        </p:nvPicPr>
        <p:blipFill>
          <a:blip r:embed="rId2"/>
          <a:stretch>
            <a:fillRect/>
          </a:stretch>
        </p:blipFill>
        <p:spPr>
          <a:xfrm>
            <a:off x="1024128" y="2263877"/>
            <a:ext cx="9869264" cy="1499616"/>
          </a:xfrm>
          <a:prstGeom prst="rect">
            <a:avLst/>
          </a:prstGeom>
        </p:spPr>
      </p:pic>
    </p:spTree>
    <p:extLst>
      <p:ext uri="{BB962C8B-B14F-4D97-AF65-F5344CB8AC3E}">
        <p14:creationId xmlns:p14="http://schemas.microsoft.com/office/powerpoint/2010/main" val="1098169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FD10-0588-5975-78E3-FB6E1832F0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DB209A-6C31-FA26-71BA-23E9659C4A7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B836B4B-9DFE-AD49-EC45-09E83A202592}"/>
              </a:ext>
            </a:extLst>
          </p:cNvPr>
          <p:cNvPicPr>
            <a:picLocks noChangeAspect="1"/>
          </p:cNvPicPr>
          <p:nvPr/>
        </p:nvPicPr>
        <p:blipFill>
          <a:blip r:embed="rId2"/>
          <a:stretch>
            <a:fillRect/>
          </a:stretch>
        </p:blipFill>
        <p:spPr>
          <a:xfrm>
            <a:off x="1024128" y="2361613"/>
            <a:ext cx="10054528" cy="2411555"/>
          </a:xfrm>
          <a:prstGeom prst="rect">
            <a:avLst/>
          </a:prstGeom>
        </p:spPr>
      </p:pic>
    </p:spTree>
    <p:extLst>
      <p:ext uri="{BB962C8B-B14F-4D97-AF65-F5344CB8AC3E}">
        <p14:creationId xmlns:p14="http://schemas.microsoft.com/office/powerpoint/2010/main" val="1869422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AAA0-F27F-611B-5DAD-6CF2AB4DF8AD}"/>
              </a:ext>
            </a:extLst>
          </p:cNvPr>
          <p:cNvSpPr>
            <a:spLocks noGrp="1"/>
          </p:cNvSpPr>
          <p:nvPr>
            <p:ph type="title"/>
          </p:nvPr>
        </p:nvSpPr>
        <p:spPr/>
        <p:txBody>
          <a:bodyPr/>
          <a:lstStyle/>
          <a:p>
            <a:r>
              <a:rPr lang="en-IN" dirty="0"/>
              <a:t>Extra info dump!</a:t>
            </a:r>
          </a:p>
        </p:txBody>
      </p:sp>
      <p:sp>
        <p:nvSpPr>
          <p:cNvPr id="3" name="Content Placeholder 2">
            <a:extLst>
              <a:ext uri="{FF2B5EF4-FFF2-40B4-BE49-F238E27FC236}">
                <a16:creationId xmlns:a16="http://schemas.microsoft.com/office/drawing/2014/main" id="{42C9F83E-B07C-5CDE-B08A-893C980911D3}"/>
              </a:ext>
            </a:extLst>
          </p:cNvPr>
          <p:cNvSpPr>
            <a:spLocks noGrp="1"/>
          </p:cNvSpPr>
          <p:nvPr>
            <p:ph idx="1"/>
          </p:nvPr>
        </p:nvSpPr>
        <p:spPr/>
        <p:txBody>
          <a:bodyPr/>
          <a:lstStyle/>
          <a:p>
            <a:r>
              <a:rPr lang="en-US" dirty="0"/>
              <a:t>We know only four fundamental forces in the universe. They are gravitational force, electromagnetic force, weak force and strong interactions. We are familiar with the first two. Weak forces come into play during radioactivity. Strong interactions are responsible for holding the nucleus of an atom together.</a:t>
            </a:r>
          </a:p>
          <a:p>
            <a:r>
              <a:rPr lang="en-US" dirty="0"/>
              <a:t>All other forces are manifestations of these fundamental forces. For example, forces such as friction between bodies, muscular action, etc. viewed on an atomic scale arise chiefly from electrical attraction and repulsion of the electrons and nuclei making up the atoms of the material.</a:t>
            </a:r>
            <a:endParaRPr lang="en-IN" dirty="0"/>
          </a:p>
        </p:txBody>
      </p:sp>
    </p:spTree>
    <p:extLst>
      <p:ext uri="{BB962C8B-B14F-4D97-AF65-F5344CB8AC3E}">
        <p14:creationId xmlns:p14="http://schemas.microsoft.com/office/powerpoint/2010/main" val="1983063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3D80-8575-1E8D-A59C-FFA151FD6DF2}"/>
              </a:ext>
            </a:extLst>
          </p:cNvPr>
          <p:cNvSpPr>
            <a:spLocks noGrp="1"/>
          </p:cNvSpPr>
          <p:nvPr>
            <p:ph type="title"/>
          </p:nvPr>
        </p:nvSpPr>
        <p:spPr/>
        <p:txBody>
          <a:bodyPr/>
          <a:lstStyle/>
          <a:p>
            <a:r>
              <a:rPr lang="en-IN" dirty="0"/>
              <a:t>easy</a:t>
            </a:r>
          </a:p>
        </p:txBody>
      </p:sp>
      <p:sp>
        <p:nvSpPr>
          <p:cNvPr id="3" name="Content Placeholder 2">
            <a:extLst>
              <a:ext uri="{FF2B5EF4-FFF2-40B4-BE49-F238E27FC236}">
                <a16:creationId xmlns:a16="http://schemas.microsoft.com/office/drawing/2014/main" id="{93CF2F8A-F3FB-8C74-6FF2-BB508DAB8687}"/>
              </a:ext>
            </a:extLst>
          </p:cNvPr>
          <p:cNvSpPr>
            <a:spLocks noGrp="1"/>
          </p:cNvSpPr>
          <p:nvPr>
            <p:ph idx="1"/>
          </p:nvPr>
        </p:nvSpPr>
        <p:spPr/>
        <p:txBody>
          <a:bodyPr/>
          <a:lstStyle/>
          <a:p>
            <a:pPr>
              <a:buNone/>
            </a:pPr>
            <a:r>
              <a:rPr lang="en-US" b="1" dirty="0"/>
              <a:t>Q1.</a:t>
            </a:r>
            <a:r>
              <a:rPr lang="en-US" dirty="0"/>
              <a:t> Which combination of statements about force is correct?</a:t>
            </a:r>
            <a:br>
              <a:rPr lang="en-US" dirty="0"/>
            </a:br>
            <a:r>
              <a:rPr lang="en-US" dirty="0" err="1"/>
              <a:t>i</a:t>
            </a:r>
            <a:r>
              <a:rPr lang="en-US" dirty="0"/>
              <a:t>. Force can change the direction of a moving object.</a:t>
            </a:r>
            <a:br>
              <a:rPr lang="en-US" dirty="0"/>
            </a:br>
            <a:r>
              <a:rPr lang="en-US" dirty="0"/>
              <a:t>ii. Force can only be exerted through contact.</a:t>
            </a:r>
            <a:br>
              <a:rPr lang="en-US" dirty="0"/>
            </a:br>
            <a:r>
              <a:rPr lang="en-US" dirty="0"/>
              <a:t>iii. Force can change the shape of an object.</a:t>
            </a:r>
            <a:br>
              <a:rPr lang="en-US" dirty="0"/>
            </a:br>
            <a:r>
              <a:rPr lang="en-US" dirty="0"/>
              <a:t>iv. Non-contact forces act only when there is physical touch.</a:t>
            </a:r>
            <a:br>
              <a:rPr lang="en-US" dirty="0"/>
            </a:br>
            <a:r>
              <a:rPr lang="en-US" dirty="0"/>
              <a:t>v. Friction is an example of contact force.</a:t>
            </a:r>
          </a:p>
          <a:p>
            <a:r>
              <a:rPr lang="en-US" b="1" dirty="0"/>
              <a:t>A.</a:t>
            </a:r>
            <a:r>
              <a:rPr lang="en-US" dirty="0"/>
              <a:t> </a:t>
            </a:r>
            <a:r>
              <a:rPr lang="en-US" dirty="0" err="1"/>
              <a:t>i</a:t>
            </a:r>
            <a:r>
              <a:rPr lang="en-US" dirty="0"/>
              <a:t>, iii, v only</a:t>
            </a:r>
            <a:br>
              <a:rPr lang="en-US" dirty="0"/>
            </a:br>
            <a:r>
              <a:rPr lang="en-US" b="1" dirty="0"/>
              <a:t>B.</a:t>
            </a:r>
            <a:r>
              <a:rPr lang="en-US" dirty="0"/>
              <a:t> ii, iv, v only</a:t>
            </a:r>
            <a:br>
              <a:rPr lang="en-US" dirty="0"/>
            </a:br>
            <a:r>
              <a:rPr lang="en-US" b="1" dirty="0"/>
              <a:t>C.</a:t>
            </a:r>
            <a:r>
              <a:rPr lang="en-US" dirty="0"/>
              <a:t> </a:t>
            </a:r>
            <a:r>
              <a:rPr lang="en-US" dirty="0" err="1"/>
              <a:t>i</a:t>
            </a:r>
            <a:r>
              <a:rPr lang="en-US" dirty="0"/>
              <a:t>, ii, iv only</a:t>
            </a:r>
            <a:br>
              <a:rPr lang="en-US" dirty="0"/>
            </a:br>
            <a:r>
              <a:rPr lang="en-US" b="1" dirty="0"/>
              <a:t>D.</a:t>
            </a:r>
            <a:r>
              <a:rPr lang="en-US" dirty="0"/>
              <a:t> All </a:t>
            </a:r>
            <a:r>
              <a:rPr lang="en-US" dirty="0" err="1"/>
              <a:t>i</a:t>
            </a:r>
            <a:r>
              <a:rPr lang="en-US" dirty="0"/>
              <a:t>, ii, iii, iv and v</a:t>
            </a:r>
          </a:p>
          <a:p>
            <a:endParaRPr lang="en-IN" dirty="0"/>
          </a:p>
        </p:txBody>
      </p:sp>
    </p:spTree>
    <p:extLst>
      <p:ext uri="{BB962C8B-B14F-4D97-AF65-F5344CB8AC3E}">
        <p14:creationId xmlns:p14="http://schemas.microsoft.com/office/powerpoint/2010/main" val="3631237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5033-002F-B3E0-8997-A4263313B0E9}"/>
              </a:ext>
            </a:extLst>
          </p:cNvPr>
          <p:cNvSpPr>
            <a:spLocks noGrp="1"/>
          </p:cNvSpPr>
          <p:nvPr>
            <p:ph type="title"/>
          </p:nvPr>
        </p:nvSpPr>
        <p:spPr/>
        <p:txBody>
          <a:bodyPr/>
          <a:lstStyle/>
          <a:p>
            <a:r>
              <a:rPr lang="en-IN" dirty="0"/>
              <a:t>easy</a:t>
            </a:r>
          </a:p>
        </p:txBody>
      </p:sp>
      <p:graphicFrame>
        <p:nvGraphicFramePr>
          <p:cNvPr id="4" name="Content Placeholder 3">
            <a:extLst>
              <a:ext uri="{FF2B5EF4-FFF2-40B4-BE49-F238E27FC236}">
                <a16:creationId xmlns:a16="http://schemas.microsoft.com/office/drawing/2014/main" id="{64E92FB1-BB6C-33F4-FA85-1DDEF423C20A}"/>
              </a:ext>
            </a:extLst>
          </p:cNvPr>
          <p:cNvGraphicFramePr>
            <a:graphicFrameLocks noGrp="1"/>
          </p:cNvGraphicFramePr>
          <p:nvPr>
            <p:ph idx="1"/>
            <p:extLst>
              <p:ext uri="{D42A27DB-BD31-4B8C-83A1-F6EECF244321}">
                <p14:modId xmlns:p14="http://schemas.microsoft.com/office/powerpoint/2010/main" val="1575161397"/>
              </p:ext>
            </p:extLst>
          </p:nvPr>
        </p:nvGraphicFramePr>
        <p:xfrm>
          <a:off x="905951" y="2823551"/>
          <a:ext cx="9720262" cy="731520"/>
        </p:xfrm>
        <a:graphic>
          <a:graphicData uri="http://schemas.openxmlformats.org/drawingml/2006/table">
            <a:tbl>
              <a:tblPr/>
              <a:tblGrid>
                <a:gridCol w="4860131">
                  <a:extLst>
                    <a:ext uri="{9D8B030D-6E8A-4147-A177-3AD203B41FA5}">
                      <a16:colId xmlns:a16="http://schemas.microsoft.com/office/drawing/2014/main" val="2506833777"/>
                    </a:ext>
                  </a:extLst>
                </a:gridCol>
                <a:gridCol w="4860131">
                  <a:extLst>
                    <a:ext uri="{9D8B030D-6E8A-4147-A177-3AD203B41FA5}">
                      <a16:colId xmlns:a16="http://schemas.microsoft.com/office/drawing/2014/main" val="3102400509"/>
                    </a:ext>
                  </a:extLst>
                </a:gridCol>
              </a:tblGrid>
              <a:tr h="0">
                <a:tc>
                  <a:txBody>
                    <a:bodyPr/>
                    <a:lstStyle/>
                    <a:p>
                      <a:r>
                        <a:rPr lang="en-IN"/>
                        <a:t>Force Type</a:t>
                      </a:r>
                    </a:p>
                  </a:txBody>
                  <a:tcPr anchor="ctr">
                    <a:lnL>
                      <a:noFill/>
                    </a:lnL>
                    <a:lnR>
                      <a:noFill/>
                    </a:lnR>
                    <a:lnT>
                      <a:noFill/>
                    </a:lnT>
                    <a:lnB>
                      <a:noFill/>
                    </a:lnB>
                    <a:noFill/>
                  </a:tcPr>
                </a:tc>
                <a:tc>
                  <a:txBody>
                    <a:bodyPr/>
                    <a:lstStyle/>
                    <a:p>
                      <a:r>
                        <a:rPr lang="en-IN"/>
                        <a:t>Example</a:t>
                      </a:r>
                    </a:p>
                  </a:txBody>
                  <a:tcPr anchor="ctr">
                    <a:lnL>
                      <a:noFill/>
                    </a:lnL>
                    <a:lnR>
                      <a:noFill/>
                    </a:lnR>
                    <a:lnT>
                      <a:noFill/>
                    </a:lnT>
                    <a:lnB>
                      <a:noFill/>
                    </a:lnB>
                    <a:noFill/>
                  </a:tcPr>
                </a:tc>
                <a:extLst>
                  <a:ext uri="{0D108BD9-81ED-4DB2-BD59-A6C34878D82A}">
                    <a16:rowId xmlns:a16="http://schemas.microsoft.com/office/drawing/2014/main" val="3544000573"/>
                  </a:ext>
                </a:extLst>
              </a:tr>
              <a:tr h="0">
                <a:tc>
                  <a:txBody>
                    <a:bodyPr/>
                    <a:lstStyle/>
                    <a:p>
                      <a:r>
                        <a:rPr lang="en-IN" dirty="0"/>
                        <a:t>P → Contact</a:t>
                      </a:r>
                    </a:p>
                  </a:txBody>
                  <a:tcPr anchor="ctr">
                    <a:lnL>
                      <a:noFill/>
                    </a:lnL>
                    <a:lnR>
                      <a:noFill/>
                    </a:lnR>
                    <a:lnT>
                      <a:noFill/>
                    </a:lnT>
                    <a:lnB>
                      <a:noFill/>
                    </a:lnB>
                    <a:noFill/>
                  </a:tcPr>
                </a:tc>
                <a:tc>
                  <a:txBody>
                    <a:bodyPr/>
                    <a:lstStyle/>
                    <a:p>
                      <a:r>
                        <a:rPr lang="en-IN" dirty="0"/>
                        <a:t>Q → Non-contact</a:t>
                      </a:r>
                    </a:p>
                  </a:txBody>
                  <a:tcPr anchor="ctr">
                    <a:lnL>
                      <a:noFill/>
                    </a:lnL>
                    <a:lnR>
                      <a:noFill/>
                    </a:lnR>
                    <a:lnT>
                      <a:noFill/>
                    </a:lnT>
                    <a:lnB>
                      <a:noFill/>
                    </a:lnB>
                    <a:noFill/>
                  </a:tcPr>
                </a:tc>
                <a:extLst>
                  <a:ext uri="{0D108BD9-81ED-4DB2-BD59-A6C34878D82A}">
                    <a16:rowId xmlns:a16="http://schemas.microsoft.com/office/drawing/2014/main" val="2997083621"/>
                  </a:ext>
                </a:extLst>
              </a:tr>
            </a:tbl>
          </a:graphicData>
        </a:graphic>
      </p:graphicFrame>
      <p:sp>
        <p:nvSpPr>
          <p:cNvPr id="5" name="Rectangle 1">
            <a:extLst>
              <a:ext uri="{FF2B5EF4-FFF2-40B4-BE49-F238E27FC236}">
                <a16:creationId xmlns:a16="http://schemas.microsoft.com/office/drawing/2014/main" id="{0C4045A2-C491-81AA-948E-B446C98B182D}"/>
              </a:ext>
            </a:extLst>
          </p:cNvPr>
          <p:cNvSpPr>
            <a:spLocks noChangeArrowheads="1"/>
          </p:cNvSpPr>
          <p:nvPr/>
        </p:nvSpPr>
        <p:spPr bwMode="auto">
          <a:xfrm>
            <a:off x="905951" y="2194878"/>
            <a:ext cx="56733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Q2.</a:t>
            </a:r>
            <a:r>
              <a:rPr kumimoji="0" lang="en-US" altLang="en-US" sz="1800" b="0" i="0" u="none" strike="noStrike" cap="none" normalizeH="0" baseline="0" dirty="0">
                <a:ln>
                  <a:noFill/>
                </a:ln>
                <a:solidFill>
                  <a:schemeClr val="tx1"/>
                </a:solidFill>
                <a:effectLst/>
                <a:latin typeface="Arial" panose="020B0604020202020204" pitchFamily="34" charset="0"/>
              </a:rPr>
              <a:t> Which of the following pairs is correctly matched?</a:t>
            </a:r>
          </a:p>
        </p:txBody>
      </p:sp>
      <p:sp>
        <p:nvSpPr>
          <p:cNvPr id="7" name="TextBox 6">
            <a:extLst>
              <a:ext uri="{FF2B5EF4-FFF2-40B4-BE49-F238E27FC236}">
                <a16:creationId xmlns:a16="http://schemas.microsoft.com/office/drawing/2014/main" id="{73E63D2D-AB8D-A787-19AB-113025909955}"/>
              </a:ext>
            </a:extLst>
          </p:cNvPr>
          <p:cNvSpPr txBox="1"/>
          <p:nvPr/>
        </p:nvSpPr>
        <p:spPr>
          <a:xfrm>
            <a:off x="905951" y="4173401"/>
            <a:ext cx="609600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Options: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A.</a:t>
            </a:r>
            <a:r>
              <a:rPr kumimoji="0" lang="en-US" altLang="en-US" sz="1800" b="0" i="0" u="none" strike="noStrike" cap="none" normalizeH="0" baseline="0" dirty="0">
                <a:ln>
                  <a:noFill/>
                </a:ln>
                <a:solidFill>
                  <a:schemeClr val="tx1"/>
                </a:solidFill>
                <a:effectLst/>
                <a:latin typeface="Arial" panose="020B0604020202020204" pitchFamily="34" charset="0"/>
              </a:rPr>
              <a:t> P – Friction, Q – Gravitational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B.</a:t>
            </a:r>
            <a:r>
              <a:rPr kumimoji="0" lang="en-US" altLang="en-US" sz="1800" b="0" i="0" u="none" strike="noStrike" cap="none" normalizeH="0" baseline="0" dirty="0">
                <a:ln>
                  <a:noFill/>
                </a:ln>
                <a:solidFill>
                  <a:schemeClr val="tx1"/>
                </a:solidFill>
                <a:effectLst/>
                <a:latin typeface="Arial" panose="020B0604020202020204" pitchFamily="34" charset="0"/>
              </a:rPr>
              <a:t> P – Magnetic, Q – Electrostatic</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C.</a:t>
            </a:r>
            <a:r>
              <a:rPr kumimoji="0" lang="en-US" altLang="en-US" sz="1800" b="0" i="0" u="none" strike="noStrike" cap="none" normalizeH="0" baseline="0" dirty="0">
                <a:ln>
                  <a:noFill/>
                </a:ln>
                <a:solidFill>
                  <a:schemeClr val="tx1"/>
                </a:solidFill>
                <a:effectLst/>
                <a:latin typeface="Arial" panose="020B0604020202020204" pitchFamily="34" charset="0"/>
              </a:rPr>
              <a:t> P – Muscular, Q – Friction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D.</a:t>
            </a:r>
            <a:r>
              <a:rPr kumimoji="0" lang="en-US" altLang="en-US" sz="1800" b="0" i="0" u="none" strike="noStrike" cap="none" normalizeH="0" baseline="0" dirty="0">
                <a:ln>
                  <a:noFill/>
                </a:ln>
                <a:solidFill>
                  <a:schemeClr val="tx1"/>
                </a:solidFill>
                <a:effectLst/>
                <a:latin typeface="Arial" panose="020B0604020202020204" pitchFamily="34" charset="0"/>
              </a:rPr>
              <a:t> P – Magnetic, Q – Gravitational</a:t>
            </a:r>
          </a:p>
        </p:txBody>
      </p:sp>
    </p:spTree>
    <p:extLst>
      <p:ext uri="{BB962C8B-B14F-4D97-AF65-F5344CB8AC3E}">
        <p14:creationId xmlns:p14="http://schemas.microsoft.com/office/powerpoint/2010/main" val="2096032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B2538-2D00-DD71-434B-E4D9DE683C43}"/>
              </a:ext>
            </a:extLst>
          </p:cNvPr>
          <p:cNvSpPr>
            <a:spLocks noGrp="1"/>
          </p:cNvSpPr>
          <p:nvPr>
            <p:ph type="title"/>
          </p:nvPr>
        </p:nvSpPr>
        <p:spPr/>
        <p:txBody>
          <a:bodyPr/>
          <a:lstStyle/>
          <a:p>
            <a:r>
              <a:rPr lang="en-IN" dirty="0"/>
              <a:t>medium</a:t>
            </a:r>
          </a:p>
        </p:txBody>
      </p:sp>
      <p:sp>
        <p:nvSpPr>
          <p:cNvPr id="3" name="Content Placeholder 2">
            <a:extLst>
              <a:ext uri="{FF2B5EF4-FFF2-40B4-BE49-F238E27FC236}">
                <a16:creationId xmlns:a16="http://schemas.microsoft.com/office/drawing/2014/main" id="{DC3A713A-EFF1-7BFD-F82E-111A6FF261B6}"/>
              </a:ext>
            </a:extLst>
          </p:cNvPr>
          <p:cNvSpPr>
            <a:spLocks noGrp="1"/>
          </p:cNvSpPr>
          <p:nvPr>
            <p:ph idx="1"/>
          </p:nvPr>
        </p:nvSpPr>
        <p:spPr/>
        <p:txBody>
          <a:bodyPr/>
          <a:lstStyle/>
          <a:p>
            <a:r>
              <a:rPr lang="en-US" b="1" dirty="0"/>
              <a:t>Q3.</a:t>
            </a:r>
            <a:r>
              <a:rPr lang="en-US" dirty="0"/>
              <a:t> A 10 N force is applied to the right and a 4 N force is applied to the left on the same object. The resultant force is:</a:t>
            </a:r>
            <a:br>
              <a:rPr lang="en-US" dirty="0"/>
            </a:br>
            <a:r>
              <a:rPr lang="en-US" b="1" dirty="0"/>
              <a:t>A.</a:t>
            </a:r>
            <a:r>
              <a:rPr lang="en-US" dirty="0"/>
              <a:t> 14 N right</a:t>
            </a:r>
            <a:br>
              <a:rPr lang="en-US" dirty="0"/>
            </a:br>
            <a:r>
              <a:rPr lang="en-US" b="1" dirty="0"/>
              <a:t>B.</a:t>
            </a:r>
            <a:r>
              <a:rPr lang="en-US" dirty="0"/>
              <a:t> 6 N right</a:t>
            </a:r>
            <a:br>
              <a:rPr lang="en-US" dirty="0"/>
            </a:br>
            <a:r>
              <a:rPr lang="en-US" b="1" dirty="0"/>
              <a:t>C.</a:t>
            </a:r>
            <a:r>
              <a:rPr lang="en-US" dirty="0"/>
              <a:t> 6 N left</a:t>
            </a:r>
            <a:br>
              <a:rPr lang="en-US" dirty="0"/>
            </a:br>
            <a:r>
              <a:rPr lang="en-US" b="1" dirty="0"/>
              <a:t>D.</a:t>
            </a:r>
            <a:r>
              <a:rPr lang="en-US" dirty="0"/>
              <a:t> 14 N left</a:t>
            </a:r>
            <a:endParaRPr lang="en-IN" dirty="0"/>
          </a:p>
        </p:txBody>
      </p:sp>
    </p:spTree>
    <p:extLst>
      <p:ext uri="{BB962C8B-B14F-4D97-AF65-F5344CB8AC3E}">
        <p14:creationId xmlns:p14="http://schemas.microsoft.com/office/powerpoint/2010/main" val="2359367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E52E6-43FE-5143-8CD8-AA1E11D45E02}"/>
              </a:ext>
            </a:extLst>
          </p:cNvPr>
          <p:cNvSpPr>
            <a:spLocks noGrp="1"/>
          </p:cNvSpPr>
          <p:nvPr>
            <p:ph type="title"/>
          </p:nvPr>
        </p:nvSpPr>
        <p:spPr/>
        <p:txBody>
          <a:bodyPr/>
          <a:lstStyle/>
          <a:p>
            <a:r>
              <a:rPr lang="en-IN" dirty="0"/>
              <a:t>medium</a:t>
            </a:r>
          </a:p>
        </p:txBody>
      </p:sp>
      <p:sp>
        <p:nvSpPr>
          <p:cNvPr id="3" name="Content Placeholder 2">
            <a:extLst>
              <a:ext uri="{FF2B5EF4-FFF2-40B4-BE49-F238E27FC236}">
                <a16:creationId xmlns:a16="http://schemas.microsoft.com/office/drawing/2014/main" id="{01F61B35-1924-B3E7-4AF6-DF3916D5654B}"/>
              </a:ext>
            </a:extLst>
          </p:cNvPr>
          <p:cNvSpPr>
            <a:spLocks noGrp="1"/>
          </p:cNvSpPr>
          <p:nvPr>
            <p:ph idx="1"/>
          </p:nvPr>
        </p:nvSpPr>
        <p:spPr/>
        <p:txBody>
          <a:bodyPr/>
          <a:lstStyle/>
          <a:p>
            <a:pPr>
              <a:buNone/>
            </a:pPr>
            <a:r>
              <a:rPr lang="en-US" b="1" dirty="0"/>
              <a:t>Q4.</a:t>
            </a:r>
            <a:r>
              <a:rPr lang="en-US" dirty="0"/>
              <a:t> Which combination of statements is correct regarding friction?</a:t>
            </a:r>
            <a:br>
              <a:rPr lang="en-US" dirty="0"/>
            </a:br>
            <a:r>
              <a:rPr lang="en-US" dirty="0" err="1"/>
              <a:t>i</a:t>
            </a:r>
            <a:r>
              <a:rPr lang="en-US" dirty="0"/>
              <a:t>. It is a non-contact force.</a:t>
            </a:r>
            <a:br>
              <a:rPr lang="en-US" dirty="0"/>
            </a:br>
            <a:r>
              <a:rPr lang="en-US" dirty="0"/>
              <a:t>ii. It always opposes motion.</a:t>
            </a:r>
            <a:br>
              <a:rPr lang="en-US" dirty="0"/>
            </a:br>
            <a:r>
              <a:rPr lang="en-US" dirty="0"/>
              <a:t>iii. It helps us walk.</a:t>
            </a:r>
            <a:br>
              <a:rPr lang="en-US" dirty="0"/>
            </a:br>
            <a:r>
              <a:rPr lang="en-US" dirty="0"/>
              <a:t>iv. Friction can cause heating.</a:t>
            </a:r>
            <a:br>
              <a:rPr lang="en-US" dirty="0"/>
            </a:br>
            <a:r>
              <a:rPr lang="en-US" dirty="0"/>
              <a:t>v. It cannot be reduced in machines.</a:t>
            </a:r>
          </a:p>
          <a:p>
            <a:r>
              <a:rPr lang="en-US" b="1" dirty="0"/>
              <a:t>A.</a:t>
            </a:r>
            <a:r>
              <a:rPr lang="en-US" dirty="0"/>
              <a:t> ii, iii, iv only</a:t>
            </a:r>
            <a:br>
              <a:rPr lang="en-US" dirty="0"/>
            </a:br>
            <a:r>
              <a:rPr lang="en-US" b="1" dirty="0"/>
              <a:t>B.</a:t>
            </a:r>
            <a:r>
              <a:rPr lang="en-US" dirty="0"/>
              <a:t> </a:t>
            </a:r>
            <a:r>
              <a:rPr lang="en-US" dirty="0" err="1"/>
              <a:t>i</a:t>
            </a:r>
            <a:r>
              <a:rPr lang="en-US" dirty="0"/>
              <a:t>, ii, iii only</a:t>
            </a:r>
            <a:br>
              <a:rPr lang="en-US" dirty="0"/>
            </a:br>
            <a:r>
              <a:rPr lang="en-US" b="1" dirty="0"/>
              <a:t>C.</a:t>
            </a:r>
            <a:r>
              <a:rPr lang="en-US" dirty="0"/>
              <a:t> ii, iv, v only</a:t>
            </a:r>
            <a:br>
              <a:rPr lang="en-US" dirty="0"/>
            </a:br>
            <a:r>
              <a:rPr lang="en-US" b="1" dirty="0"/>
              <a:t>D.</a:t>
            </a:r>
            <a:r>
              <a:rPr lang="en-US" dirty="0"/>
              <a:t> All </a:t>
            </a:r>
            <a:r>
              <a:rPr lang="en-US" dirty="0" err="1"/>
              <a:t>i</a:t>
            </a:r>
            <a:r>
              <a:rPr lang="en-US" dirty="0"/>
              <a:t>, ii, iii, iv and v</a:t>
            </a:r>
          </a:p>
          <a:p>
            <a:endParaRPr lang="en-IN" dirty="0"/>
          </a:p>
        </p:txBody>
      </p:sp>
    </p:spTree>
    <p:extLst>
      <p:ext uri="{BB962C8B-B14F-4D97-AF65-F5344CB8AC3E}">
        <p14:creationId xmlns:p14="http://schemas.microsoft.com/office/powerpoint/2010/main" val="1650331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2463-793C-0E8C-9B05-4A8E11AFBBBA}"/>
              </a:ext>
            </a:extLst>
          </p:cNvPr>
          <p:cNvSpPr>
            <a:spLocks noGrp="1"/>
          </p:cNvSpPr>
          <p:nvPr>
            <p:ph type="title"/>
          </p:nvPr>
        </p:nvSpPr>
        <p:spPr/>
        <p:txBody>
          <a:bodyPr/>
          <a:lstStyle/>
          <a:p>
            <a:r>
              <a:rPr lang="en-IN" dirty="0"/>
              <a:t>tough</a:t>
            </a:r>
          </a:p>
        </p:txBody>
      </p:sp>
      <p:sp>
        <p:nvSpPr>
          <p:cNvPr id="3" name="Content Placeholder 2">
            <a:extLst>
              <a:ext uri="{FF2B5EF4-FFF2-40B4-BE49-F238E27FC236}">
                <a16:creationId xmlns:a16="http://schemas.microsoft.com/office/drawing/2014/main" id="{3D6C3404-900C-4D9A-7201-1C3ABB0D399C}"/>
              </a:ext>
            </a:extLst>
          </p:cNvPr>
          <p:cNvSpPr>
            <a:spLocks noGrp="1"/>
          </p:cNvSpPr>
          <p:nvPr>
            <p:ph idx="1"/>
          </p:nvPr>
        </p:nvSpPr>
        <p:spPr/>
        <p:txBody>
          <a:bodyPr/>
          <a:lstStyle/>
          <a:p>
            <a:pPr>
              <a:buNone/>
            </a:pPr>
            <a:r>
              <a:rPr lang="en-US" b="1" dirty="0"/>
              <a:t>Q5.</a:t>
            </a:r>
            <a:r>
              <a:rPr lang="en-US" dirty="0"/>
              <a:t> A body of mass 4 kg is moving with acceleration 2.5 m/s². What is the applied force?</a:t>
            </a:r>
          </a:p>
          <a:p>
            <a:r>
              <a:rPr lang="en-US" b="1" dirty="0"/>
              <a:t>A.</a:t>
            </a:r>
            <a:r>
              <a:rPr lang="en-US" dirty="0"/>
              <a:t> 10 N</a:t>
            </a:r>
            <a:br>
              <a:rPr lang="en-US" dirty="0"/>
            </a:br>
            <a:r>
              <a:rPr lang="en-US" b="1" dirty="0"/>
              <a:t>B.</a:t>
            </a:r>
            <a:r>
              <a:rPr lang="en-US" dirty="0"/>
              <a:t> 6.5 N</a:t>
            </a:r>
            <a:br>
              <a:rPr lang="en-US" dirty="0"/>
            </a:br>
            <a:r>
              <a:rPr lang="en-US" b="1" dirty="0"/>
              <a:t>C.</a:t>
            </a:r>
            <a:r>
              <a:rPr lang="en-US" dirty="0"/>
              <a:t> 1.6 N</a:t>
            </a:r>
            <a:br>
              <a:rPr lang="en-US" dirty="0"/>
            </a:br>
            <a:r>
              <a:rPr lang="en-US" b="1" dirty="0"/>
              <a:t>D.</a:t>
            </a:r>
            <a:r>
              <a:rPr lang="en-US" dirty="0"/>
              <a:t> 12.5 N</a:t>
            </a:r>
          </a:p>
          <a:p>
            <a:endParaRPr lang="en-IN" dirty="0"/>
          </a:p>
        </p:txBody>
      </p:sp>
    </p:spTree>
    <p:extLst>
      <p:ext uri="{BB962C8B-B14F-4D97-AF65-F5344CB8AC3E}">
        <p14:creationId xmlns:p14="http://schemas.microsoft.com/office/powerpoint/2010/main" val="938160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C976-AFB0-3CFD-C33B-4613F8668049}"/>
              </a:ext>
            </a:extLst>
          </p:cNvPr>
          <p:cNvSpPr>
            <a:spLocks noGrp="1"/>
          </p:cNvSpPr>
          <p:nvPr>
            <p:ph type="title"/>
          </p:nvPr>
        </p:nvSpPr>
        <p:spPr/>
        <p:txBody>
          <a:bodyPr/>
          <a:lstStyle/>
          <a:p>
            <a:r>
              <a:rPr lang="en-IN" dirty="0"/>
              <a:t>tough</a:t>
            </a:r>
          </a:p>
        </p:txBody>
      </p:sp>
      <p:graphicFrame>
        <p:nvGraphicFramePr>
          <p:cNvPr id="4" name="Content Placeholder 3">
            <a:extLst>
              <a:ext uri="{FF2B5EF4-FFF2-40B4-BE49-F238E27FC236}">
                <a16:creationId xmlns:a16="http://schemas.microsoft.com/office/drawing/2014/main" id="{F83CA0BD-21B8-E54B-69FE-33958E62E59D}"/>
              </a:ext>
            </a:extLst>
          </p:cNvPr>
          <p:cNvGraphicFramePr>
            <a:graphicFrameLocks noGrp="1"/>
          </p:cNvGraphicFramePr>
          <p:nvPr>
            <p:ph idx="1"/>
            <p:extLst>
              <p:ext uri="{D42A27DB-BD31-4B8C-83A1-F6EECF244321}">
                <p14:modId xmlns:p14="http://schemas.microsoft.com/office/powerpoint/2010/main" val="2884789782"/>
              </p:ext>
            </p:extLst>
          </p:nvPr>
        </p:nvGraphicFramePr>
        <p:xfrm>
          <a:off x="796413" y="2831294"/>
          <a:ext cx="9720261" cy="731520"/>
        </p:xfrm>
        <a:graphic>
          <a:graphicData uri="http://schemas.openxmlformats.org/drawingml/2006/table">
            <a:tbl>
              <a:tblPr/>
              <a:tblGrid>
                <a:gridCol w="3240087">
                  <a:extLst>
                    <a:ext uri="{9D8B030D-6E8A-4147-A177-3AD203B41FA5}">
                      <a16:colId xmlns:a16="http://schemas.microsoft.com/office/drawing/2014/main" val="3997998918"/>
                    </a:ext>
                  </a:extLst>
                </a:gridCol>
                <a:gridCol w="3240087">
                  <a:extLst>
                    <a:ext uri="{9D8B030D-6E8A-4147-A177-3AD203B41FA5}">
                      <a16:colId xmlns:a16="http://schemas.microsoft.com/office/drawing/2014/main" val="1741588630"/>
                    </a:ext>
                  </a:extLst>
                </a:gridCol>
                <a:gridCol w="3240087">
                  <a:extLst>
                    <a:ext uri="{9D8B030D-6E8A-4147-A177-3AD203B41FA5}">
                      <a16:colId xmlns:a16="http://schemas.microsoft.com/office/drawing/2014/main" val="1976270204"/>
                    </a:ext>
                  </a:extLst>
                </a:gridCol>
              </a:tblGrid>
              <a:tr h="0">
                <a:tc>
                  <a:txBody>
                    <a:bodyPr/>
                    <a:lstStyle/>
                    <a:p>
                      <a:r>
                        <a:rPr lang="en-IN"/>
                        <a:t>Quantity</a:t>
                      </a:r>
                    </a:p>
                  </a:txBody>
                  <a:tcPr anchor="ctr">
                    <a:lnL>
                      <a:noFill/>
                    </a:lnL>
                    <a:lnR>
                      <a:noFill/>
                    </a:lnR>
                    <a:lnT>
                      <a:noFill/>
                    </a:lnT>
                    <a:lnB>
                      <a:noFill/>
                    </a:lnB>
                    <a:noFill/>
                  </a:tcPr>
                </a:tc>
                <a:tc>
                  <a:txBody>
                    <a:bodyPr/>
                    <a:lstStyle/>
                    <a:p>
                      <a:r>
                        <a:rPr lang="en-IN"/>
                        <a:t>Scalar or Vector</a:t>
                      </a:r>
                    </a:p>
                  </a:txBody>
                  <a:tcPr anchor="ctr">
                    <a:lnL>
                      <a:noFill/>
                    </a:lnL>
                    <a:lnR>
                      <a:noFill/>
                    </a:lnR>
                    <a:lnT>
                      <a:noFill/>
                    </a:lnT>
                    <a:lnB>
                      <a:noFill/>
                    </a:lnB>
                    <a:noFill/>
                  </a:tcPr>
                </a:tc>
                <a:tc>
                  <a:txBody>
                    <a:bodyPr/>
                    <a:lstStyle/>
                    <a:p>
                      <a:r>
                        <a:rPr lang="en-IN"/>
                        <a:t>SI Unit</a:t>
                      </a:r>
                    </a:p>
                  </a:txBody>
                  <a:tcPr anchor="ctr">
                    <a:lnL>
                      <a:noFill/>
                    </a:lnL>
                    <a:lnR>
                      <a:noFill/>
                    </a:lnR>
                    <a:lnT>
                      <a:noFill/>
                    </a:lnT>
                    <a:lnB>
                      <a:noFill/>
                    </a:lnB>
                    <a:noFill/>
                  </a:tcPr>
                </a:tc>
                <a:extLst>
                  <a:ext uri="{0D108BD9-81ED-4DB2-BD59-A6C34878D82A}">
                    <a16:rowId xmlns:a16="http://schemas.microsoft.com/office/drawing/2014/main" val="1946673205"/>
                  </a:ext>
                </a:extLst>
              </a:tr>
              <a:tr h="0">
                <a:tc>
                  <a:txBody>
                    <a:bodyPr/>
                    <a:lstStyle/>
                    <a:p>
                      <a:r>
                        <a:rPr lang="en-IN" dirty="0"/>
                        <a:t>P → Force</a:t>
                      </a:r>
                    </a:p>
                  </a:txBody>
                  <a:tcPr anchor="ctr">
                    <a:lnL>
                      <a:noFill/>
                    </a:lnL>
                    <a:lnR>
                      <a:noFill/>
                    </a:lnR>
                    <a:lnT>
                      <a:noFill/>
                    </a:lnT>
                    <a:lnB>
                      <a:noFill/>
                    </a:lnB>
                    <a:noFill/>
                  </a:tcPr>
                </a:tc>
                <a:tc>
                  <a:txBody>
                    <a:bodyPr/>
                    <a:lstStyle/>
                    <a:p>
                      <a:r>
                        <a:rPr lang="en-IN"/>
                        <a:t>Q → Acceleration</a:t>
                      </a:r>
                    </a:p>
                  </a:txBody>
                  <a:tcPr anchor="ctr">
                    <a:lnL>
                      <a:noFill/>
                    </a:lnL>
                    <a:lnR>
                      <a:noFill/>
                    </a:lnR>
                    <a:lnT>
                      <a:noFill/>
                    </a:lnT>
                    <a:lnB>
                      <a:noFill/>
                    </a:lnB>
                    <a:noFill/>
                  </a:tcPr>
                </a:tc>
                <a:tc>
                  <a:txBody>
                    <a:bodyPr/>
                    <a:lstStyle/>
                    <a:p>
                      <a:r>
                        <a:rPr lang="en-IN" dirty="0"/>
                        <a:t>R → Newton</a:t>
                      </a:r>
                    </a:p>
                  </a:txBody>
                  <a:tcPr anchor="ctr">
                    <a:lnL>
                      <a:noFill/>
                    </a:lnL>
                    <a:lnR>
                      <a:noFill/>
                    </a:lnR>
                    <a:lnT>
                      <a:noFill/>
                    </a:lnT>
                    <a:lnB>
                      <a:noFill/>
                    </a:lnB>
                    <a:noFill/>
                  </a:tcPr>
                </a:tc>
                <a:extLst>
                  <a:ext uri="{0D108BD9-81ED-4DB2-BD59-A6C34878D82A}">
                    <a16:rowId xmlns:a16="http://schemas.microsoft.com/office/drawing/2014/main" val="2674319208"/>
                  </a:ext>
                </a:extLst>
              </a:tr>
            </a:tbl>
          </a:graphicData>
        </a:graphic>
      </p:graphicFrame>
      <p:sp>
        <p:nvSpPr>
          <p:cNvPr id="5" name="Rectangle 1">
            <a:extLst>
              <a:ext uri="{FF2B5EF4-FFF2-40B4-BE49-F238E27FC236}">
                <a16:creationId xmlns:a16="http://schemas.microsoft.com/office/drawing/2014/main" id="{73338C6C-463A-D1E4-5F69-6AA5280C12B3}"/>
              </a:ext>
            </a:extLst>
          </p:cNvPr>
          <p:cNvSpPr>
            <a:spLocks noChangeArrowheads="1"/>
          </p:cNvSpPr>
          <p:nvPr/>
        </p:nvSpPr>
        <p:spPr bwMode="auto">
          <a:xfrm>
            <a:off x="796413" y="2176586"/>
            <a:ext cx="54168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Q6.</a:t>
            </a:r>
            <a:r>
              <a:rPr kumimoji="0" lang="en-US" altLang="en-US" sz="1800" b="0" i="0" u="none" strike="noStrike" cap="none" normalizeH="0" baseline="0" dirty="0">
                <a:ln>
                  <a:noFill/>
                </a:ln>
                <a:solidFill>
                  <a:schemeClr val="tx1"/>
                </a:solidFill>
                <a:effectLst/>
                <a:latin typeface="Arial" panose="020B0604020202020204" pitchFamily="34" charset="0"/>
              </a:rPr>
              <a:t> Which of the following combinations is correct?</a:t>
            </a:r>
          </a:p>
        </p:txBody>
      </p:sp>
      <p:sp>
        <p:nvSpPr>
          <p:cNvPr id="7" name="TextBox 6">
            <a:extLst>
              <a:ext uri="{FF2B5EF4-FFF2-40B4-BE49-F238E27FC236}">
                <a16:creationId xmlns:a16="http://schemas.microsoft.com/office/drawing/2014/main" id="{A8360FCE-5AF3-6026-D67F-25BF4E1D8D4C}"/>
              </a:ext>
            </a:extLst>
          </p:cNvPr>
          <p:cNvSpPr txBox="1"/>
          <p:nvPr/>
        </p:nvSpPr>
        <p:spPr>
          <a:xfrm>
            <a:off x="796413" y="4050494"/>
            <a:ext cx="612058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a:t>
            </a:r>
            <a:r>
              <a:rPr kumimoji="0" lang="en-US" altLang="en-US" sz="1800" b="0" i="0" u="none" strike="noStrike" cap="none" normalizeH="0" baseline="0" dirty="0">
                <a:ln>
                  <a:noFill/>
                </a:ln>
                <a:solidFill>
                  <a:schemeClr val="tx1"/>
                </a:solidFill>
                <a:effectLst/>
                <a:latin typeface="Arial" panose="020B0604020202020204" pitchFamily="34" charset="0"/>
              </a:rPr>
              <a:t> P – Scalar, Q – Scalar, R – Dyne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B.</a:t>
            </a:r>
            <a:r>
              <a:rPr kumimoji="0" lang="en-US" altLang="en-US" sz="1800" b="0" i="0" u="none" strike="noStrike" cap="none" normalizeH="0" baseline="0" dirty="0">
                <a:ln>
                  <a:noFill/>
                </a:ln>
                <a:solidFill>
                  <a:schemeClr val="tx1"/>
                </a:solidFill>
                <a:effectLst/>
                <a:latin typeface="Arial" panose="020B0604020202020204" pitchFamily="34" charset="0"/>
              </a:rPr>
              <a:t> P – Vector, Q – Vector, R – Newton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C.</a:t>
            </a:r>
            <a:r>
              <a:rPr kumimoji="0" lang="en-US" altLang="en-US" sz="1800" b="0" i="0" u="none" strike="noStrike" cap="none" normalizeH="0" baseline="0" dirty="0">
                <a:ln>
                  <a:noFill/>
                </a:ln>
                <a:solidFill>
                  <a:schemeClr val="tx1"/>
                </a:solidFill>
                <a:effectLst/>
                <a:latin typeface="Arial" panose="020B0604020202020204" pitchFamily="34" charset="0"/>
              </a:rPr>
              <a:t> P – Scalar, Q – Vector, R – Dyne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D.</a:t>
            </a:r>
            <a:r>
              <a:rPr kumimoji="0" lang="en-US" altLang="en-US" sz="1800" b="0" i="0" u="none" strike="noStrike" cap="none" normalizeH="0" baseline="0" dirty="0">
                <a:ln>
                  <a:noFill/>
                </a:ln>
                <a:solidFill>
                  <a:schemeClr val="tx1"/>
                </a:solidFill>
                <a:effectLst/>
                <a:latin typeface="Arial" panose="020B0604020202020204" pitchFamily="34" charset="0"/>
              </a:rPr>
              <a:t> P – Vector, Q – Scalar, R – Newton</a:t>
            </a:r>
          </a:p>
        </p:txBody>
      </p:sp>
    </p:spTree>
    <p:extLst>
      <p:ext uri="{BB962C8B-B14F-4D97-AF65-F5344CB8AC3E}">
        <p14:creationId xmlns:p14="http://schemas.microsoft.com/office/powerpoint/2010/main" val="38567066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1C7B-2DBF-0CC0-9357-90CAED580CF9}"/>
              </a:ext>
            </a:extLst>
          </p:cNvPr>
          <p:cNvSpPr>
            <a:spLocks noGrp="1"/>
          </p:cNvSpPr>
          <p:nvPr>
            <p:ph type="title"/>
          </p:nvPr>
        </p:nvSpPr>
        <p:spPr/>
        <p:txBody>
          <a:bodyPr/>
          <a:lstStyle/>
          <a:p>
            <a:r>
              <a:rPr lang="en-IN" dirty="0"/>
              <a:t>hots</a:t>
            </a:r>
          </a:p>
        </p:txBody>
      </p:sp>
      <p:sp>
        <p:nvSpPr>
          <p:cNvPr id="3" name="Content Placeholder 2">
            <a:extLst>
              <a:ext uri="{FF2B5EF4-FFF2-40B4-BE49-F238E27FC236}">
                <a16:creationId xmlns:a16="http://schemas.microsoft.com/office/drawing/2014/main" id="{8D2D4FBB-5624-5881-A2C8-974655E5A0FE}"/>
              </a:ext>
            </a:extLst>
          </p:cNvPr>
          <p:cNvSpPr>
            <a:spLocks noGrp="1"/>
          </p:cNvSpPr>
          <p:nvPr>
            <p:ph idx="1"/>
          </p:nvPr>
        </p:nvSpPr>
        <p:spPr/>
        <p:txBody>
          <a:bodyPr/>
          <a:lstStyle/>
          <a:p>
            <a:pPr>
              <a:buNone/>
            </a:pPr>
            <a:r>
              <a:rPr lang="en-US" b="1" dirty="0"/>
              <a:t>Q7.</a:t>
            </a:r>
            <a:r>
              <a:rPr lang="en-US" dirty="0"/>
              <a:t> Two forces act on a body at right angles: 6 N north and 8 N east. What is the magnitude of the resultant force?</a:t>
            </a:r>
          </a:p>
          <a:p>
            <a:r>
              <a:rPr lang="en-US" b="1" dirty="0"/>
              <a:t>A.</a:t>
            </a:r>
            <a:r>
              <a:rPr lang="en-US" dirty="0"/>
              <a:t> 10 N</a:t>
            </a:r>
            <a:br>
              <a:rPr lang="en-US" dirty="0"/>
            </a:br>
            <a:r>
              <a:rPr lang="en-US" b="1" dirty="0"/>
              <a:t>B.</a:t>
            </a:r>
            <a:r>
              <a:rPr lang="en-US" dirty="0"/>
              <a:t> 14 N</a:t>
            </a:r>
            <a:br>
              <a:rPr lang="en-US" dirty="0"/>
            </a:br>
            <a:r>
              <a:rPr lang="en-US" b="1" dirty="0"/>
              <a:t>C.</a:t>
            </a:r>
            <a:r>
              <a:rPr lang="en-US" dirty="0"/>
              <a:t> 2 N</a:t>
            </a:r>
            <a:br>
              <a:rPr lang="en-US" dirty="0"/>
            </a:br>
            <a:r>
              <a:rPr lang="en-US" b="1" dirty="0"/>
              <a:t>D.</a:t>
            </a:r>
            <a:r>
              <a:rPr lang="en-US" dirty="0"/>
              <a:t> 48 N</a:t>
            </a:r>
          </a:p>
          <a:p>
            <a:endParaRPr lang="en-IN" dirty="0"/>
          </a:p>
        </p:txBody>
      </p:sp>
    </p:spTree>
    <p:extLst>
      <p:ext uri="{BB962C8B-B14F-4D97-AF65-F5344CB8AC3E}">
        <p14:creationId xmlns:p14="http://schemas.microsoft.com/office/powerpoint/2010/main" val="9059983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3BDD8-BEA6-6FE6-6EB5-6AAE02C25CD9}"/>
              </a:ext>
            </a:extLst>
          </p:cNvPr>
          <p:cNvSpPr>
            <a:spLocks noGrp="1"/>
          </p:cNvSpPr>
          <p:nvPr>
            <p:ph type="title"/>
          </p:nvPr>
        </p:nvSpPr>
        <p:spPr/>
        <p:txBody>
          <a:bodyPr/>
          <a:lstStyle/>
          <a:p>
            <a:r>
              <a:rPr lang="en-IN" dirty="0"/>
              <a:t>hots</a:t>
            </a:r>
          </a:p>
        </p:txBody>
      </p:sp>
      <p:sp>
        <p:nvSpPr>
          <p:cNvPr id="3" name="Content Placeholder 2">
            <a:extLst>
              <a:ext uri="{FF2B5EF4-FFF2-40B4-BE49-F238E27FC236}">
                <a16:creationId xmlns:a16="http://schemas.microsoft.com/office/drawing/2014/main" id="{02E25F66-DF99-E4FC-3A8E-311C4C3DC017}"/>
              </a:ext>
            </a:extLst>
          </p:cNvPr>
          <p:cNvSpPr>
            <a:spLocks noGrp="1"/>
          </p:cNvSpPr>
          <p:nvPr>
            <p:ph idx="1"/>
          </p:nvPr>
        </p:nvSpPr>
        <p:spPr/>
        <p:txBody>
          <a:bodyPr/>
          <a:lstStyle/>
          <a:p>
            <a:pPr>
              <a:buNone/>
            </a:pPr>
            <a:r>
              <a:rPr lang="en-US" b="1" dirty="0"/>
              <a:t>Q8.</a:t>
            </a:r>
            <a:r>
              <a:rPr lang="en-US" dirty="0"/>
              <a:t> Which combination of statements is correct for vector addition of force?</a:t>
            </a:r>
          </a:p>
          <a:p>
            <a:pPr>
              <a:buNone/>
            </a:pPr>
            <a:r>
              <a:rPr lang="en-US" dirty="0" err="1"/>
              <a:t>i</a:t>
            </a:r>
            <a:r>
              <a:rPr lang="en-US" dirty="0"/>
              <a:t>. Force is a vector quantity.</a:t>
            </a:r>
            <a:br>
              <a:rPr lang="en-US" dirty="0"/>
            </a:br>
            <a:r>
              <a:rPr lang="en-US" dirty="0"/>
              <a:t>ii. Direction is not required in vector addition.</a:t>
            </a:r>
            <a:br>
              <a:rPr lang="en-US" dirty="0"/>
            </a:br>
            <a:r>
              <a:rPr lang="en-US" dirty="0"/>
              <a:t>iii. Two forces in opposite directions can cancel each other.</a:t>
            </a:r>
            <a:br>
              <a:rPr lang="en-US" dirty="0"/>
            </a:br>
            <a:r>
              <a:rPr lang="en-US" dirty="0"/>
              <a:t>iv. Net force is a scalar sum of all forces.</a:t>
            </a:r>
            <a:br>
              <a:rPr lang="en-US" dirty="0"/>
            </a:br>
            <a:r>
              <a:rPr lang="en-US" dirty="0"/>
              <a:t>v. When two equal forces act at 90°, resultant is √2 times one of them.</a:t>
            </a:r>
          </a:p>
          <a:p>
            <a:r>
              <a:rPr lang="en-US" b="1" dirty="0"/>
              <a:t>A.</a:t>
            </a:r>
            <a:r>
              <a:rPr lang="en-US" dirty="0"/>
              <a:t> </a:t>
            </a:r>
            <a:r>
              <a:rPr lang="en-US" dirty="0" err="1"/>
              <a:t>i</a:t>
            </a:r>
            <a:r>
              <a:rPr lang="en-US" dirty="0"/>
              <a:t>, iii, v only</a:t>
            </a:r>
            <a:br>
              <a:rPr lang="en-US" dirty="0"/>
            </a:br>
            <a:r>
              <a:rPr lang="en-US" b="1" dirty="0"/>
              <a:t>B.</a:t>
            </a:r>
            <a:r>
              <a:rPr lang="en-US" dirty="0"/>
              <a:t> ii, iv, v only</a:t>
            </a:r>
            <a:br>
              <a:rPr lang="en-US" dirty="0"/>
            </a:br>
            <a:r>
              <a:rPr lang="en-US" b="1" dirty="0"/>
              <a:t>C.</a:t>
            </a:r>
            <a:r>
              <a:rPr lang="en-US" dirty="0"/>
              <a:t> </a:t>
            </a:r>
            <a:r>
              <a:rPr lang="en-US" dirty="0" err="1"/>
              <a:t>i</a:t>
            </a:r>
            <a:r>
              <a:rPr lang="en-US" dirty="0"/>
              <a:t>, ii, iii only</a:t>
            </a:r>
            <a:br>
              <a:rPr lang="en-US" dirty="0"/>
            </a:br>
            <a:r>
              <a:rPr lang="en-US" b="1" dirty="0"/>
              <a:t>D.</a:t>
            </a:r>
            <a:r>
              <a:rPr lang="en-US" dirty="0"/>
              <a:t> All </a:t>
            </a:r>
            <a:r>
              <a:rPr lang="en-US" dirty="0" err="1"/>
              <a:t>i</a:t>
            </a:r>
            <a:r>
              <a:rPr lang="en-US" dirty="0"/>
              <a:t>, ii, iii, iv and v</a:t>
            </a:r>
          </a:p>
          <a:p>
            <a:endParaRPr lang="en-IN" dirty="0"/>
          </a:p>
        </p:txBody>
      </p:sp>
    </p:spTree>
    <p:extLst>
      <p:ext uri="{BB962C8B-B14F-4D97-AF65-F5344CB8AC3E}">
        <p14:creationId xmlns:p14="http://schemas.microsoft.com/office/powerpoint/2010/main" val="13192447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5791-4B2C-7046-4F1F-05E211432A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3DB495-3DD1-036B-0D41-0932F293E273}"/>
              </a:ext>
            </a:extLst>
          </p:cNvPr>
          <p:cNvSpPr>
            <a:spLocks noGrp="1"/>
          </p:cNvSpPr>
          <p:nvPr>
            <p:ph idx="1"/>
          </p:nvPr>
        </p:nvSpPr>
        <p:spPr/>
        <p:txBody>
          <a:bodyPr/>
          <a:lstStyle/>
          <a:p>
            <a:pPr>
              <a:buNone/>
            </a:pPr>
            <a:r>
              <a:rPr lang="en-US" b="1" dirty="0"/>
              <a:t>🟢 EASY LEVEL</a:t>
            </a:r>
          </a:p>
          <a:p>
            <a:r>
              <a:rPr lang="en-US" b="1" dirty="0"/>
              <a:t>Q1.</a:t>
            </a:r>
            <a:r>
              <a:rPr lang="en-US" dirty="0"/>
              <a:t> A → </a:t>
            </a:r>
            <a:r>
              <a:rPr lang="en-US" i="1" dirty="0" err="1"/>
              <a:t>i</a:t>
            </a:r>
            <a:r>
              <a:rPr lang="en-US" i="1" dirty="0"/>
              <a:t>, iii, v only</a:t>
            </a:r>
            <a:br>
              <a:rPr lang="en-US" dirty="0"/>
            </a:br>
            <a:r>
              <a:rPr lang="en-US" b="1" dirty="0"/>
              <a:t>Q2.</a:t>
            </a:r>
            <a:r>
              <a:rPr lang="en-US" dirty="0"/>
              <a:t> A → </a:t>
            </a:r>
            <a:r>
              <a:rPr lang="en-US" i="1" dirty="0"/>
              <a:t>P – Friction (contact), Q – Gravitational (non-contact)</a:t>
            </a:r>
            <a:endParaRPr lang="en-US" dirty="0"/>
          </a:p>
          <a:p>
            <a:endParaRPr lang="en-IN" dirty="0"/>
          </a:p>
        </p:txBody>
      </p:sp>
    </p:spTree>
    <p:extLst>
      <p:ext uri="{BB962C8B-B14F-4D97-AF65-F5344CB8AC3E}">
        <p14:creationId xmlns:p14="http://schemas.microsoft.com/office/powerpoint/2010/main" val="18444516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571AC-E7EB-899C-AAD0-F2FD41B139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3261966-3252-6441-8AE6-FF82D72E4F78}"/>
              </a:ext>
            </a:extLst>
          </p:cNvPr>
          <p:cNvSpPr>
            <a:spLocks noGrp="1"/>
          </p:cNvSpPr>
          <p:nvPr>
            <p:ph idx="1"/>
          </p:nvPr>
        </p:nvSpPr>
        <p:spPr/>
        <p:txBody>
          <a:bodyPr/>
          <a:lstStyle/>
          <a:p>
            <a:r>
              <a:rPr lang="en-US" b="1" dirty="0"/>
              <a:t>Q3.</a:t>
            </a:r>
            <a:r>
              <a:rPr lang="en-US" dirty="0"/>
              <a:t> B → </a:t>
            </a:r>
            <a:r>
              <a:rPr lang="en-US" i="1" dirty="0"/>
              <a:t>10 N – 4 N = 6 N right</a:t>
            </a:r>
            <a:br>
              <a:rPr lang="en-US" dirty="0"/>
            </a:br>
            <a:r>
              <a:rPr lang="en-US" b="1" dirty="0"/>
              <a:t>Q4.</a:t>
            </a:r>
            <a:r>
              <a:rPr lang="en-US" dirty="0"/>
              <a:t> A → </a:t>
            </a:r>
            <a:r>
              <a:rPr lang="en-US" i="1" dirty="0"/>
              <a:t>ii (opposes motion), iii (helps walk), iv (causes heat)</a:t>
            </a:r>
            <a:endParaRPr lang="en-US" dirty="0"/>
          </a:p>
          <a:p>
            <a:endParaRPr lang="en-IN" dirty="0"/>
          </a:p>
        </p:txBody>
      </p:sp>
    </p:spTree>
    <p:extLst>
      <p:ext uri="{BB962C8B-B14F-4D97-AF65-F5344CB8AC3E}">
        <p14:creationId xmlns:p14="http://schemas.microsoft.com/office/powerpoint/2010/main" val="1115183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5CB8-8018-E45D-E773-36D8C75765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204CE9-340D-348C-361A-8631D2BA8A9E}"/>
              </a:ext>
            </a:extLst>
          </p:cNvPr>
          <p:cNvSpPr>
            <a:spLocks noGrp="1"/>
          </p:cNvSpPr>
          <p:nvPr>
            <p:ph idx="1"/>
          </p:nvPr>
        </p:nvSpPr>
        <p:spPr/>
        <p:txBody>
          <a:bodyPr/>
          <a:lstStyle/>
          <a:p>
            <a:r>
              <a:rPr lang="en-US" b="1" dirty="0"/>
              <a:t>Q5.</a:t>
            </a:r>
            <a:r>
              <a:rPr lang="en-US" dirty="0"/>
              <a:t> A → </a:t>
            </a:r>
            <a:r>
              <a:rPr lang="en-US" i="1" dirty="0"/>
              <a:t>F = ma = 4 × 2.5 = 10 N</a:t>
            </a:r>
            <a:br>
              <a:rPr lang="en-US" dirty="0"/>
            </a:br>
            <a:r>
              <a:rPr lang="en-US" b="1" dirty="0"/>
              <a:t>Q6.</a:t>
            </a:r>
            <a:r>
              <a:rPr lang="en-US" dirty="0"/>
              <a:t> B → </a:t>
            </a:r>
            <a:r>
              <a:rPr lang="en-US" i="1" dirty="0"/>
              <a:t>Force and acceleration are vectors, SI unit of force is Newton</a:t>
            </a:r>
            <a:endParaRPr lang="en-US" dirty="0"/>
          </a:p>
          <a:p>
            <a:endParaRPr lang="en-IN" dirty="0"/>
          </a:p>
        </p:txBody>
      </p:sp>
    </p:spTree>
    <p:extLst>
      <p:ext uri="{BB962C8B-B14F-4D97-AF65-F5344CB8AC3E}">
        <p14:creationId xmlns:p14="http://schemas.microsoft.com/office/powerpoint/2010/main" val="1112270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E0367-A29E-42B8-E254-27E5AB5CFE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E1C4B6-E4BF-07F1-9E55-1A5CE6637254}"/>
              </a:ext>
            </a:extLst>
          </p:cNvPr>
          <p:cNvSpPr>
            <a:spLocks noGrp="1"/>
          </p:cNvSpPr>
          <p:nvPr>
            <p:ph idx="1"/>
          </p:nvPr>
        </p:nvSpPr>
        <p:spPr/>
        <p:txBody>
          <a:bodyPr/>
          <a:lstStyle/>
          <a:p>
            <a:r>
              <a:rPr lang="en-US" b="1" dirty="0"/>
              <a:t>Q7.</a:t>
            </a:r>
            <a:r>
              <a:rPr lang="en-US" dirty="0"/>
              <a:t> A → </a:t>
            </a:r>
            <a:r>
              <a:rPr lang="en-US" i="1" dirty="0"/>
              <a:t>Resultant = √(6² + 8²) = √(36 + 64) = √100 = 10 N</a:t>
            </a:r>
            <a:br>
              <a:rPr lang="en-US" dirty="0"/>
            </a:br>
            <a:r>
              <a:rPr lang="en-US" b="1" dirty="0"/>
              <a:t>Q8.</a:t>
            </a:r>
            <a:r>
              <a:rPr lang="en-US" dirty="0"/>
              <a:t> A → </a:t>
            </a:r>
            <a:r>
              <a:rPr lang="en-US" i="1" dirty="0" err="1"/>
              <a:t>i</a:t>
            </a:r>
            <a:r>
              <a:rPr lang="en-US" i="1" dirty="0"/>
              <a:t> (force is vector), iii (opposite forces can cancel), v (resultant of two equal forces at 90° is √2F)</a:t>
            </a:r>
            <a:endParaRPr lang="en-US" dirty="0"/>
          </a:p>
          <a:p>
            <a:endParaRPr lang="en-IN" dirty="0"/>
          </a:p>
        </p:txBody>
      </p:sp>
    </p:spTree>
    <p:extLst>
      <p:ext uri="{BB962C8B-B14F-4D97-AF65-F5344CB8AC3E}">
        <p14:creationId xmlns:p14="http://schemas.microsoft.com/office/powerpoint/2010/main" val="2205461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55</TotalTime>
  <Words>1834</Words>
  <Application>Microsoft Office PowerPoint</Application>
  <PresentationFormat>Widescreen</PresentationFormat>
  <Paragraphs>124</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Tw Cen MT</vt:lpstr>
      <vt:lpstr>Tw Cen MT Condensed</vt:lpstr>
      <vt:lpstr>Wingdings 3</vt:lpstr>
      <vt:lpstr>Integral</vt:lpstr>
      <vt:lpstr>FORCE AND PRESSURE</vt:lpstr>
      <vt:lpstr>What is Force?</vt:lpstr>
      <vt:lpstr>Effects of Force</vt:lpstr>
      <vt:lpstr>Balanced vs Unbalanced Forces</vt:lpstr>
      <vt:lpstr>Resultant Force</vt:lpstr>
      <vt:lpstr>Simple case</vt:lpstr>
      <vt:lpstr>perpendicular</vt:lpstr>
      <vt:lpstr>General case</vt:lpstr>
      <vt:lpstr>Scalar vs vector</vt:lpstr>
      <vt:lpstr>PowerPoint Presentation</vt:lpstr>
      <vt:lpstr>PowerPoint Presentation</vt:lpstr>
      <vt:lpstr>PowerPoint Presentation</vt:lpstr>
      <vt:lpstr>PowerPoint Presentation</vt:lpstr>
      <vt:lpstr>Direction?</vt:lpstr>
      <vt:lpstr>trigonometry</vt:lpstr>
      <vt:lpstr>PowerPoint Presentation</vt:lpstr>
      <vt:lpstr>Contact Forces</vt:lpstr>
      <vt:lpstr>Normal force :</vt:lpstr>
      <vt:lpstr>PowerPoint Presentation</vt:lpstr>
      <vt:lpstr> Force of friction </vt:lpstr>
      <vt:lpstr>PowerPoint Presentation</vt:lpstr>
      <vt:lpstr>Muscular force</vt:lpstr>
      <vt:lpstr>Non-Contact Forces </vt:lpstr>
      <vt:lpstr>Gravitational Force &amp; Weight</vt:lpstr>
      <vt:lpstr>PowerPoint Presentation</vt:lpstr>
      <vt:lpstr>PowerPoint Presentation</vt:lpstr>
      <vt:lpstr>Electrostatic force</vt:lpstr>
      <vt:lpstr>Magnetic force</vt:lpstr>
      <vt:lpstr>PowerPoint Presentation</vt:lpstr>
      <vt:lpstr>PowerPoint Presentation</vt:lpstr>
      <vt:lpstr>PowerPoint Presentation</vt:lpstr>
      <vt:lpstr>Extra info dump!</vt:lpstr>
      <vt:lpstr>easy</vt:lpstr>
      <vt:lpstr>easy</vt:lpstr>
      <vt:lpstr>medium</vt:lpstr>
      <vt:lpstr>medium</vt:lpstr>
      <vt:lpstr>tough</vt:lpstr>
      <vt:lpstr>tough</vt:lpstr>
      <vt:lpstr>hots</vt:lpstr>
      <vt:lpstr>hots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Sanskriti Jain</dc:creator>
  <cp:lastModifiedBy>Sanskriti Jain</cp:lastModifiedBy>
  <cp:revision>1</cp:revision>
  <dcterms:created xsi:type="dcterms:W3CDTF">2025-04-25T07:07:11Z</dcterms:created>
  <dcterms:modified xsi:type="dcterms:W3CDTF">2025-04-25T08:02:12Z</dcterms:modified>
</cp:coreProperties>
</file>