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1D4298-4F5F-475F-B6BC-50CADDE13E75}" v="1" dt="2025-04-26T07:47:29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skriti Jain" userId="df811092909c9c3b" providerId="LiveId" clId="{AA1D4298-4F5F-475F-B6BC-50CADDE13E75}"/>
    <pc:docChg chg="addSld modSld sldOrd">
      <pc:chgData name="Sanskriti Jain" userId="df811092909c9c3b" providerId="LiveId" clId="{AA1D4298-4F5F-475F-B6BC-50CADDE13E75}" dt="2025-04-26T07:50:14.308" v="27" actId="680"/>
      <pc:docMkLst>
        <pc:docMk/>
      </pc:docMkLst>
      <pc:sldChg chg="modSp new mod ord">
        <pc:chgData name="Sanskriti Jain" userId="df811092909c9c3b" providerId="LiveId" clId="{AA1D4298-4F5F-475F-B6BC-50CADDE13E75}" dt="2025-04-26T07:47:03.401" v="9"/>
        <pc:sldMkLst>
          <pc:docMk/>
          <pc:sldMk cId="3387312081" sldId="268"/>
        </pc:sldMkLst>
        <pc:spChg chg="mod">
          <ac:chgData name="Sanskriti Jain" userId="df811092909c9c3b" providerId="LiveId" clId="{AA1D4298-4F5F-475F-B6BC-50CADDE13E75}" dt="2025-04-26T07:45:54.364" v="1"/>
          <ac:spMkLst>
            <pc:docMk/>
            <pc:sldMk cId="3387312081" sldId="268"/>
            <ac:spMk id="3" creationId="{689737F0-B2A4-E67C-F5C4-FCD0D5121A86}"/>
          </ac:spMkLst>
        </pc:spChg>
      </pc:sldChg>
      <pc:sldChg chg="modSp new mod ord">
        <pc:chgData name="Sanskriti Jain" userId="df811092909c9c3b" providerId="LiveId" clId="{AA1D4298-4F5F-475F-B6BC-50CADDE13E75}" dt="2025-04-26T07:47:08.157" v="11"/>
        <pc:sldMkLst>
          <pc:docMk/>
          <pc:sldMk cId="3621654046" sldId="269"/>
        </pc:sldMkLst>
        <pc:spChg chg="mod">
          <ac:chgData name="Sanskriti Jain" userId="df811092909c9c3b" providerId="LiveId" clId="{AA1D4298-4F5F-475F-B6BC-50CADDE13E75}" dt="2025-04-26T07:46:09.683" v="3"/>
          <ac:spMkLst>
            <pc:docMk/>
            <pc:sldMk cId="3621654046" sldId="269"/>
            <ac:spMk id="3" creationId="{F2928B40-F11A-1BE2-1F99-05730B2D4856}"/>
          </ac:spMkLst>
        </pc:spChg>
      </pc:sldChg>
      <pc:sldChg chg="modSp new mod ord">
        <pc:chgData name="Sanskriti Jain" userId="df811092909c9c3b" providerId="LiveId" clId="{AA1D4298-4F5F-475F-B6BC-50CADDE13E75}" dt="2025-04-26T07:47:15.071" v="13"/>
        <pc:sldMkLst>
          <pc:docMk/>
          <pc:sldMk cId="820272182" sldId="270"/>
        </pc:sldMkLst>
        <pc:spChg chg="mod">
          <ac:chgData name="Sanskriti Jain" userId="df811092909c9c3b" providerId="LiveId" clId="{AA1D4298-4F5F-475F-B6BC-50CADDE13E75}" dt="2025-04-26T07:46:17.683" v="5"/>
          <ac:spMkLst>
            <pc:docMk/>
            <pc:sldMk cId="820272182" sldId="270"/>
            <ac:spMk id="3" creationId="{2A52897A-6CEE-9F33-CE3B-5AA8114A3FE6}"/>
          </ac:spMkLst>
        </pc:spChg>
      </pc:sldChg>
      <pc:sldChg chg="modSp new mod ord">
        <pc:chgData name="Sanskriti Jain" userId="df811092909c9c3b" providerId="LiveId" clId="{AA1D4298-4F5F-475F-B6BC-50CADDE13E75}" dt="2025-04-26T07:47:21.047" v="15"/>
        <pc:sldMkLst>
          <pc:docMk/>
          <pc:sldMk cId="284696724" sldId="271"/>
        </pc:sldMkLst>
        <pc:spChg chg="mod">
          <ac:chgData name="Sanskriti Jain" userId="df811092909c9c3b" providerId="LiveId" clId="{AA1D4298-4F5F-475F-B6BC-50CADDE13E75}" dt="2025-04-26T07:46:25.366" v="7"/>
          <ac:spMkLst>
            <pc:docMk/>
            <pc:sldMk cId="284696724" sldId="271"/>
            <ac:spMk id="3" creationId="{23573F6F-3D9A-0717-84B4-0B0F954ADC15}"/>
          </ac:spMkLst>
        </pc:spChg>
      </pc:sldChg>
      <pc:sldChg chg="modSp new mod">
        <pc:chgData name="Sanskriti Jain" userId="df811092909c9c3b" providerId="LiveId" clId="{AA1D4298-4F5F-475F-B6BC-50CADDE13E75}" dt="2025-04-26T07:47:44.482" v="19" actId="5793"/>
        <pc:sldMkLst>
          <pc:docMk/>
          <pc:sldMk cId="4179654146" sldId="272"/>
        </pc:sldMkLst>
        <pc:spChg chg="mod">
          <ac:chgData name="Sanskriti Jain" userId="df811092909c9c3b" providerId="LiveId" clId="{AA1D4298-4F5F-475F-B6BC-50CADDE13E75}" dt="2025-04-26T07:47:44.482" v="19" actId="5793"/>
          <ac:spMkLst>
            <pc:docMk/>
            <pc:sldMk cId="4179654146" sldId="272"/>
            <ac:spMk id="3" creationId="{6E37A03D-6E5F-C920-E469-C2A21A96CD74}"/>
          </ac:spMkLst>
        </pc:spChg>
      </pc:sldChg>
      <pc:sldChg chg="add">
        <pc:chgData name="Sanskriti Jain" userId="df811092909c9c3b" providerId="LiveId" clId="{AA1D4298-4F5F-475F-B6BC-50CADDE13E75}" dt="2025-04-26T07:47:29.087" v="17"/>
        <pc:sldMkLst>
          <pc:docMk/>
          <pc:sldMk cId="4195872625" sldId="273"/>
        </pc:sldMkLst>
      </pc:sldChg>
      <pc:sldChg chg="addSp modSp new mod">
        <pc:chgData name="Sanskriti Jain" userId="df811092909c9c3b" providerId="LiveId" clId="{AA1D4298-4F5F-475F-B6BC-50CADDE13E75}" dt="2025-04-26T07:49:45.999" v="24" actId="1076"/>
        <pc:sldMkLst>
          <pc:docMk/>
          <pc:sldMk cId="461513820" sldId="274"/>
        </pc:sldMkLst>
        <pc:picChg chg="add mod">
          <ac:chgData name="Sanskriti Jain" userId="df811092909c9c3b" providerId="LiveId" clId="{AA1D4298-4F5F-475F-B6BC-50CADDE13E75}" dt="2025-04-26T07:49:45.999" v="24" actId="1076"/>
          <ac:picMkLst>
            <pc:docMk/>
            <pc:sldMk cId="461513820" sldId="274"/>
            <ac:picMk id="5" creationId="{D547AE18-4D5D-40ED-C0B4-B688F9CF812D}"/>
          </ac:picMkLst>
        </pc:picChg>
      </pc:sldChg>
      <pc:sldChg chg="modSp new mod">
        <pc:chgData name="Sanskriti Jain" userId="df811092909c9c3b" providerId="LiveId" clId="{AA1D4298-4F5F-475F-B6BC-50CADDE13E75}" dt="2025-04-26T07:50:08.800" v="26"/>
        <pc:sldMkLst>
          <pc:docMk/>
          <pc:sldMk cId="2658592178" sldId="275"/>
        </pc:sldMkLst>
        <pc:spChg chg="mod">
          <ac:chgData name="Sanskriti Jain" userId="df811092909c9c3b" providerId="LiveId" clId="{AA1D4298-4F5F-475F-B6BC-50CADDE13E75}" dt="2025-04-26T07:50:08.800" v="26"/>
          <ac:spMkLst>
            <pc:docMk/>
            <pc:sldMk cId="2658592178" sldId="275"/>
            <ac:spMk id="3" creationId="{6543885A-57F2-BD82-7F12-402E9EDA01BF}"/>
          </ac:spMkLst>
        </pc:spChg>
      </pc:sldChg>
      <pc:sldChg chg="new">
        <pc:chgData name="Sanskriti Jain" userId="df811092909c9c3b" providerId="LiveId" clId="{AA1D4298-4F5F-475F-B6BC-50CADDE13E75}" dt="2025-04-26T07:50:14.308" v="27" actId="680"/>
        <pc:sldMkLst>
          <pc:docMk/>
          <pc:sldMk cId="3828528149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AD960-5E00-4806-A0D0-24938D6042C9}" type="datetimeFigureOut">
              <a:rPr lang="en-IN" smtClean="0"/>
              <a:t>26-04-2025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39A2A-B64E-436C-8848-EEE1090D2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909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39A2A-B64E-436C-8848-EEE1090D2E2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82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dirty="0"/>
              <a:pPr/>
              <a:t>4/26/2025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4/26/2025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45F5A-5A3F-80AC-3F2B-24D6FF4CD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FRICTION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FFF7B-4D6B-B924-FF08-BE22A67F51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257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476F-9408-905D-77F7-08CEE45DC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friction?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CD4B4-0C6C-79A3-17E9-72D94820A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3560064" cy="310198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What is Friction?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Friction is a </a:t>
            </a:r>
            <a:r>
              <a:rPr lang="en-US" b="1" dirty="0"/>
              <a:t>force</a:t>
            </a:r>
            <a:r>
              <a:rPr lang="en-US" dirty="0"/>
              <a:t> that </a:t>
            </a:r>
            <a:r>
              <a:rPr lang="en-US" b="1" dirty="0"/>
              <a:t>opposes</a:t>
            </a:r>
            <a:r>
              <a:rPr lang="en-US" dirty="0"/>
              <a:t> the motion between two surfaces in contact.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acts </a:t>
            </a:r>
            <a:r>
              <a:rPr lang="en-US" b="1" dirty="0"/>
              <a:t>tangential</a:t>
            </a:r>
            <a:r>
              <a:rPr lang="en-US" dirty="0"/>
              <a:t> to the surfaces and always </a:t>
            </a:r>
            <a:r>
              <a:rPr lang="en-US" b="1" dirty="0"/>
              <a:t>opposes</a:t>
            </a:r>
            <a:r>
              <a:rPr lang="en-US" dirty="0"/>
              <a:t> motion.</a:t>
            </a:r>
          </a:p>
          <a:p>
            <a:endParaRPr lang="en-IN" dirty="0"/>
          </a:p>
        </p:txBody>
      </p:sp>
      <p:pic>
        <p:nvPicPr>
          <p:cNvPr id="1026" name="Picture 2" descr="Friction - Labster">
            <a:extLst>
              <a:ext uri="{FF2B5EF4-FFF2-40B4-BE49-F238E27FC236}">
                <a16:creationId xmlns:a16="http://schemas.microsoft.com/office/drawing/2014/main" id="{3A81804B-241E-02A4-3CF9-23E314200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2" y="2638044"/>
            <a:ext cx="4876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58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5350-F5E9-B203-47AE-C185B73D1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does Friction occur?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DF9C3A-115D-E8AA-6B1B-666061E8ED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727370"/>
            <a:ext cx="38648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Due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interlocking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tiny irregularities on surfaces.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Called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force of contact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1B837C-0948-D2F5-C59B-E236AFC54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615" y="2371482"/>
            <a:ext cx="3109017" cy="399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962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AD9F-1808-E547-D2E0-5A5F0FF2E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Friction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8EE36-4F35-7AC9-55DC-F94135998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06" y="2358190"/>
            <a:ext cx="5791200" cy="3962400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(A) Static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when the object is at </a:t>
            </a:r>
            <a:r>
              <a:rPr lang="en-US" b="1" dirty="0"/>
              <a:t>rest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the object from starting to move.</a:t>
            </a:r>
          </a:p>
          <a:p>
            <a:pPr>
              <a:buNone/>
            </a:pPr>
            <a:r>
              <a:rPr lang="en-US" b="1" dirty="0"/>
              <a:t>(B) Limiting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Maximum static friction</a:t>
            </a:r>
            <a:r>
              <a:rPr lang="en-US" dirty="0"/>
              <a:t> just before the object starts moving.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Increases with </a:t>
            </a:r>
            <a:r>
              <a:rPr lang="en-US" b="1" dirty="0"/>
              <a:t>external force</a:t>
            </a:r>
            <a:r>
              <a:rPr lang="en-US" dirty="0"/>
              <a:t> up to a point.</a:t>
            </a:r>
          </a:p>
          <a:p>
            <a:pPr>
              <a:buNone/>
            </a:pPr>
            <a:r>
              <a:rPr lang="en-US" b="1" dirty="0"/>
              <a:t>(C) Kinetic or Sliding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when the object is </a:t>
            </a:r>
            <a:r>
              <a:rPr lang="en-US" b="1" dirty="0"/>
              <a:t>sliding</a:t>
            </a:r>
            <a:r>
              <a:rPr lang="en-US" dirty="0"/>
              <a:t> over the surface.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Less</a:t>
            </a:r>
            <a:r>
              <a:rPr lang="en-US" dirty="0"/>
              <a:t> than limiting friction.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Also called </a:t>
            </a:r>
            <a:r>
              <a:rPr lang="en-US" b="1" dirty="0"/>
              <a:t>dynamic friction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(D) Rolling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when an object </a:t>
            </a:r>
            <a:r>
              <a:rPr lang="en-US" b="1" dirty="0"/>
              <a:t>rolls</a:t>
            </a:r>
            <a:r>
              <a:rPr lang="en-US" dirty="0"/>
              <a:t> over a surface.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Smallest</a:t>
            </a:r>
            <a:r>
              <a:rPr lang="en-US" dirty="0"/>
              <a:t> among all types of friction.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Rolling objects get slightly </a:t>
            </a:r>
            <a:r>
              <a:rPr lang="en-US" b="1" dirty="0"/>
              <a:t>deformed</a:t>
            </a:r>
            <a:r>
              <a:rPr lang="en-US" dirty="0"/>
              <a:t> at the point of contact.</a:t>
            </a:r>
          </a:p>
          <a:p>
            <a:endParaRPr lang="en-IN" dirty="0"/>
          </a:p>
        </p:txBody>
      </p:sp>
      <p:pic>
        <p:nvPicPr>
          <p:cNvPr id="3088" name="Picture 16" descr="Frictional Forces: Formulas, Equations ...">
            <a:extLst>
              <a:ext uri="{FF2B5EF4-FFF2-40B4-BE49-F238E27FC236}">
                <a16:creationId xmlns:a16="http://schemas.microsoft.com/office/drawing/2014/main" id="{54547424-395F-3E73-5BE3-5D9B47514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505" y="2358190"/>
            <a:ext cx="3723274" cy="37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7788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95A7-CD2E-1DB7-EB42-781C70FDA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Remember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564B7-F617-FFBE-EAC1-C0A8272BF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673" y="2589917"/>
            <a:ext cx="4586759" cy="310198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Limiting &gt; Kinetic &gt; Rolling friction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Friction is necessary for walking, holding objects, vehicles moving,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friction: Lubricants, polishing surfaces.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Increasing friction: Rough surfaces, special soles on shoes.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09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8FB15-13EF-3C0E-2D6D-1612BDBD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 of Frictional Force with Applied Force</a:t>
            </a:r>
            <a:br>
              <a:rPr lang="en-US" dirty="0"/>
            </a:br>
            <a:endParaRPr lang="en-IN" dirty="0"/>
          </a:p>
        </p:txBody>
      </p:sp>
      <p:pic>
        <p:nvPicPr>
          <p:cNvPr id="4098" name="Picture 2" descr="Draw a graph between applied force ...">
            <a:extLst>
              <a:ext uri="{FF2B5EF4-FFF2-40B4-BE49-F238E27FC236}">
                <a16:creationId xmlns:a16="http://schemas.microsoft.com/office/drawing/2014/main" id="{FC37F8F8-3DAC-FCF7-CF60-DCB40B74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0225" y="2753699"/>
            <a:ext cx="4180302" cy="278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F4AA3-D6CF-C119-0593-90787C4A7D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231136" y="3311872"/>
            <a:ext cx="442633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Static friction increases with applied force.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Maximum static friction (Limiting friction).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A: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 moves with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kinetic friction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(constant and slightly less).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B001F-43E2-3818-AB1F-945F64B295FA}"/>
              </a:ext>
            </a:extLst>
          </p:cNvPr>
          <p:cNvSpPr txBox="1"/>
          <p:nvPr/>
        </p:nvSpPr>
        <p:spPr>
          <a:xfrm>
            <a:off x="3609474" y="5708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Rolling friction &lt; Sliding friction &lt; Limiting friction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095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D95E-2E05-DAAF-A92D-53723FCF9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Factors Affecting Friction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60FF76-0C66-09C2-D44B-4BBA3C488F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Material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surfaces in contact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Smoothness or roughness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surfaces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 of contact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(not a major factor usually)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force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(greater normal force → greater friction)</a:t>
            </a:r>
          </a:p>
        </p:txBody>
      </p:sp>
    </p:spTree>
    <p:extLst>
      <p:ext uri="{BB962C8B-B14F-4D97-AF65-F5344CB8AC3E}">
        <p14:creationId xmlns:p14="http://schemas.microsoft.com/office/powerpoint/2010/main" val="2815464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2801-071B-1481-45A3-321118D3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Coefficient of Friction (</a:t>
            </a:r>
            <a:r>
              <a:rPr lang="el-GR" dirty="0"/>
              <a:t>μ</a:t>
            </a:r>
            <a:r>
              <a:rPr lang="en-IN" dirty="0"/>
              <a:t>u</a:t>
            </a:r>
            <a:r>
              <a:rPr lang="el-GR" dirty="0"/>
              <a:t>)</a:t>
            </a:r>
            <a:br>
              <a:rPr lang="el-GR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A7763-08F5-41F4-5274-87511743A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A499-A9FC-5E39-6900-8E5FAFCC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363" y="2289405"/>
            <a:ext cx="6973273" cy="3057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D4B15E-55A1-7D59-F055-E1121F274993}"/>
              </a:ext>
            </a:extLst>
          </p:cNvPr>
          <p:cNvSpPr txBox="1"/>
          <p:nvPr/>
        </p:nvSpPr>
        <p:spPr>
          <a:xfrm>
            <a:off x="3497179" y="56312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Coefficient tells </a:t>
            </a:r>
            <a:r>
              <a:rPr lang="en-US" b="1" dirty="0"/>
              <a:t>how rough</a:t>
            </a:r>
            <a:r>
              <a:rPr lang="en-US" dirty="0"/>
              <a:t> or </a:t>
            </a:r>
            <a:r>
              <a:rPr lang="en-US" b="1" dirty="0"/>
              <a:t>smooth</a:t>
            </a:r>
            <a:r>
              <a:rPr lang="en-US" dirty="0"/>
              <a:t> a surface 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86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486E-9FA4-82CF-54BA-EC1C094D8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82D28-5BBD-0235-CF6E-155CFF282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5164275" cy="3101983"/>
          </a:xfrm>
        </p:spPr>
        <p:txBody>
          <a:bodyPr/>
          <a:lstStyle/>
          <a:p>
            <a:pPr>
              <a:buNone/>
            </a:pPr>
            <a:r>
              <a:rPr lang="en-US" b="1" dirty="0"/>
              <a:t>Problem: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Mass = 2 kg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Force applied = 2.5 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Coefficient of static friction = 0.4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g=9.8m/s2</a:t>
            </a:r>
          </a:p>
          <a:p>
            <a:pPr marL="0" indent="0">
              <a:buNone/>
            </a:pPr>
            <a:r>
              <a:rPr lang="en-US" dirty="0"/>
              <a:t>Find maximum static friction!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01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880C6-71EF-3635-B575-DA7F129CA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C3E8B-CF53-62CD-A0FC-BF7C01A9C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Solution: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Normal reaction, R=</a:t>
            </a:r>
            <a:r>
              <a:rPr lang="en-IN" dirty="0" err="1"/>
              <a:t>m×g</a:t>
            </a:r>
            <a:r>
              <a:rPr lang="en-IN" dirty="0"/>
              <a:t>=2×9.8=19.6 N</a:t>
            </a:r>
          </a:p>
          <a:p>
            <a:pPr>
              <a:buFont typeface="+mj-lt"/>
              <a:buAutoNum type="arabicPeriod"/>
            </a:pPr>
            <a:r>
              <a:rPr lang="en-IN" dirty="0"/>
              <a:t>Maximum static friction = 0.4×19.6=7.84 </a:t>
            </a:r>
          </a:p>
          <a:p>
            <a:r>
              <a:rPr lang="en-IN" dirty="0"/>
              <a:t>✅ Since 2.5 N&lt;7.84 , block </a:t>
            </a:r>
            <a:r>
              <a:rPr lang="en-IN" b="1" dirty="0"/>
              <a:t>does not move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👉 Frictional force = Applied force = </a:t>
            </a:r>
            <a:r>
              <a:rPr lang="en-IN" b="1" dirty="0"/>
              <a:t>2.5 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315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BBDFF-ED8E-BBD9-1EDA-5DF7F69F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737F0-B2A4-E67C-F5C4-FCD0D5121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Q1.</a:t>
            </a:r>
            <a:r>
              <a:rPr lang="en-US" dirty="0"/>
              <a:t> Which type of friction is the least in magnitude?</a:t>
            </a:r>
            <a:br>
              <a:rPr lang="en-US" dirty="0"/>
            </a:br>
            <a:r>
              <a:rPr lang="en-US" dirty="0"/>
              <a:t>(A) Static friction</a:t>
            </a:r>
            <a:br>
              <a:rPr lang="en-US" dirty="0"/>
            </a:br>
            <a:r>
              <a:rPr lang="en-US" dirty="0"/>
              <a:t>(B) Limiting friction</a:t>
            </a:r>
            <a:br>
              <a:rPr lang="en-US" dirty="0"/>
            </a:br>
            <a:r>
              <a:rPr lang="en-US" dirty="0"/>
              <a:t>(C) Kinetic friction</a:t>
            </a:r>
            <a:br>
              <a:rPr lang="en-US" dirty="0"/>
            </a:br>
            <a:r>
              <a:rPr lang="en-US" dirty="0"/>
              <a:t>(D) Rolling friction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7312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163F-DD4A-8029-7A5A-B51920369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C2F08-9225-AA18-C065-EF1407DA5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Problem: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Mass = 20 kg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Force applied = 98 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Coefficient of kinetic friction = 0.25</a:t>
            </a:r>
          </a:p>
          <a:p>
            <a:r>
              <a:rPr lang="en-US" b="1" dirty="0"/>
              <a:t>Find acceleration.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8237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84EC5-3783-6CD9-160E-1121E1D37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5EDC-74DA-32EF-D45B-8A88F7240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/>
              <a:t>Solution:</a:t>
            </a:r>
            <a:endParaRPr lang="en-IN" dirty="0"/>
          </a:p>
          <a:p>
            <a:pPr>
              <a:buFont typeface="+mj-lt"/>
              <a:buAutoNum type="arabicPeriod"/>
            </a:pPr>
            <a:r>
              <a:rPr lang="en-IN" dirty="0"/>
              <a:t>Normal reaction, R=20×9.8=196 N</a:t>
            </a:r>
          </a:p>
          <a:p>
            <a:pPr>
              <a:buFont typeface="+mj-lt"/>
              <a:buAutoNum type="arabicPeriod"/>
            </a:pPr>
            <a:r>
              <a:rPr lang="en-IN" dirty="0"/>
              <a:t>Kinetic friction force = 0.25×196=49 N</a:t>
            </a:r>
          </a:p>
          <a:p>
            <a:pPr>
              <a:buFont typeface="+mj-lt"/>
              <a:buAutoNum type="arabicPeriod"/>
            </a:pPr>
            <a:r>
              <a:rPr lang="en-IN" dirty="0"/>
              <a:t>Net force = 98−49=49 N</a:t>
            </a:r>
          </a:p>
          <a:p>
            <a:pPr>
              <a:buFont typeface="+mj-lt"/>
              <a:buAutoNum type="arabicPeriod"/>
            </a:pPr>
            <a:r>
              <a:rPr lang="en-IN" dirty="0"/>
              <a:t>Acceleration = Net Force/Mass=49/20=2.45 m/s2 </a:t>
            </a:r>
          </a:p>
          <a:p>
            <a:r>
              <a:rPr lang="en-IN" dirty="0"/>
              <a:t>✅ </a:t>
            </a:r>
            <a:r>
              <a:rPr lang="en-IN" b="1" dirty="0"/>
              <a:t>Acceleration = 2.45 m/s²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546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A252E-30B4-3931-FD32-68A87922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28B40-F11A-1BE2-1F99-05730B2D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Q2.</a:t>
            </a:r>
            <a:r>
              <a:rPr lang="en-US" dirty="0"/>
              <a:t> What happens to friction when the normal force between two surfaces increases?</a:t>
            </a:r>
            <a:br>
              <a:rPr lang="en-US" dirty="0"/>
            </a:br>
            <a:r>
              <a:rPr lang="en-US" dirty="0"/>
              <a:t>(A) Friction decreases</a:t>
            </a:r>
            <a:br>
              <a:rPr lang="en-US" dirty="0"/>
            </a:br>
            <a:r>
              <a:rPr lang="en-US" dirty="0"/>
              <a:t>(B) Friction remains constant</a:t>
            </a:r>
            <a:br>
              <a:rPr lang="en-US" dirty="0"/>
            </a:br>
            <a:r>
              <a:rPr lang="en-US" dirty="0"/>
              <a:t>(C) Friction increases</a:t>
            </a:r>
            <a:br>
              <a:rPr lang="en-US" dirty="0"/>
            </a:br>
            <a:r>
              <a:rPr lang="en-US" dirty="0"/>
              <a:t>(D) Friction becomes zero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654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382-0AB1-BD5E-995B-BA572721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2897A-6CEE-9F33-CE3B-5AA8114A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Q3.</a:t>
            </a:r>
            <a:r>
              <a:rPr lang="en-US" dirty="0"/>
              <a:t> The force responsible for stopping a moving vehicle is:</a:t>
            </a:r>
            <a:br>
              <a:rPr lang="en-US" dirty="0"/>
            </a:br>
            <a:r>
              <a:rPr lang="en-US" dirty="0"/>
              <a:t>(A) Magnetic force</a:t>
            </a:r>
            <a:br>
              <a:rPr lang="en-US" dirty="0"/>
            </a:br>
            <a:r>
              <a:rPr lang="en-US" dirty="0"/>
              <a:t>(B) Frictional force</a:t>
            </a:r>
            <a:br>
              <a:rPr lang="en-US" dirty="0"/>
            </a:br>
            <a:r>
              <a:rPr lang="en-US" dirty="0"/>
              <a:t>(C) Electrostatic force</a:t>
            </a:r>
            <a:br>
              <a:rPr lang="en-US" dirty="0"/>
            </a:br>
            <a:r>
              <a:rPr lang="en-US" dirty="0"/>
              <a:t>(D) Gravitational force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272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8CC54-87CB-E355-0228-D91DAACF8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3F6F-3D9A-0717-84B4-0B0F954AD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Q4.</a:t>
            </a:r>
            <a:r>
              <a:rPr lang="en-US" dirty="0"/>
              <a:t> Which method will </a:t>
            </a:r>
            <a:r>
              <a:rPr lang="en-US" b="1" dirty="0"/>
              <a:t>NOT</a:t>
            </a:r>
            <a:r>
              <a:rPr lang="en-US" dirty="0"/>
              <a:t> help in reducing friction?</a:t>
            </a:r>
            <a:br>
              <a:rPr lang="en-US" dirty="0"/>
            </a:br>
            <a:r>
              <a:rPr lang="en-US" dirty="0"/>
              <a:t>(A) Lubrication</a:t>
            </a:r>
            <a:br>
              <a:rPr lang="en-US" dirty="0"/>
            </a:br>
            <a:r>
              <a:rPr lang="en-US" dirty="0"/>
              <a:t>(B) Using wheels</a:t>
            </a:r>
            <a:br>
              <a:rPr lang="en-US" dirty="0"/>
            </a:br>
            <a:r>
              <a:rPr lang="en-US" dirty="0"/>
              <a:t>(C) Making the surfaces rougher</a:t>
            </a:r>
            <a:br>
              <a:rPr lang="en-US" dirty="0"/>
            </a:br>
            <a:r>
              <a:rPr lang="en-US" dirty="0"/>
              <a:t>(D) Streamlining the shape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96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A7EB-B37F-49AF-EA4A-9186C58DA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A03D-6E5F-C920-E469-C2A21A96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Q1.</a:t>
            </a:r>
            <a:r>
              <a:rPr lang="en-US" dirty="0"/>
              <a:t> (D) Rolling friction</a:t>
            </a:r>
          </a:p>
          <a:p>
            <a:pPr>
              <a:buNone/>
            </a:pPr>
            <a:r>
              <a:rPr lang="en-US" b="1" dirty="0"/>
              <a:t>Q2.</a:t>
            </a:r>
            <a:r>
              <a:rPr lang="en-US" dirty="0"/>
              <a:t> (C) Friction increases</a:t>
            </a:r>
          </a:p>
          <a:p>
            <a:pPr>
              <a:buNone/>
            </a:pPr>
            <a:r>
              <a:rPr lang="en-US" b="1" dirty="0"/>
              <a:t>Q3.</a:t>
            </a:r>
            <a:r>
              <a:rPr lang="en-US" dirty="0"/>
              <a:t> (B) Frictional force</a:t>
            </a:r>
          </a:p>
          <a:p>
            <a:pPr marL="0" indent="0">
              <a:buNone/>
            </a:pPr>
            <a:r>
              <a:rPr lang="en-US" b="1" dirty="0"/>
              <a:t>Q4.</a:t>
            </a:r>
            <a:r>
              <a:rPr lang="en-US" dirty="0"/>
              <a:t> (C) Making the surfaces rougher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9654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F3FFC-5F4E-4F21-9D78-3AA8980DD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F35B2-7455-737D-7402-49C9DED32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AE18-4D5D-40ED-C0B4-B688F9CF8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78" y="2503096"/>
            <a:ext cx="8192643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138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AAFE-32B1-E8B4-8BAC-D47014CE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F6D19-ED8F-8293-4D61-68F646B9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7BA4-DCD7-AC51-FCC9-F7E61B054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872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E24FC-9B23-C37E-8CC2-75C27851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3885A-57F2-BD82-7F12-402E9EDA0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Hence, the correct answer is </a:t>
            </a:r>
            <a:r>
              <a:rPr lang="en-US" b="1" dirty="0"/>
              <a:t>(A)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592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33448-09EC-DAC3-A2F3-B6CAADFD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4AC40-C53A-5EA3-5E62-4B7D23FBB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2814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23</TotalTime>
  <Words>619</Words>
  <Application>Microsoft Office PowerPoint</Application>
  <PresentationFormat>Widescreen</PresentationFormat>
  <Paragraphs>72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Gill Sans MT</vt:lpstr>
      <vt:lpstr>Parcel</vt:lpstr>
      <vt:lpstr>FRICTION</vt:lpstr>
      <vt:lpstr>What is friction?</vt:lpstr>
      <vt:lpstr>Why does Friction occur?</vt:lpstr>
      <vt:lpstr>Types of Friction</vt:lpstr>
      <vt:lpstr>Remember</vt:lpstr>
      <vt:lpstr>Variation of Frictional Force with Applied Force </vt:lpstr>
      <vt:lpstr>Factors Affecting Friction</vt:lpstr>
      <vt:lpstr>Coefficient of Friction (μu) 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Sanskriti Jain</dc:creator>
  <cp:lastModifiedBy>Sanskriti Jain</cp:lastModifiedBy>
  <cp:revision>1</cp:revision>
  <dcterms:created xsi:type="dcterms:W3CDTF">2025-04-26T07:27:06Z</dcterms:created>
  <dcterms:modified xsi:type="dcterms:W3CDTF">2025-04-26T07:50:18Z</dcterms:modified>
</cp:coreProperties>
</file>