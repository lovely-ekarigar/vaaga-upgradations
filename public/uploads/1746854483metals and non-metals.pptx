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67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21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7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0CFEE-F445-49EA-87FA-88217721C395}" type="datetimeFigureOut">
              <a:rPr lang="en-IN" smtClean="0"/>
              <a:t>30-04-2025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0427F-4DE6-4AC7-ABD3-77BE6ECAA4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61442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0CFEE-F445-49EA-87FA-88217721C395}" type="datetimeFigureOut">
              <a:rPr lang="en-IN" smtClean="0"/>
              <a:t>30-04-2025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0427F-4DE6-4AC7-ABD3-77BE6ECAA4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6510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0CFEE-F445-49EA-87FA-88217721C395}" type="datetimeFigureOut">
              <a:rPr lang="en-IN" smtClean="0"/>
              <a:t>30-04-2025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0427F-4DE6-4AC7-ABD3-77BE6ECAA4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06294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0CFEE-F445-49EA-87FA-88217721C395}" type="datetimeFigureOut">
              <a:rPr lang="en-IN" smtClean="0"/>
              <a:t>30-04-2025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0427F-4DE6-4AC7-ABD3-77BE6ECAA4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78526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0CFEE-F445-49EA-87FA-88217721C395}" type="datetimeFigureOut">
              <a:rPr lang="en-IN" smtClean="0"/>
              <a:t>30-04-2025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0427F-4DE6-4AC7-ABD3-77BE6ECAA4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42808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0CFEE-F445-49EA-87FA-88217721C395}" type="datetimeFigureOut">
              <a:rPr lang="en-IN" smtClean="0"/>
              <a:t>30-04-2025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0427F-4DE6-4AC7-ABD3-77BE6ECAA4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59766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0CFEE-F445-49EA-87FA-88217721C395}" type="datetimeFigureOut">
              <a:rPr lang="en-IN" smtClean="0"/>
              <a:t>30-04-2025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0427F-4DE6-4AC7-ABD3-77BE6ECAA4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30481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0CFEE-F445-49EA-87FA-88217721C395}" type="datetimeFigureOut">
              <a:rPr lang="en-IN" smtClean="0"/>
              <a:t>30-04-2025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0427F-4DE6-4AC7-ABD3-77BE6ECAA4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17297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3980CFEE-F445-49EA-87FA-88217721C395}" type="datetimeFigureOut">
              <a:rPr lang="en-IN" smtClean="0"/>
              <a:t>30-04-2025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FF70427F-4DE6-4AC7-ABD3-77BE6ECAA4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34645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0CFEE-F445-49EA-87FA-88217721C395}" type="datetimeFigureOut">
              <a:rPr lang="en-IN" smtClean="0"/>
              <a:t>30-04-2025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0427F-4DE6-4AC7-ABD3-77BE6ECAA4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89544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0CFEE-F445-49EA-87FA-88217721C395}" type="datetimeFigureOut">
              <a:rPr lang="en-IN" smtClean="0"/>
              <a:t>30-04-2025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0427F-4DE6-4AC7-ABD3-77BE6ECAA4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70458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0CFEE-F445-49EA-87FA-88217721C395}" type="datetimeFigureOut">
              <a:rPr lang="en-IN" smtClean="0"/>
              <a:t>30-04-2025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0427F-4DE6-4AC7-ABD3-77BE6ECAA4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6384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0CFEE-F445-49EA-87FA-88217721C395}" type="datetimeFigureOut">
              <a:rPr lang="en-IN" smtClean="0"/>
              <a:t>30-04-2025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0427F-4DE6-4AC7-ABD3-77BE6ECAA4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624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0CFEE-F445-49EA-87FA-88217721C395}" type="datetimeFigureOut">
              <a:rPr lang="en-IN" smtClean="0"/>
              <a:t>30-04-2025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0427F-4DE6-4AC7-ABD3-77BE6ECAA4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32345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0CFEE-F445-49EA-87FA-88217721C395}" type="datetimeFigureOut">
              <a:rPr lang="en-IN" smtClean="0"/>
              <a:t>30-04-2025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0427F-4DE6-4AC7-ABD3-77BE6ECAA4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5908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0CFEE-F445-49EA-87FA-88217721C395}" type="datetimeFigureOut">
              <a:rPr lang="en-IN" smtClean="0"/>
              <a:t>30-04-2025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0427F-4DE6-4AC7-ABD3-77BE6ECAA4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479656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0CFEE-F445-49EA-87FA-88217721C395}" type="datetimeFigureOut">
              <a:rPr lang="en-IN" smtClean="0"/>
              <a:t>30-04-2025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0427F-4DE6-4AC7-ABD3-77BE6ECAA4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60357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3980CFEE-F445-49EA-87FA-88217721C395}" type="datetimeFigureOut">
              <a:rPr lang="en-IN" smtClean="0"/>
              <a:t>30-04-2025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FF70427F-4DE6-4AC7-ABD3-77BE6ECAA4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486895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20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2D08E-8909-A813-949C-E699D3E24D1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METALS AND NON-METALS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B4D880-A2F9-25AE-14F8-B45FFF47E1E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67185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3633EC-97AE-5DD3-C040-06C5E4B473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Classification of Elements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7F5F16F-393D-E9B6-7B3E-AC7B8F4ABEA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Antoine Lavoisier classified elements into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metals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non-metals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metalloids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based on their properties.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Metals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Iron, Copper, Gold, Silver,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Aluminium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Zinc, Lead.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Non-metals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Hydrogen, Oxygen, Nitrogen, Carbon, Sulphur, Phosphorus, Chlorine, Bromine, Iodine.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Metalloids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Boron, Silicon, Arsenic, Germanium.</a:t>
            </a:r>
          </a:p>
        </p:txBody>
      </p:sp>
    </p:spTree>
    <p:extLst>
      <p:ext uri="{BB962C8B-B14F-4D97-AF65-F5344CB8AC3E}">
        <p14:creationId xmlns:p14="http://schemas.microsoft.com/office/powerpoint/2010/main" val="20993739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7E5413-0753-97BB-C57C-E701DD40B9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Characteristics of Metals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3866CFF-34BE-BC39-7BD3-8E3DE6E9F26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Metals are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good conductors of heat and electricity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All metals are solid at room temperature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except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mercury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which is a liquid.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Metals are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malleable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(can be beaten into thin sheets) and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ductile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(can be drawn into wires).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Metals have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lustre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(shine) and can be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polished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Metals are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sonorous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they produce a ringing sound when struck.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Metals are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electropositive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they tend to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lose electrons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form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positive ions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(cations).</a:t>
            </a:r>
          </a:p>
        </p:txBody>
      </p:sp>
    </p:spTree>
    <p:extLst>
      <p:ext uri="{BB962C8B-B14F-4D97-AF65-F5344CB8AC3E}">
        <p14:creationId xmlns:p14="http://schemas.microsoft.com/office/powerpoint/2010/main" val="3052869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C4BC1-2D19-4895-A9D9-3909D8700C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Occurrence of Metals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E45DBA-F506-998A-31EA-3F09BA0BA4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Metals occur in </a:t>
            </a:r>
            <a:r>
              <a:rPr lang="en-US" b="1" dirty="0"/>
              <a:t>free state</a:t>
            </a:r>
            <a:r>
              <a:rPr lang="en-US" dirty="0"/>
              <a:t> or </a:t>
            </a:r>
            <a:r>
              <a:rPr lang="en-US" b="1" dirty="0"/>
              <a:t>combined state</a:t>
            </a:r>
            <a:r>
              <a:rPr lang="en-US" dirty="0"/>
              <a:t> in nature.</a:t>
            </a:r>
          </a:p>
          <a:p>
            <a:pPr>
              <a:buNone/>
            </a:pPr>
            <a:r>
              <a:rPr lang="en-US" b="1" dirty="0"/>
              <a:t>In free state</a:t>
            </a:r>
            <a:r>
              <a:rPr lang="en-US" dirty="0"/>
              <a:t> (less reactive):</a:t>
            </a:r>
            <a:br>
              <a:rPr lang="en-US" dirty="0"/>
            </a:br>
            <a:r>
              <a:rPr lang="en-US" dirty="0"/>
              <a:t>Gold, Silver, Platinum, Mercury.</a:t>
            </a:r>
          </a:p>
          <a:p>
            <a:pPr>
              <a:buNone/>
            </a:pPr>
            <a:r>
              <a:rPr lang="en-US" b="1" dirty="0"/>
              <a:t>In combined state</a:t>
            </a:r>
            <a:r>
              <a:rPr lang="en-US" dirty="0"/>
              <a:t> (more reactive):</a:t>
            </a:r>
            <a:br>
              <a:rPr lang="en-US" dirty="0"/>
            </a:br>
            <a:r>
              <a:rPr lang="en-US" dirty="0"/>
              <a:t>Sodium, Potassium, Calcium, Magnesium, </a:t>
            </a:r>
            <a:r>
              <a:rPr lang="en-US" dirty="0" err="1"/>
              <a:t>Aluminium</a:t>
            </a:r>
            <a:r>
              <a:rPr lang="en-US" dirty="0"/>
              <a:t>, Copper.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Metals not affected by air or water remain in free state. Others occur as </a:t>
            </a:r>
            <a:r>
              <a:rPr lang="en-US" b="1" dirty="0"/>
              <a:t>ores</a:t>
            </a:r>
            <a:r>
              <a:rPr lang="en-US" dirty="0"/>
              <a:t> and are extracted by </a:t>
            </a:r>
            <a:r>
              <a:rPr lang="en-US" b="1" dirty="0"/>
              <a:t>chemical or electrochemical processes</a:t>
            </a:r>
            <a:r>
              <a:rPr lang="en-US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56389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DE8FD4-7893-B10D-585A-D021ACA83D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Physical Properties of Metals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517B0B-BB85-789D-697D-3F09ADD115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Appearance</a:t>
            </a:r>
            <a:r>
              <a:rPr lang="en-US" dirty="0"/>
              <a:t>: All are shiny (metallic </a:t>
            </a:r>
            <a:r>
              <a:rPr lang="en-US" dirty="0" err="1"/>
              <a:t>lustre</a:t>
            </a:r>
            <a:r>
              <a:rPr lang="en-US" dirty="0"/>
              <a:t>). E.g., silver.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Hardness</a:t>
            </a:r>
            <a:r>
              <a:rPr lang="en-US" dirty="0"/>
              <a:t>: Most are hard. Sodium and potassium are soft.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Tensile Strength</a:t>
            </a:r>
            <a:r>
              <a:rPr lang="en-US" dirty="0"/>
              <a:t>: High; used in construction and machinery.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Malleability</a:t>
            </a:r>
            <a:r>
              <a:rPr lang="en-US" dirty="0"/>
              <a:t>: Can be hammered into sheets. E.g., aluminum foil.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Ductility</a:t>
            </a:r>
            <a:r>
              <a:rPr lang="en-US" dirty="0"/>
              <a:t>: Can be drawn into wires. E.g., copper, silver.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Conductivity</a:t>
            </a:r>
            <a:r>
              <a:rPr lang="en-US" dirty="0"/>
              <a:t>: Good conductors of heat and electricity. Silver is best, followed by copper.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Density</a:t>
            </a:r>
            <a:r>
              <a:rPr lang="en-US" dirty="0"/>
              <a:t>: High density (except sodium and potassium).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Sound</a:t>
            </a:r>
            <a:r>
              <a:rPr lang="en-US" dirty="0"/>
              <a:t>: Metals are sonorous.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245701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F89616-6125-D18B-0EE2-BB03FCFA13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7876" y="-352926"/>
            <a:ext cx="9905998" cy="1905000"/>
          </a:xfrm>
        </p:spPr>
        <p:txBody>
          <a:bodyPr/>
          <a:lstStyle/>
          <a:p>
            <a:r>
              <a:rPr lang="en-US" dirty="0"/>
              <a:t>Chemical Properties of Metals – Reactions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A0CF1B-5961-8CAB-F333-78785917F4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1219201"/>
            <a:ext cx="9905998" cy="4572000"/>
          </a:xfrm>
        </p:spPr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en-IN" b="1" dirty="0"/>
              <a:t>Definition</a:t>
            </a:r>
            <a:r>
              <a:rPr lang="en-IN" dirty="0"/>
              <a:t>: When metals react with oxygen, they form </a:t>
            </a:r>
            <a:r>
              <a:rPr lang="en-IN" b="1" dirty="0"/>
              <a:t>metal oxides</a:t>
            </a:r>
            <a:r>
              <a:rPr lang="en-IN" dirty="0"/>
              <a:t>. These oxides are usually </a:t>
            </a:r>
            <a:r>
              <a:rPr lang="en-IN" b="1" dirty="0"/>
              <a:t>basic</a:t>
            </a:r>
            <a:r>
              <a:rPr lang="en-IN" dirty="0"/>
              <a:t> in nature.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endParaRPr lang="en-IN" dirty="0"/>
          </a:p>
          <a:p>
            <a:pPr>
              <a:buNone/>
            </a:pPr>
            <a:endParaRPr lang="en-IN" dirty="0"/>
          </a:p>
          <a:p>
            <a:pPr>
              <a:buNone/>
            </a:pPr>
            <a:endParaRPr lang="en-IN" dirty="0"/>
          </a:p>
          <a:p>
            <a:pPr>
              <a:buNone/>
            </a:pPr>
            <a:endParaRPr lang="en-IN" dirty="0"/>
          </a:p>
          <a:p>
            <a:pPr>
              <a:buNone/>
            </a:pPr>
            <a:endParaRPr lang="en-IN" dirty="0"/>
          </a:p>
          <a:p>
            <a:pPr>
              <a:buNone/>
            </a:pPr>
            <a:endParaRPr lang="en-IN" dirty="0"/>
          </a:p>
          <a:p>
            <a:pPr>
              <a:buNone/>
            </a:pPr>
            <a:endParaRPr lang="en-IN" dirty="0"/>
          </a:p>
          <a:p>
            <a:pPr>
              <a:buNone/>
            </a:pPr>
            <a:endParaRPr lang="en-IN" dirty="0"/>
          </a:p>
          <a:p>
            <a:pPr>
              <a:buNone/>
            </a:pPr>
            <a:endParaRPr lang="en-IN" dirty="0"/>
          </a:p>
          <a:p>
            <a:pPr>
              <a:buNone/>
            </a:pPr>
            <a:endParaRPr lang="en-IN" dirty="0"/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b="1" dirty="0"/>
              <a:t>Reactivity Order (with Oxygen):</a:t>
            </a:r>
          </a:p>
          <a:p>
            <a:r>
              <a:rPr lang="en-IN" b="1" dirty="0"/>
              <a:t>Sodium &gt; Magnesium &gt; Zinc &gt; Iron &gt; Copper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A9A8922-8138-9AC5-5437-2AFDB355CE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2168" y="1674733"/>
            <a:ext cx="5112127" cy="3281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57919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4B568D-91FF-4625-2B56-8B62609F38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-1604211"/>
            <a:ext cx="9905998" cy="1905000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08DA07-BA30-E781-FAAC-91AB5422E2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7034" y="-651711"/>
            <a:ext cx="9905998" cy="3124201"/>
          </a:xfrm>
        </p:spPr>
        <p:txBody>
          <a:bodyPr/>
          <a:lstStyle/>
          <a:p>
            <a:pPr>
              <a:buNone/>
            </a:pPr>
            <a:r>
              <a:rPr lang="en-US" b="1" dirty="0"/>
              <a:t>2. Reaction with Water</a:t>
            </a:r>
          </a:p>
          <a:p>
            <a:r>
              <a:rPr lang="en-US" b="1" dirty="0"/>
              <a:t>Definition</a:t>
            </a:r>
            <a:r>
              <a:rPr lang="en-US" dirty="0"/>
              <a:t>: Metals react with water to form </a:t>
            </a:r>
            <a:r>
              <a:rPr lang="en-US" b="1" dirty="0"/>
              <a:t>metal hydroxide (if cold/hot water)</a:t>
            </a:r>
            <a:r>
              <a:rPr lang="en-US" dirty="0"/>
              <a:t> or </a:t>
            </a:r>
            <a:r>
              <a:rPr lang="en-US" b="1" dirty="0"/>
              <a:t>metal oxide (if steam)</a:t>
            </a:r>
            <a:r>
              <a:rPr lang="en-US" dirty="0"/>
              <a:t>, along with </a:t>
            </a:r>
            <a:r>
              <a:rPr lang="en-US" b="1" dirty="0"/>
              <a:t>hydrogen gas (H₂)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B7CB943-A3D2-9A59-EE4A-6D4A93A001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7863" y="1437997"/>
            <a:ext cx="7516274" cy="398200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4B4EC24-6135-86DD-2100-3CF16F43E008}"/>
              </a:ext>
            </a:extLst>
          </p:cNvPr>
          <p:cNvSpPr txBox="1"/>
          <p:nvPr/>
        </p:nvSpPr>
        <p:spPr>
          <a:xfrm>
            <a:off x="2759242" y="5700646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Reactivity Order (with Water):</a:t>
            </a:r>
          </a:p>
          <a:p>
            <a:r>
              <a:rPr lang="en-US" b="1" dirty="0"/>
              <a:t>Sodium &gt; Magnesium &gt; Iron &gt; Copper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61998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CA86B9-CD42-C6AD-FF3F-E88728712E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-128337"/>
            <a:ext cx="9905998" cy="1905000"/>
          </a:xfrm>
        </p:spPr>
        <p:txBody>
          <a:bodyPr>
            <a:normAutofit/>
          </a:bodyPr>
          <a:lstStyle/>
          <a:p>
            <a:r>
              <a:rPr lang="en-US" sz="1600" b="1" dirty="0"/>
              <a:t>3. Reaction with Acids</a:t>
            </a:r>
            <a:br>
              <a:rPr lang="en-US" sz="1600" b="1" dirty="0"/>
            </a:br>
            <a:r>
              <a:rPr lang="en-US" sz="1600" b="1" dirty="0"/>
              <a:t>Definition</a:t>
            </a:r>
            <a:r>
              <a:rPr lang="en-US" sz="1600" dirty="0"/>
              <a:t>: Metals react with </a:t>
            </a:r>
            <a:r>
              <a:rPr lang="en-US" sz="1600" b="1" dirty="0"/>
              <a:t>dilute acids</a:t>
            </a:r>
            <a:r>
              <a:rPr lang="en-US" sz="1600" dirty="0"/>
              <a:t> like HCl or H₂SO₄ to form </a:t>
            </a:r>
            <a:r>
              <a:rPr lang="en-US" sz="1600" b="1" dirty="0"/>
              <a:t>salt</a:t>
            </a:r>
            <a:r>
              <a:rPr lang="en-US" sz="1600" dirty="0"/>
              <a:t> and </a:t>
            </a:r>
            <a:r>
              <a:rPr lang="en-US" sz="1600" b="1" dirty="0"/>
              <a:t>hydrogen gas</a:t>
            </a:r>
            <a:r>
              <a:rPr lang="en-US" sz="1600" dirty="0"/>
              <a:t>.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337BB8-4893-CA80-A8C9-AE460DCCAB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8DC5D0-D343-24C1-5B6E-31ADE17C0E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5761" y="824163"/>
            <a:ext cx="6937301" cy="457054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71E3AEB-D4CF-CC5D-7641-26055E53DF70}"/>
              </a:ext>
            </a:extLst>
          </p:cNvPr>
          <p:cNvSpPr txBox="1"/>
          <p:nvPr/>
        </p:nvSpPr>
        <p:spPr>
          <a:xfrm>
            <a:off x="3176337" y="5791200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Reactivity Series (with Acids):</a:t>
            </a:r>
          </a:p>
          <a:p>
            <a:r>
              <a:rPr lang="en-US" b="1" dirty="0"/>
              <a:t>Sodium &gt; Magnesium &gt; Zinc &gt; Iron &gt; Copper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44031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95449-F7C3-1AF1-6807-BEA30238D7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Uses of Common Metals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0CC540B-E821-73C0-0D68-EDA8CDD73D7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141413" y="2766060"/>
          <a:ext cx="9906000" cy="2926080"/>
        </p:xfrm>
        <a:graphic>
          <a:graphicData uri="http://schemas.openxmlformats.org/drawingml/2006/table">
            <a:tbl>
              <a:tblPr/>
              <a:tblGrid>
                <a:gridCol w="4953000">
                  <a:extLst>
                    <a:ext uri="{9D8B030D-6E8A-4147-A177-3AD203B41FA5}">
                      <a16:colId xmlns:a16="http://schemas.microsoft.com/office/drawing/2014/main" val="1072163822"/>
                    </a:ext>
                  </a:extLst>
                </a:gridCol>
                <a:gridCol w="4953000">
                  <a:extLst>
                    <a:ext uri="{9D8B030D-6E8A-4147-A177-3AD203B41FA5}">
                      <a16:colId xmlns:a16="http://schemas.microsoft.com/office/drawing/2014/main" val="368404736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Metal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b="1"/>
                        <a:t>Main Uses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294497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Iron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Construction, steel, machines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676401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Copper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Electrical wires, utensils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033933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Silver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Jewelry, photography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239158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Gold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Jewelry, decorative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929319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Mercury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Thermometers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062846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Aluminium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Wires, foils, paints, utensils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774237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Lead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Batteries, pipes, X-ray shields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43036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313367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1F20B-05C7-450C-60AA-6F51F3B096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Quick Recap &amp; Quiz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90298EF-15CB-9311-47D3-E2BE370E4AA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Why is silver used in electrical contacts?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What happens when sodium reacts with water?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Define ductility with an example.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Arrange in increasing reactivity: Copper, Zinc, Magnesium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Name a metal that is liquid at room temperature.</a:t>
            </a:r>
          </a:p>
        </p:txBody>
      </p:sp>
    </p:spTree>
    <p:extLst>
      <p:ext uri="{BB962C8B-B14F-4D97-AF65-F5344CB8AC3E}">
        <p14:creationId xmlns:p14="http://schemas.microsoft.com/office/powerpoint/2010/main" val="8649538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36A34B-74AF-E646-576B-6F8C54AFA7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Characteristics of Non-Metals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331339-7C74-47A3-8CAD-B5DF63CD45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Mostly found as </a:t>
            </a:r>
            <a:r>
              <a:rPr lang="en-US" b="1" dirty="0"/>
              <a:t>solids, liquids, or gases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Non-metals are </a:t>
            </a:r>
            <a:r>
              <a:rPr lang="en-US" b="1" dirty="0"/>
              <a:t>non-lustrous</a:t>
            </a:r>
            <a:r>
              <a:rPr lang="en-US" dirty="0"/>
              <a:t> (except iodine), </a:t>
            </a:r>
            <a:r>
              <a:rPr lang="en-US" b="1" dirty="0"/>
              <a:t>brittle</a:t>
            </a:r>
            <a:r>
              <a:rPr lang="en-US" dirty="0"/>
              <a:t>, and </a:t>
            </a:r>
            <a:r>
              <a:rPr lang="en-US" b="1" dirty="0"/>
              <a:t>poor conductors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Non-metals are </a:t>
            </a:r>
            <a:r>
              <a:rPr lang="en-US" b="1" dirty="0"/>
              <a:t>electronegative</a:t>
            </a:r>
            <a:r>
              <a:rPr lang="en-US" dirty="0"/>
              <a:t> – they tend to </a:t>
            </a:r>
            <a:r>
              <a:rPr lang="en-US" b="1" dirty="0"/>
              <a:t>gain electrons</a:t>
            </a:r>
            <a:r>
              <a:rPr lang="en-US" dirty="0"/>
              <a:t> and form </a:t>
            </a:r>
            <a:r>
              <a:rPr lang="en-US" b="1" dirty="0"/>
              <a:t>anions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Non-metals have </a:t>
            </a:r>
            <a:r>
              <a:rPr lang="en-US" b="1" dirty="0"/>
              <a:t>low melting and boiling points</a:t>
            </a:r>
            <a:r>
              <a:rPr lang="en-US" dirty="0"/>
              <a:t> (except graphite and diamond).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641622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8FAEC-A776-00A3-2AEE-1619E19B36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Occurrence of Non-Metals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6E53C79-B848-FA22-A926-549000FE27D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141413" y="2948940"/>
          <a:ext cx="9906000" cy="2560320"/>
        </p:xfrm>
        <a:graphic>
          <a:graphicData uri="http://schemas.openxmlformats.org/drawingml/2006/table">
            <a:tbl>
              <a:tblPr/>
              <a:tblGrid>
                <a:gridCol w="3302000">
                  <a:extLst>
                    <a:ext uri="{9D8B030D-6E8A-4147-A177-3AD203B41FA5}">
                      <a16:colId xmlns:a16="http://schemas.microsoft.com/office/drawing/2014/main" val="360211031"/>
                    </a:ext>
                  </a:extLst>
                </a:gridCol>
                <a:gridCol w="3302000">
                  <a:extLst>
                    <a:ext uri="{9D8B030D-6E8A-4147-A177-3AD203B41FA5}">
                      <a16:colId xmlns:a16="http://schemas.microsoft.com/office/drawing/2014/main" val="2376549674"/>
                    </a:ext>
                  </a:extLst>
                </a:gridCol>
                <a:gridCol w="3302000">
                  <a:extLst>
                    <a:ext uri="{9D8B030D-6E8A-4147-A177-3AD203B41FA5}">
                      <a16:colId xmlns:a16="http://schemas.microsoft.com/office/drawing/2014/main" val="141631706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Non-metal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b="1"/>
                        <a:t>Free state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b="1"/>
                        <a:t>Combined form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447375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Nitrogen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Air (78%)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Proteins, soil nitrates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493323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Oxygen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Air (21%)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Water, oxides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936359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Hydrogen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Water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Organic compounds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276979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Sulphur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Native ores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Sulphates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312639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Phosphorus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Bones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Phosphates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596790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Carbon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Coal, diamond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CO₂, carbohydrates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5862195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DCC64D79-39F8-161C-4288-20557CD29635}"/>
              </a:ext>
            </a:extLst>
          </p:cNvPr>
          <p:cNvSpPr txBox="1"/>
          <p:nvPr/>
        </p:nvSpPr>
        <p:spPr>
          <a:xfrm>
            <a:off x="2470484" y="594360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Extracted from </a:t>
            </a:r>
            <a:r>
              <a:rPr lang="en-US" b="1" dirty="0"/>
              <a:t>air, ores, or by-products of industry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634941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A653A-02D5-6084-EFD3-02090811F5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Physical Properties of Non-Metals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EDCFBD-0C7C-2F39-1EA2-260B7B3939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Physical State</a:t>
            </a:r>
            <a:r>
              <a:rPr lang="en-IN" dirty="0"/>
              <a:t>: Solids (S, P), liquids (Br₂), gases (H₂, N₂).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Colour</a:t>
            </a:r>
            <a:r>
              <a:rPr lang="en-IN" dirty="0"/>
              <a:t>: Varied – Sulphur (yellow), Phosphorus (white/red), Bromine (reddish-brown).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Appearance</a:t>
            </a:r>
            <a:r>
              <a:rPr lang="en-IN" dirty="0"/>
              <a:t>: Dull (except iodine and graphite).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Brittle</a:t>
            </a:r>
            <a:r>
              <a:rPr lang="en-IN" dirty="0"/>
              <a:t>: Break easily, not malleable or ductile.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Conductivity</a:t>
            </a:r>
            <a:r>
              <a:rPr lang="en-IN" dirty="0"/>
              <a:t>: Poor conductors (except graphite).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Density</a:t>
            </a:r>
            <a:r>
              <a:rPr lang="en-IN" dirty="0"/>
              <a:t>: Usually low.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Sound</a:t>
            </a:r>
            <a:r>
              <a:rPr lang="en-IN" dirty="0"/>
              <a:t>: Non-sonorous.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504572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A5D6CD-F6A8-DDA5-03CC-17F3F0F8B2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Chemical Properties of Non-Metals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6EFA6B-5524-9985-5664-DE0D49083C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/>
              <a:t>Electronegative Nature</a:t>
            </a:r>
            <a:r>
              <a:rPr lang="en-US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Tend to gain electrons to form </a:t>
            </a:r>
            <a:r>
              <a:rPr lang="en-US" b="1" dirty="0"/>
              <a:t>anions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Example:</a:t>
            </a:r>
            <a:br>
              <a:rPr lang="en-US" dirty="0"/>
            </a:br>
            <a:r>
              <a:rPr lang="en-US" dirty="0"/>
              <a:t>Cl + e⁻ → Cl⁻</a:t>
            </a:r>
            <a:br>
              <a:rPr lang="en-US" dirty="0"/>
            </a:br>
            <a:r>
              <a:rPr lang="en-US" dirty="0"/>
              <a:t>O + 2e⁻ → O²⁻</a:t>
            </a:r>
          </a:p>
          <a:p>
            <a:r>
              <a:rPr lang="en-US" b="1" dirty="0"/>
              <a:t>Hydrogen Exception</a:t>
            </a:r>
            <a:r>
              <a:rPr lang="en-US" dirty="0"/>
              <a:t>: Can act as both electropositive and electronegative.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76019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1BDB4A-C7A8-8008-FA60-CA4CE10DE3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9118" y="-529390"/>
            <a:ext cx="9905998" cy="1905000"/>
          </a:xfrm>
        </p:spPr>
        <p:txBody>
          <a:bodyPr/>
          <a:lstStyle/>
          <a:p>
            <a:r>
              <a:rPr lang="en-IN" dirty="0"/>
              <a:t>Reactions of Non-Metals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7C69E5-BE5F-A8B8-5B22-4FEC9E36DB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0570" y="-529390"/>
            <a:ext cx="9905998" cy="52056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/>
              <a:t>1. Reaction with Oxygen</a:t>
            </a:r>
          </a:p>
          <a:p>
            <a:pPr>
              <a:buNone/>
            </a:pPr>
            <a:r>
              <a:rPr lang="en-US" b="1" dirty="0"/>
              <a:t>Definition</a:t>
            </a:r>
            <a:r>
              <a:rPr lang="en-US" dirty="0"/>
              <a:t>: Non-metals combine with oxygen to form </a:t>
            </a:r>
            <a:r>
              <a:rPr lang="en-US" b="1" dirty="0"/>
              <a:t>non-metallic oxides</a:t>
            </a:r>
            <a:r>
              <a:rPr lang="en-US" dirty="0"/>
              <a:t>, which are usually </a:t>
            </a:r>
            <a:r>
              <a:rPr lang="en-US" b="1" dirty="0"/>
              <a:t>acidic</a:t>
            </a:r>
            <a:r>
              <a:rPr lang="en-US" dirty="0"/>
              <a:t> in nature.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257FB319-31A9-6C7F-C3C2-95B0564F27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S+O2​→SO2​(acidic oxide)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C3C6C3B-D18F-8E4B-A2EE-2010041D1C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1980" y="2264140"/>
            <a:ext cx="6620274" cy="4303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6585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585990-FF54-6965-6D54-93FBF1A0BC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7034" y="-1636294"/>
            <a:ext cx="9905998" cy="1905000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DC6F6C-71B0-E1E5-61DF-5AA2113E01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7034" y="-557465"/>
            <a:ext cx="9905998" cy="3124201"/>
          </a:xfrm>
        </p:spPr>
        <p:txBody>
          <a:bodyPr/>
          <a:lstStyle/>
          <a:p>
            <a:pPr>
              <a:buNone/>
            </a:pPr>
            <a:r>
              <a:rPr lang="en-US" b="1" dirty="0"/>
              <a:t>2. Reaction with Hydrogen</a:t>
            </a:r>
          </a:p>
          <a:p>
            <a:r>
              <a:rPr lang="en-US" b="1" dirty="0"/>
              <a:t>Definition</a:t>
            </a:r>
            <a:r>
              <a:rPr lang="en-US" dirty="0"/>
              <a:t>: Non-metals react with hydrogen to form </a:t>
            </a:r>
            <a:r>
              <a:rPr lang="en-US" b="1" dirty="0"/>
              <a:t>covalent compounds</a:t>
            </a:r>
            <a:r>
              <a:rPr lang="en-US" dirty="0"/>
              <a:t> known as </a:t>
            </a:r>
            <a:r>
              <a:rPr lang="en-US" b="1" dirty="0"/>
              <a:t>hydrides</a:t>
            </a:r>
            <a:r>
              <a:rPr lang="en-US" dirty="0"/>
              <a:t>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7C48E1A-20E0-2658-40A4-7D8442A92A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6565" y="1419960"/>
            <a:ext cx="8258869" cy="4451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73469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5172E2-C372-31D6-DDDF-01E0B5BE92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28D9DE-E0CB-D043-7C79-434B8B54F9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-609601"/>
            <a:ext cx="9905998" cy="3124201"/>
          </a:xfrm>
        </p:spPr>
        <p:txBody>
          <a:bodyPr/>
          <a:lstStyle/>
          <a:p>
            <a:pPr>
              <a:buNone/>
            </a:pPr>
            <a:r>
              <a:rPr lang="en-US" b="1" dirty="0"/>
              <a:t>3. Reaction with Halogens</a:t>
            </a:r>
          </a:p>
          <a:p>
            <a:r>
              <a:rPr lang="en-US" b="1" dirty="0"/>
              <a:t>Definition</a:t>
            </a:r>
            <a:r>
              <a:rPr lang="en-US" dirty="0"/>
              <a:t>: Non-metals react with halogens (like Cl₂, F₂) to form </a:t>
            </a:r>
            <a:r>
              <a:rPr lang="en-US" b="1" dirty="0"/>
              <a:t>halides</a:t>
            </a:r>
            <a:r>
              <a:rPr lang="en-US" dirty="0"/>
              <a:t>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16E821-3EA9-08E4-B1F1-D1111F7E31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7951" y="2245894"/>
            <a:ext cx="6757079" cy="3351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71669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ACC29B-BB50-044C-7C5C-B8743650B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-3240506"/>
            <a:ext cx="9905998" cy="19050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121F70-D8E9-5ADB-5178-546050D7D0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6823" y="453189"/>
            <a:ext cx="9905998" cy="3124201"/>
          </a:xfrm>
        </p:spPr>
        <p:txBody>
          <a:bodyPr/>
          <a:lstStyle/>
          <a:p>
            <a:pPr>
              <a:buNone/>
            </a:pPr>
            <a:r>
              <a:rPr lang="en-US" b="1" dirty="0"/>
              <a:t>4. Reaction with Acids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Most </a:t>
            </a:r>
            <a:r>
              <a:rPr lang="en-US" b="1" dirty="0"/>
              <a:t>non-metals do not react</a:t>
            </a:r>
            <a:r>
              <a:rPr lang="en-US" dirty="0"/>
              <a:t> with dilute acids to release hydrogen gas.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Some may form </a:t>
            </a:r>
            <a:r>
              <a:rPr lang="en-US" b="1" dirty="0"/>
              <a:t>complex acids</a:t>
            </a:r>
            <a:r>
              <a:rPr lang="en-US" dirty="0"/>
              <a:t> like:</a:t>
            </a:r>
          </a:p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2AF3266-8C44-EC08-ACAF-F7D5E7D6A4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0154" y="3114631"/>
            <a:ext cx="4591691" cy="628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71283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B7319F-B39C-B099-895B-F9716E5F58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1800" b="1" dirty="0"/>
              <a:t>5. Displacement Reactions (Halogen Activity)</a:t>
            </a:r>
            <a:br>
              <a:rPr lang="en-US" sz="1800" b="1" dirty="0"/>
            </a:br>
            <a:r>
              <a:rPr lang="en-US" sz="1800" dirty="0"/>
              <a:t>More reactive non-metals can displace less reactive ones from their compounds.</a:t>
            </a:r>
            <a:br>
              <a:rPr lang="en-US" sz="1800" dirty="0"/>
            </a:br>
            <a:endParaRPr lang="en-IN" sz="1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13AC23-7001-9D30-DB00-16DF5E9738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DD0FB60-8839-1A1E-CF2C-9412F47491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0386" y="2176393"/>
            <a:ext cx="5925377" cy="98121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A50203D-0FDD-9BC4-A359-23D25B4F95DE}"/>
              </a:ext>
            </a:extLst>
          </p:cNvPr>
          <p:cNvSpPr txBox="1"/>
          <p:nvPr/>
        </p:nvSpPr>
        <p:spPr>
          <a:xfrm>
            <a:off x="1411705" y="3801068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Explanation: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Chlorine</a:t>
            </a:r>
            <a:r>
              <a:rPr lang="en-US" dirty="0"/>
              <a:t> is more reactive than </a:t>
            </a:r>
            <a:r>
              <a:rPr lang="en-US" b="1" dirty="0"/>
              <a:t>bromine</a:t>
            </a:r>
            <a:r>
              <a:rPr lang="en-US" dirty="0"/>
              <a:t>, so it displaces bromine from potassium bromide.</a:t>
            </a:r>
          </a:p>
        </p:txBody>
      </p:sp>
    </p:spTree>
    <p:extLst>
      <p:ext uri="{BB962C8B-B14F-4D97-AF65-F5344CB8AC3E}">
        <p14:creationId xmlns:p14="http://schemas.microsoft.com/office/powerpoint/2010/main" val="34348148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D144CE-F0EB-9826-D1C3-26023C9A29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Oxide Nature – Comparison Table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2F5154F-95D8-38B5-D10E-D939A168B5B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36039535"/>
              </p:ext>
            </p:extLst>
          </p:nvPr>
        </p:nvGraphicFramePr>
        <p:xfrm>
          <a:off x="1141411" y="2207794"/>
          <a:ext cx="9906000" cy="1828800"/>
        </p:xfrm>
        <a:graphic>
          <a:graphicData uri="http://schemas.openxmlformats.org/drawingml/2006/table">
            <a:tbl>
              <a:tblPr/>
              <a:tblGrid>
                <a:gridCol w="3302000">
                  <a:extLst>
                    <a:ext uri="{9D8B030D-6E8A-4147-A177-3AD203B41FA5}">
                      <a16:colId xmlns:a16="http://schemas.microsoft.com/office/drawing/2014/main" val="4009090046"/>
                    </a:ext>
                  </a:extLst>
                </a:gridCol>
                <a:gridCol w="3302000">
                  <a:extLst>
                    <a:ext uri="{9D8B030D-6E8A-4147-A177-3AD203B41FA5}">
                      <a16:colId xmlns:a16="http://schemas.microsoft.com/office/drawing/2014/main" val="3466635639"/>
                    </a:ext>
                  </a:extLst>
                </a:gridCol>
                <a:gridCol w="3302000">
                  <a:extLst>
                    <a:ext uri="{9D8B030D-6E8A-4147-A177-3AD203B41FA5}">
                      <a16:colId xmlns:a16="http://schemas.microsoft.com/office/drawing/2014/main" val="381603314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/>
                        <a:t>Substance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Reaction in Water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Nature of Oxide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656147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MgO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MgO + H₂O → Mg(OH)₂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Basic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325978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CO₂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CO₂ + H₂O → H₂CO₃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Acidic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181071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SO₂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SO₂ + H₂O → H₂SO₃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Acidic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304065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Na₂O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Na₂O + H₂O → 2NaOH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Basic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163174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DC2C095D-18A5-0B73-93E1-546B315D5B34}"/>
              </a:ext>
            </a:extLst>
          </p:cNvPr>
          <p:cNvSpPr txBox="1"/>
          <p:nvPr/>
        </p:nvSpPr>
        <p:spPr>
          <a:xfrm>
            <a:off x="3336758" y="4711458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Litmus Test</a:t>
            </a:r>
            <a:r>
              <a:rPr lang="en-US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Basic oxides</a:t>
            </a:r>
            <a:r>
              <a:rPr lang="en-US" dirty="0"/>
              <a:t> turn </a:t>
            </a:r>
            <a:r>
              <a:rPr lang="en-US" b="1" dirty="0"/>
              <a:t>red litmus blue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Acidic oxides</a:t>
            </a:r>
            <a:r>
              <a:rPr lang="en-US" dirty="0"/>
              <a:t> turn </a:t>
            </a:r>
            <a:r>
              <a:rPr lang="en-US" b="1" dirty="0"/>
              <a:t>blue litmus red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090282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5EC65-61A8-E9DE-96E7-C0380C900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3076" y="-288758"/>
            <a:ext cx="9905998" cy="1905000"/>
          </a:xfrm>
        </p:spPr>
        <p:txBody>
          <a:bodyPr/>
          <a:lstStyle/>
          <a:p>
            <a:r>
              <a:rPr lang="en-IN" dirty="0"/>
              <a:t>Uses of Non-Metals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4AC5D19-D96F-02BC-6D0A-04BCDF4688E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15903322"/>
              </p:ext>
            </p:extLst>
          </p:nvPr>
        </p:nvGraphicFramePr>
        <p:xfrm>
          <a:off x="1013074" y="2323298"/>
          <a:ext cx="9906000" cy="2560320"/>
        </p:xfrm>
        <a:graphic>
          <a:graphicData uri="http://schemas.openxmlformats.org/drawingml/2006/table">
            <a:tbl>
              <a:tblPr/>
              <a:tblGrid>
                <a:gridCol w="4953000">
                  <a:extLst>
                    <a:ext uri="{9D8B030D-6E8A-4147-A177-3AD203B41FA5}">
                      <a16:colId xmlns:a16="http://schemas.microsoft.com/office/drawing/2014/main" val="973990564"/>
                    </a:ext>
                  </a:extLst>
                </a:gridCol>
                <a:gridCol w="4953000">
                  <a:extLst>
                    <a:ext uri="{9D8B030D-6E8A-4147-A177-3AD203B41FA5}">
                      <a16:colId xmlns:a16="http://schemas.microsoft.com/office/drawing/2014/main" val="23093181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Non-metal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b="1"/>
                        <a:t>Use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989489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Carbon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Fuel, pencils, diamonds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818097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Sulphur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Gunpowder, rubber, sulphuric acid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115966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Phosphorus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Matches, fertilizers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147253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Nitrogen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Ammonia, nitric acid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863633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Chlorine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Sterilisation, bleaching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295493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Hydrogen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Welding, fuels, ammonia synthesis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2012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585778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3A20F-30C2-2719-A9DB-D4A2BFD103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0"/>
            <a:ext cx="9905998" cy="1905000"/>
          </a:xfrm>
        </p:spPr>
        <p:txBody>
          <a:bodyPr/>
          <a:lstStyle/>
          <a:p>
            <a:r>
              <a:rPr lang="en-IN" dirty="0"/>
              <a:t>Recap &amp; Olympiad-Style Questions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9E8F1CD-49F0-2269-A005-26EEF9F3349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41413" y="1905000"/>
            <a:ext cx="9905998" cy="31242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Why does graphite conduct electricity but not diamond?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Which non-metal is used in fertilizers and explosives?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What are acidic oxides? Give examples.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Fill in the blank: __________ is the only non-metal that conducts electricity.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State whether the following statement is True or False:</a:t>
            </a: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“Non-metals are sonorous.”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810651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F46E61-0F02-3485-F17E-DCDC5412EA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4CD739-E5D1-C211-03C8-6C70847E1B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212922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sh">
  <a:themeElements>
    <a:clrScheme name="Mesh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esh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esh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TM03457485[[fn=Mesh]]</Template>
  <TotalTime>35</TotalTime>
  <Words>1116</Words>
  <Application>Microsoft Office PowerPoint</Application>
  <PresentationFormat>Widescreen</PresentationFormat>
  <Paragraphs>170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Century Gothic</vt:lpstr>
      <vt:lpstr>Mesh</vt:lpstr>
      <vt:lpstr>METALS AND NON-METALS</vt:lpstr>
      <vt:lpstr>Classification of Elements</vt:lpstr>
      <vt:lpstr>Characteristics of Metals</vt:lpstr>
      <vt:lpstr>Occurrence of Metals</vt:lpstr>
      <vt:lpstr>Physical Properties of Metals </vt:lpstr>
      <vt:lpstr>Chemical Properties of Metals – Reactions</vt:lpstr>
      <vt:lpstr>PowerPoint Presentation</vt:lpstr>
      <vt:lpstr>3. Reaction with Acids Definition: Metals react with dilute acids like HCl or H₂SO₄ to form salt and hydrogen gas. </vt:lpstr>
      <vt:lpstr>Uses of Common Metals</vt:lpstr>
      <vt:lpstr>Quick Recap &amp; Quiz</vt:lpstr>
      <vt:lpstr>Characteristics of Non-Metals</vt:lpstr>
      <vt:lpstr>Occurrence of Non-Metals</vt:lpstr>
      <vt:lpstr>Physical Properties of Non-Metals</vt:lpstr>
      <vt:lpstr>Chemical Properties of Non-Metals</vt:lpstr>
      <vt:lpstr>Reactions of Non-Metals</vt:lpstr>
      <vt:lpstr>PowerPoint Presentation</vt:lpstr>
      <vt:lpstr>PowerPoint Presentation</vt:lpstr>
      <vt:lpstr>PowerPoint Presentation</vt:lpstr>
      <vt:lpstr>5. Displacement Reactions (Halogen Activity) More reactive non-metals can displace less reactive ones from their compounds. </vt:lpstr>
      <vt:lpstr>Oxide Nature – Comparison Table</vt:lpstr>
      <vt:lpstr>Uses of Non-Metals</vt:lpstr>
      <vt:lpstr>Recap &amp; Olympiad-Style Questions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Sanskriti Jain</dc:creator>
  <cp:lastModifiedBy>Sanskriti Jain</cp:lastModifiedBy>
  <cp:revision>1</cp:revision>
  <dcterms:created xsi:type="dcterms:W3CDTF">2025-04-30T17:00:31Z</dcterms:created>
  <dcterms:modified xsi:type="dcterms:W3CDTF">2025-04-30T17:36:31Z</dcterms:modified>
</cp:coreProperties>
</file>