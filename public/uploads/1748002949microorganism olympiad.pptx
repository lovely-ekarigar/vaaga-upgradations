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78" r:id="rId7"/>
    <p:sldId id="262" r:id="rId8"/>
    <p:sldId id="263" r:id="rId9"/>
    <p:sldId id="264" r:id="rId10"/>
    <p:sldId id="279" r:id="rId11"/>
    <p:sldId id="265" r:id="rId12"/>
    <p:sldId id="266" r:id="rId13"/>
    <p:sldId id="280" r:id="rId14"/>
    <p:sldId id="267" r:id="rId15"/>
    <p:sldId id="281" r:id="rId16"/>
    <p:sldId id="282" r:id="rId17"/>
    <p:sldId id="268" r:id="rId18"/>
    <p:sldId id="269" r:id="rId19"/>
    <p:sldId id="270" r:id="rId20"/>
    <p:sldId id="271" r:id="rId21"/>
    <p:sldId id="272" r:id="rId22"/>
    <p:sldId id="283" r:id="rId23"/>
    <p:sldId id="273" r:id="rId24"/>
    <p:sldId id="274" r:id="rId25"/>
    <p:sldId id="275" r:id="rId26"/>
    <p:sldId id="257" r:id="rId27"/>
  </p:sldIdLst>
  <p:sldSz cx="18288000" cy="10287000"/>
  <p:notesSz cx="6858000" cy="9144000"/>
  <p:embeddedFontLst>
    <p:embeddedFont>
      <p:font typeface="Canva Sans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3D0E5B-1E2F-3364-AC6F-25945CC6FC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90500"/>
            <a:ext cx="2181225" cy="7125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06986" y="6560301"/>
            <a:ext cx="649224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-184800" y="0"/>
            <a:ext cx="19445557" cy="12250701"/>
          </a:xfrm>
          <a:custGeom>
            <a:avLst/>
            <a:gdLst/>
            <a:ahLst/>
            <a:cxnLst/>
            <a:rect l="l" t="t" r="r" b="b"/>
            <a:pathLst>
              <a:path w="19445557" h="12250701">
                <a:moveTo>
                  <a:pt x="0" y="0"/>
                </a:moveTo>
                <a:lnTo>
                  <a:pt x="19445557" y="0"/>
                </a:lnTo>
                <a:lnTo>
                  <a:pt x="19445557" y="12250701"/>
                </a:lnTo>
                <a:lnTo>
                  <a:pt x="0" y="12250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906212" cy="10634744"/>
          </a:xfrm>
          <a:custGeom>
            <a:avLst/>
            <a:gdLst/>
            <a:ahLst/>
            <a:cxnLst/>
            <a:rect l="l" t="t" r="r" b="b"/>
            <a:pathLst>
              <a:path w="18906212" h="10634744">
                <a:moveTo>
                  <a:pt x="0" y="0"/>
                </a:moveTo>
                <a:lnTo>
                  <a:pt x="18906212" y="0"/>
                </a:lnTo>
                <a:lnTo>
                  <a:pt x="18906212" y="10634744"/>
                </a:lnTo>
                <a:lnTo>
                  <a:pt x="0" y="106347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902520" y="1563941"/>
            <a:ext cx="7101172" cy="2316757"/>
          </a:xfrm>
          <a:custGeom>
            <a:avLst/>
            <a:gdLst/>
            <a:ahLst/>
            <a:cxnLst/>
            <a:rect l="l" t="t" r="r" b="b"/>
            <a:pathLst>
              <a:path w="7101172" h="2316757">
                <a:moveTo>
                  <a:pt x="0" y="0"/>
                </a:moveTo>
                <a:lnTo>
                  <a:pt x="7101172" y="0"/>
                </a:lnTo>
                <a:lnTo>
                  <a:pt x="7101172" y="2316758"/>
                </a:lnTo>
                <a:lnTo>
                  <a:pt x="0" y="2316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8782628"/>
            <a:ext cx="18486116" cy="1392098"/>
            <a:chOff x="0" y="0"/>
            <a:chExt cx="4868771" cy="3666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68771" cy="366643"/>
            </a:xfrm>
            <a:custGeom>
              <a:avLst/>
              <a:gdLst/>
              <a:ahLst/>
              <a:cxnLst/>
              <a:rect l="l" t="t" r="r" b="b"/>
              <a:pathLst>
                <a:path w="4868771" h="366643">
                  <a:moveTo>
                    <a:pt x="0" y="0"/>
                  </a:moveTo>
                  <a:lnTo>
                    <a:pt x="4868771" y="0"/>
                  </a:lnTo>
                  <a:lnTo>
                    <a:pt x="4868771" y="366643"/>
                  </a:lnTo>
                  <a:lnTo>
                    <a:pt x="0" y="366643"/>
                  </a:lnTo>
                  <a:close/>
                </a:path>
              </a:pathLst>
            </a:custGeom>
            <a:solidFill>
              <a:srgbClr val="54545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68771" cy="404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327638" y="4963912"/>
            <a:ext cx="6705551" cy="11151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31"/>
              </a:lnSpc>
            </a:pPr>
            <a:r>
              <a:rPr lang="en-US" sz="6665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Microorganisms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13600" y="6960351"/>
            <a:ext cx="4221199" cy="6000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By Sanskriti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13329" y="9062499"/>
            <a:ext cx="6890363" cy="782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97"/>
              </a:lnSpc>
            </a:pPr>
            <a:r>
              <a:rPr lang="en-US" sz="4355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www.vaagaacademy.com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5F202-92DF-FE10-22AD-843FB8C03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0500"/>
            <a:ext cx="7772400" cy="1470025"/>
          </a:xfrm>
        </p:spPr>
        <p:txBody>
          <a:bodyPr/>
          <a:lstStyle/>
          <a:p>
            <a:r>
              <a:rPr lang="en-IN" dirty="0"/>
              <a:t>What are Microorganisms?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9DDDE-CF6B-5500-7775-7C49F5A37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400" y="2838450"/>
            <a:ext cx="10591800" cy="46101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Definition: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Organisms that cannot be observed with the naked eye but can be seen only through a microscope are called </a:t>
            </a:r>
            <a:r>
              <a:rPr lang="en-US" b="1" dirty="0"/>
              <a:t>microorganisms</a:t>
            </a:r>
            <a:r>
              <a:rPr lang="en-US" dirty="0"/>
              <a:t> or </a:t>
            </a:r>
            <a:r>
              <a:rPr lang="en-US" b="1" dirty="0"/>
              <a:t>microbes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include both </a:t>
            </a:r>
            <a:r>
              <a:rPr lang="en-US" b="1" dirty="0"/>
              <a:t>harmless and harmful organisms</a:t>
            </a:r>
            <a:r>
              <a:rPr lang="en-US" dirty="0"/>
              <a:t> (also called </a:t>
            </a:r>
            <a:r>
              <a:rPr lang="en-US" b="1" dirty="0"/>
              <a:t>germs</a:t>
            </a:r>
            <a:r>
              <a:rPr lang="en-US" dirty="0"/>
              <a:t>).</a:t>
            </a:r>
          </a:p>
          <a:p>
            <a:pPr>
              <a:buNone/>
            </a:pPr>
            <a:r>
              <a:rPr lang="en-US" b="1" dirty="0"/>
              <a:t>Why Important?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cause diseases (pathogens).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Others are useful in food production, medicine, environment,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1939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DB934-79ED-2E12-7943-08D4E1F74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5A9B2-44FB-1C4E-DDCD-36A42DC3E4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0500"/>
            <a:ext cx="7772400" cy="1470025"/>
          </a:xfrm>
        </p:spPr>
        <p:txBody>
          <a:bodyPr/>
          <a:lstStyle/>
          <a:p>
            <a:r>
              <a:rPr lang="en-IN" dirty="0"/>
              <a:t>Where are Microorganisms Found?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7CAB10-5705-FB12-FAAE-95C90D0B7A1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286000" y="2552700"/>
            <a:ext cx="27432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air, water, soil, food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inside or outside our bodies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are helpful, while others can cause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dangerous diseases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027" name="Picture 3" descr="Types of Microorganisms | Microbiology">
            <a:extLst>
              <a:ext uri="{FF2B5EF4-FFF2-40B4-BE49-F238E27FC236}">
                <a16:creationId xmlns:a16="http://schemas.microsoft.com/office/drawing/2014/main" id="{686AEFE7-A576-8DC8-89C2-040A36CAD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093062"/>
            <a:ext cx="11677650" cy="6916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2044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BCA95-E048-6599-0B90-D8C41683E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D8536-5B93-F99D-AAAF-C71197361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0500"/>
            <a:ext cx="7772400" cy="1470025"/>
          </a:xfrm>
        </p:spPr>
        <p:txBody>
          <a:bodyPr/>
          <a:lstStyle/>
          <a:p>
            <a:r>
              <a:rPr lang="en-IN" dirty="0"/>
              <a:t>Classification of Microorganisms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B400F8-8218-9ABA-DCC4-BBD7C5EF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62000" y="2019300"/>
            <a:ext cx="10591800" cy="46101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dirty="0"/>
              <a:t>Microbes are classified into </a:t>
            </a:r>
            <a:r>
              <a:rPr lang="en-US" sz="3600" b="1" dirty="0"/>
              <a:t>five major groups</a:t>
            </a:r>
            <a:r>
              <a:rPr lang="en-US" sz="3600" dirty="0"/>
              <a:t>:</a:t>
            </a:r>
          </a:p>
          <a:p>
            <a:pPr>
              <a:buFont typeface="+mj-lt"/>
              <a:buAutoNum type="arabicPeriod"/>
            </a:pPr>
            <a:r>
              <a:rPr lang="en-US" sz="3600" b="1" dirty="0"/>
              <a:t>Bacteria</a:t>
            </a:r>
            <a:endParaRPr lang="en-US" sz="3600" dirty="0"/>
          </a:p>
          <a:p>
            <a:pPr>
              <a:buFont typeface="+mj-lt"/>
              <a:buAutoNum type="arabicPeriod"/>
            </a:pPr>
            <a:r>
              <a:rPr lang="en-US" sz="3600" b="1" dirty="0"/>
              <a:t>Algae</a:t>
            </a:r>
            <a:endParaRPr lang="en-US" sz="3600" dirty="0"/>
          </a:p>
          <a:p>
            <a:pPr>
              <a:buFont typeface="+mj-lt"/>
              <a:buAutoNum type="arabicPeriod"/>
            </a:pPr>
            <a:r>
              <a:rPr lang="en-US" sz="3600" b="1" dirty="0"/>
              <a:t>Fungi</a:t>
            </a:r>
            <a:endParaRPr lang="en-US" sz="3600" dirty="0"/>
          </a:p>
          <a:p>
            <a:pPr>
              <a:buFont typeface="+mj-lt"/>
              <a:buAutoNum type="arabicPeriod"/>
            </a:pPr>
            <a:r>
              <a:rPr lang="en-US" sz="3600" b="1" dirty="0"/>
              <a:t>Protozoa</a:t>
            </a:r>
            <a:endParaRPr lang="en-US" sz="3600" dirty="0"/>
          </a:p>
          <a:p>
            <a:pPr>
              <a:buFont typeface="+mj-lt"/>
              <a:buAutoNum type="arabicPeriod"/>
            </a:pPr>
            <a:r>
              <a:rPr lang="en-US" sz="3600" b="1" dirty="0"/>
              <a:t>Viruses</a:t>
            </a:r>
            <a:endParaRPr lang="en-US" sz="3600" dirty="0"/>
          </a:p>
          <a:p>
            <a:endParaRPr lang="en-IN" dirty="0"/>
          </a:p>
        </p:txBody>
      </p:sp>
      <p:pic>
        <p:nvPicPr>
          <p:cNvPr id="7170" name="Picture 2" descr="Introduction to Microbiology - Study Solutions">
            <a:extLst>
              <a:ext uri="{FF2B5EF4-FFF2-40B4-BE49-F238E27FC236}">
                <a16:creationId xmlns:a16="http://schemas.microsoft.com/office/drawing/2014/main" id="{06E32B9A-991E-24DD-97F0-C26A06013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3695700"/>
            <a:ext cx="9801225" cy="507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9541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067A2-FD43-01B8-C3C0-FD09DF76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D970E-03C6-B48B-F554-370DE4D387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0500"/>
            <a:ext cx="7772400" cy="1470025"/>
          </a:xfrm>
        </p:spPr>
        <p:txBody>
          <a:bodyPr/>
          <a:lstStyle/>
          <a:p>
            <a:r>
              <a:rPr lang="en-IN" dirty="0"/>
              <a:t>Bacteria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D0F91-7734-5F9E-627A-92C59AA5C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400" y="2838450"/>
            <a:ext cx="10591800" cy="4610100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Single-celled organisms</a:t>
            </a:r>
            <a:r>
              <a:rPr lang="en-IN" dirty="0"/>
              <a:t> that vary in shape: cocci (spherical), bacilli (rod-shaped), spirilla (spiral), </a:t>
            </a:r>
            <a:r>
              <a:rPr lang="en-IN" dirty="0" err="1"/>
              <a:t>vibrios</a:t>
            </a:r>
            <a:r>
              <a:rPr lang="en-IN" dirty="0"/>
              <a:t> (comma-shaped).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Some are autotrophic (photosynthetic); most are heterotrophic.</a:t>
            </a:r>
          </a:p>
          <a:p>
            <a:pPr>
              <a:buNone/>
            </a:pPr>
            <a:r>
              <a:rPr lang="en-IN" b="1" dirty="0"/>
              <a:t>Uses of Bacteria: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Fix nitrogen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Make curd/yogurt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Aid digestion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Produce antibiotics</a:t>
            </a:r>
          </a:p>
          <a:p>
            <a:pPr>
              <a:buNone/>
            </a:pPr>
            <a:r>
              <a:rPr lang="en-IN" b="1" dirty="0"/>
              <a:t>Diseases Caused: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Cholera, Typhoid, Tuberculosis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5193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494DE-D950-B0A1-6D5D-5E436312D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6614-FB7D-D98E-CC7A-80DF141B0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Bacterial cellular morphologies - Wikipedia">
            <a:extLst>
              <a:ext uri="{FF2B5EF4-FFF2-40B4-BE49-F238E27FC236}">
                <a16:creationId xmlns:a16="http://schemas.microsoft.com/office/drawing/2014/main" id="{3F59852D-C448-1586-F392-937F228DF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225" y="0"/>
            <a:ext cx="11131550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3297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ADC45-0B7C-14A2-7021-188C65E5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C72C-EF70-5CB7-5990-0A3528FA9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0500"/>
            <a:ext cx="7772400" cy="1470025"/>
          </a:xfrm>
        </p:spPr>
        <p:txBody>
          <a:bodyPr/>
          <a:lstStyle/>
          <a:p>
            <a:r>
              <a:rPr lang="en-IN" dirty="0"/>
              <a:t>Algae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5DE824-B8EB-1AE8-1CE3-59F66BCC8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1943100"/>
            <a:ext cx="10591800" cy="4610100"/>
          </a:xfrm>
        </p:spPr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dirty="0"/>
              <a:t>Autotrophic</a:t>
            </a:r>
            <a:r>
              <a:rPr lang="en-IN" dirty="0"/>
              <a:t>, aquatic organisms.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Can be </a:t>
            </a:r>
            <a:r>
              <a:rPr lang="en-IN" b="1" dirty="0"/>
              <a:t>unicellular</a:t>
            </a:r>
            <a:r>
              <a:rPr lang="en-IN" dirty="0"/>
              <a:t> (Chlamydomonas) or </a:t>
            </a:r>
            <a:r>
              <a:rPr lang="en-IN" b="1" dirty="0"/>
              <a:t>filamentous</a:t>
            </a:r>
            <a:r>
              <a:rPr lang="en-IN" dirty="0"/>
              <a:t> (Spirogyra).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Commonly found in ponds, lakes, and rivers.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Also called </a:t>
            </a:r>
            <a:r>
              <a:rPr lang="en-IN" b="1" dirty="0"/>
              <a:t>"grass of water"</a:t>
            </a:r>
            <a:r>
              <a:rPr lang="en-IN" dirty="0"/>
              <a:t>.</a:t>
            </a:r>
          </a:p>
          <a:p>
            <a:pPr algn="l">
              <a:buNone/>
            </a:pPr>
            <a:r>
              <a:rPr lang="en-IN" b="1" dirty="0"/>
              <a:t>Examples:</a:t>
            </a:r>
            <a:endParaRPr lang="en-IN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Chlamydomonas, Spirogyra, Ulothrix</a:t>
            </a:r>
          </a:p>
          <a:p>
            <a:pPr algn="l">
              <a:buNone/>
            </a:pPr>
            <a:r>
              <a:rPr lang="en-IN" b="1" dirty="0"/>
              <a:t>Uses:</a:t>
            </a:r>
            <a:endParaRPr lang="en-IN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Some algae (e.g. red/brown algae) are used to make jelly-like substances like agar.</a:t>
            </a:r>
          </a:p>
          <a:p>
            <a:pPr algn="l"/>
            <a:endParaRPr lang="en-IN" dirty="0"/>
          </a:p>
        </p:txBody>
      </p:sp>
      <p:pic>
        <p:nvPicPr>
          <p:cNvPr id="3074" name="Picture 2" descr="2+ Thousand Types Algae Royalty-Free Images, Stock Photos &amp; Pictures |  Shutterstock">
            <a:extLst>
              <a:ext uri="{FF2B5EF4-FFF2-40B4-BE49-F238E27FC236}">
                <a16:creationId xmlns:a16="http://schemas.microsoft.com/office/drawing/2014/main" id="{56AE30F7-FDC1-A1E9-9139-D66009AAA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6200" y="1513060"/>
            <a:ext cx="5257800" cy="7288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644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13EC3-9390-96D9-965D-6D6133AD2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98FF-2C5F-C2A9-B5E7-A60371368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0500"/>
            <a:ext cx="7772400" cy="1470025"/>
          </a:xfrm>
        </p:spPr>
        <p:txBody>
          <a:bodyPr/>
          <a:lstStyle/>
          <a:p>
            <a:r>
              <a:rPr lang="en-IN" dirty="0"/>
              <a:t>Fungi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12C97-275B-F364-C1A6-71C1AB980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1409700"/>
            <a:ext cx="8267700" cy="4610100"/>
          </a:xfrm>
        </p:spPr>
        <p:txBody>
          <a:bodyPr>
            <a:normAutofit fontScale="850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dirty="0"/>
              <a:t>Plant-like organisms</a:t>
            </a:r>
            <a:r>
              <a:rPr lang="en-IN" dirty="0"/>
              <a:t>, heterotrophic (saprophytic or parasitic).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Found on </a:t>
            </a:r>
            <a:r>
              <a:rPr lang="en-IN" b="1" dirty="0"/>
              <a:t>bread, leather, cotton, paper</a:t>
            </a:r>
            <a:r>
              <a:rPr lang="en-IN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Reproduce via </a:t>
            </a:r>
            <a:r>
              <a:rPr lang="en-IN" b="1" dirty="0"/>
              <a:t>spores</a:t>
            </a:r>
            <a:r>
              <a:rPr lang="en-IN" dirty="0"/>
              <a:t>.</a:t>
            </a:r>
          </a:p>
          <a:p>
            <a:pPr algn="l">
              <a:buNone/>
            </a:pPr>
            <a:r>
              <a:rPr lang="en-IN" b="1" dirty="0"/>
              <a:t>Examples:</a:t>
            </a:r>
            <a:endParaRPr lang="en-IN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dirty="0"/>
              <a:t>Yeast</a:t>
            </a:r>
            <a:r>
              <a:rPr lang="en-IN" dirty="0"/>
              <a:t> (used in baking)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dirty="0"/>
              <a:t>Aspergillus</a:t>
            </a:r>
            <a:r>
              <a:rPr lang="en-IN" dirty="0"/>
              <a:t>, </a:t>
            </a:r>
            <a:r>
              <a:rPr lang="en-IN" b="1" dirty="0"/>
              <a:t>Mushrooms</a:t>
            </a:r>
            <a:r>
              <a:rPr lang="en-IN" dirty="0"/>
              <a:t>, </a:t>
            </a:r>
            <a:r>
              <a:rPr lang="en-IN" b="1" dirty="0"/>
              <a:t>Penicillium</a:t>
            </a:r>
            <a:endParaRPr lang="en-IN" dirty="0"/>
          </a:p>
          <a:p>
            <a:pPr algn="l">
              <a:buNone/>
            </a:pPr>
            <a:r>
              <a:rPr lang="en-IN" b="1" dirty="0"/>
              <a:t>Uses:</a:t>
            </a:r>
            <a:endParaRPr lang="en-IN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Fermentation of bread and alcohol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dirty="0"/>
              <a:t>Production of antibiotics (e.g. Penicillin from Penicillium)</a:t>
            </a:r>
          </a:p>
          <a:p>
            <a:pPr algn="l"/>
            <a:endParaRPr lang="en-IN" dirty="0"/>
          </a:p>
        </p:txBody>
      </p:sp>
      <p:pic>
        <p:nvPicPr>
          <p:cNvPr id="4098" name="Picture 2" descr="Fungus - an overview | ScienceDirect Topics">
            <a:extLst>
              <a:ext uri="{FF2B5EF4-FFF2-40B4-BE49-F238E27FC236}">
                <a16:creationId xmlns:a16="http://schemas.microsoft.com/office/drawing/2014/main" id="{F5FE614D-4FD5-F619-A9A6-D14A55271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9302" y="3978686"/>
            <a:ext cx="7772400" cy="522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7216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A3546-6625-EE7A-7A8E-3C2DD1703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4A7E4-6D6A-E6A0-5236-40F769CD4F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0500"/>
            <a:ext cx="7772400" cy="1470025"/>
          </a:xfrm>
        </p:spPr>
        <p:txBody>
          <a:bodyPr/>
          <a:lstStyle/>
          <a:p>
            <a:r>
              <a:rPr lang="en-IN" dirty="0"/>
              <a:t>Protozoa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C5DA54-BFA9-E238-A7BA-BCEEA4D8D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400" y="2838450"/>
            <a:ext cx="10591800" cy="46101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Unicellular</a:t>
            </a:r>
            <a:r>
              <a:rPr lang="en-IN" dirty="0"/>
              <a:t>, animal-like microbes.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Found in water and soil.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Some are </a:t>
            </a:r>
            <a:r>
              <a:rPr lang="en-IN" b="1" dirty="0"/>
              <a:t>parasites</a:t>
            </a:r>
            <a:r>
              <a:rPr lang="en-IN" dirty="0"/>
              <a:t>, e.g. Plasmodium (causes malaria), Entamoeba.</a:t>
            </a:r>
          </a:p>
          <a:p>
            <a:pPr>
              <a:buNone/>
            </a:pPr>
            <a:r>
              <a:rPr lang="en-IN" b="1" dirty="0"/>
              <a:t>Examples: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Amoeba, Paramecium, Giardia, Trypanosoma</a:t>
            </a:r>
          </a:p>
          <a:p>
            <a:pPr>
              <a:buNone/>
            </a:pPr>
            <a:r>
              <a:rPr lang="en-IN" b="1" dirty="0"/>
              <a:t>Diseases Caused: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Malaria, Amoebiasis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540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1B0B-A7C5-3557-1220-B39FD7026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DE780-4D05-8131-69AA-B2F55C9EF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4" name="Picture 2" descr="BYJU'S - Protozoa Classification">
            <a:extLst>
              <a:ext uri="{FF2B5EF4-FFF2-40B4-BE49-F238E27FC236}">
                <a16:creationId xmlns:a16="http://schemas.microsoft.com/office/drawing/2014/main" id="{CC4AFFAD-CEB1-1388-4DE6-1AE1C1D51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2" y="846138"/>
            <a:ext cx="7143750" cy="454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BYJU'S - Protozoa Classification">
            <a:extLst>
              <a:ext uri="{FF2B5EF4-FFF2-40B4-BE49-F238E27FC236}">
                <a16:creationId xmlns:a16="http://schemas.microsoft.com/office/drawing/2014/main" id="{0D457032-1C96-406B-1BA4-15356655E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789362"/>
            <a:ext cx="5715000" cy="503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2947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AB13B-351C-3AB3-A2AD-70F27AD5C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900D4-6858-502A-F433-B37BED34C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0500"/>
            <a:ext cx="7772400" cy="1470025"/>
          </a:xfrm>
        </p:spPr>
        <p:txBody>
          <a:bodyPr/>
          <a:lstStyle/>
          <a:p>
            <a:r>
              <a:rPr lang="en-IN" dirty="0"/>
              <a:t>Viruses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90171-35E7-4402-3773-CC5611654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81000" y="2019300"/>
            <a:ext cx="10591800" cy="46101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Exhibit both </a:t>
            </a:r>
            <a:r>
              <a:rPr lang="en-IN" b="1" dirty="0"/>
              <a:t>living and non-living characteristics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Can </a:t>
            </a:r>
            <a:r>
              <a:rPr lang="en-IN" b="1" dirty="0"/>
              <a:t>only reproduce inside a living cell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Cause many diseases in plants, animals, and humans.</a:t>
            </a:r>
          </a:p>
          <a:p>
            <a:pPr>
              <a:buNone/>
            </a:pPr>
            <a:r>
              <a:rPr lang="en-IN" b="1" dirty="0"/>
              <a:t>Examples: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Polio Virus, HIV, Influenza Virus, Tobacco Mosaic Virus</a:t>
            </a:r>
          </a:p>
          <a:p>
            <a:pPr>
              <a:buNone/>
            </a:pPr>
            <a:r>
              <a:rPr lang="en-IN" b="1" dirty="0"/>
              <a:t>Diseases Caused: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Cold, Influenza, Polio, COVID-19, AIDS</a:t>
            </a:r>
          </a:p>
          <a:p>
            <a:endParaRPr lang="en-IN" dirty="0"/>
          </a:p>
        </p:txBody>
      </p:sp>
      <p:pic>
        <p:nvPicPr>
          <p:cNvPr id="9218" name="Picture 2" descr="Virus">
            <a:extLst>
              <a:ext uri="{FF2B5EF4-FFF2-40B4-BE49-F238E27FC236}">
                <a16:creationId xmlns:a16="http://schemas.microsoft.com/office/drawing/2014/main" id="{543C0C52-F09C-E724-EFB0-5F52A4353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5143500"/>
            <a:ext cx="8526462" cy="4800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412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AA795-D5EF-F8AB-5AC2-C44502399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0AF9E-2667-C689-A0BE-4BE369EB8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0500"/>
            <a:ext cx="7772400" cy="1470025"/>
          </a:xfrm>
        </p:spPr>
        <p:txBody>
          <a:bodyPr/>
          <a:lstStyle/>
          <a:p>
            <a:r>
              <a:rPr lang="en-IN" dirty="0"/>
              <a:t>Useful Microorganisms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355571-0FA7-F0CA-F148-B1D560E992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114800" y="3162300"/>
            <a:ext cx="1107358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digestion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(gut bacteria)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food production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(curd, cheese, vinegar, bread, alcohol)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antibiotics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vitamins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nitrogen fixation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Algae used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manufacturing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biofuels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AutoShape 3" descr="NCERT 8th CLASS SCIENCE CHAPTER MICROORGANISM IN FOOD">
            <a:extLst>
              <a:ext uri="{FF2B5EF4-FFF2-40B4-BE49-F238E27FC236}">
                <a16:creationId xmlns:a16="http://schemas.microsoft.com/office/drawing/2014/main" id="{66B118B6-C54F-C550-471D-2961ACF3F9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5" descr="NCERT 8th CLASS SCIENCE CHAPTER MICROORGANISM IN FOOD">
            <a:extLst>
              <a:ext uri="{FF2B5EF4-FFF2-40B4-BE49-F238E27FC236}">
                <a16:creationId xmlns:a16="http://schemas.microsoft.com/office/drawing/2014/main" id="{1A84715E-DDBB-6308-A993-AFC8AD8F84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973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B448-E636-1A1E-373F-B9F1E52FB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BB530B-5C78-1BA6-D8D6-B6E1C31E3C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3113165"/>
              </p:ext>
            </p:extLst>
          </p:nvPr>
        </p:nvGraphicFramePr>
        <p:xfrm>
          <a:off x="914400" y="571500"/>
          <a:ext cx="17068800" cy="9337303"/>
        </p:xfrm>
        <a:graphic>
          <a:graphicData uri="http://schemas.openxmlformats.org/drawingml/2006/table">
            <a:tbl>
              <a:tblPr/>
              <a:tblGrid>
                <a:gridCol w="4267200">
                  <a:extLst>
                    <a:ext uri="{9D8B030D-6E8A-4147-A177-3AD203B41FA5}">
                      <a16:colId xmlns:a16="http://schemas.microsoft.com/office/drawing/2014/main" val="3151630953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1245281407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3856234185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3549456405"/>
                    </a:ext>
                  </a:extLst>
                </a:gridCol>
              </a:tblGrid>
              <a:tr h="171091">
                <a:tc>
                  <a:txBody>
                    <a:bodyPr/>
                    <a:lstStyle/>
                    <a:p>
                      <a:r>
                        <a:rPr lang="en-IN" sz="1600" b="1"/>
                        <a:t>Type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Microorganism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Use/Application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Domain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769863"/>
                  </a:ext>
                </a:extLst>
              </a:tr>
              <a:tr h="299408">
                <a:tc>
                  <a:txBody>
                    <a:bodyPr/>
                    <a:lstStyle/>
                    <a:p>
                      <a:r>
                        <a:rPr lang="en-IN" sz="1600"/>
                        <a:t>Bacteria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Lactobacillus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Converts milk to curd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Food industry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445385"/>
                  </a:ext>
                </a:extLst>
              </a:tr>
              <a:tr h="299408">
                <a:tc>
                  <a:txBody>
                    <a:bodyPr/>
                    <a:lstStyle/>
                    <a:p>
                      <a:r>
                        <a:rPr lang="en-IN" sz="1600"/>
                        <a:t>Bacteria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Acetobacter aceti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Produces acetic acid (vinegar)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Food industry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2375917"/>
                  </a:ext>
                </a:extLst>
              </a:tr>
              <a:tr h="299408">
                <a:tc>
                  <a:txBody>
                    <a:bodyPr/>
                    <a:lstStyle/>
                    <a:p>
                      <a:r>
                        <a:rPr lang="en-IN" sz="1600"/>
                        <a:t>Bacteria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Rhizobium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sz="1600"/>
                        <a:t>Nitrogen fixation in legume roots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Agriculture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988988"/>
                  </a:ext>
                </a:extLst>
              </a:tr>
              <a:tr h="427728">
                <a:tc>
                  <a:txBody>
                    <a:bodyPr/>
                    <a:lstStyle/>
                    <a:p>
                      <a:r>
                        <a:rPr lang="en-IN" sz="1600"/>
                        <a:t>Bacteria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Nitrosomonas</a:t>
                      </a:r>
                      <a:r>
                        <a:rPr lang="en-IN" sz="1600"/>
                        <a:t>, </a:t>
                      </a:r>
                      <a:r>
                        <a:rPr lang="en-IN" sz="1600" i="1"/>
                        <a:t>Nitrobacter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Convert ammonia to nitrates (nitrification)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Nitrogen cycle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836410"/>
                  </a:ext>
                </a:extLst>
              </a:tr>
              <a:tr h="556043">
                <a:tc>
                  <a:txBody>
                    <a:bodyPr/>
                    <a:lstStyle/>
                    <a:p>
                      <a:r>
                        <a:rPr lang="en-IN" sz="1600"/>
                        <a:t>Bacteria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Escherichia coli</a:t>
                      </a:r>
                      <a:r>
                        <a:rPr lang="en-IN" sz="1600"/>
                        <a:t> (lab strain)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Produces insulin, vaccines using recombinant DNA technology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Biotechnology, medicine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940285"/>
                  </a:ext>
                </a:extLst>
              </a:tr>
              <a:tr h="299408">
                <a:tc>
                  <a:txBody>
                    <a:bodyPr/>
                    <a:lstStyle/>
                    <a:p>
                      <a:r>
                        <a:rPr lang="en-IN" sz="1600"/>
                        <a:t>Bacteria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Streptomyces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Produces antibiotics like streptomycin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Pharmaceutical industry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518227"/>
                  </a:ext>
                </a:extLst>
              </a:tr>
              <a:tr h="427728">
                <a:tc>
                  <a:txBody>
                    <a:bodyPr/>
                    <a:lstStyle/>
                    <a:p>
                      <a:r>
                        <a:rPr lang="en-IN" sz="1600"/>
                        <a:t>Bacteria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Bacillus thuringiensis (Bt)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Produces insecticidal proteins (used in GM crops)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Agriculture, biotechnology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878434"/>
                  </a:ext>
                </a:extLst>
              </a:tr>
              <a:tr h="299408">
                <a:tc>
                  <a:txBody>
                    <a:bodyPr/>
                    <a:lstStyle/>
                    <a:p>
                      <a:r>
                        <a:rPr lang="en-IN" sz="1600"/>
                        <a:t>Bacteria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Clostridium butylicum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Produces butyric acid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Chemical industry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706444"/>
                  </a:ext>
                </a:extLst>
              </a:tr>
              <a:tr h="299408">
                <a:tc>
                  <a:txBody>
                    <a:bodyPr/>
                    <a:lstStyle/>
                    <a:p>
                      <a:r>
                        <a:rPr lang="en-IN" sz="1600"/>
                        <a:t>Bacteria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Pseudomonas putida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Cleans oil spills (bioremediation)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Environmental cleanup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929157"/>
                  </a:ext>
                </a:extLst>
              </a:tr>
              <a:tr h="299408">
                <a:tc>
                  <a:txBody>
                    <a:bodyPr/>
                    <a:lstStyle/>
                    <a:p>
                      <a:r>
                        <a:rPr lang="en-IN" sz="1600"/>
                        <a:t>Bacteria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Azotobacter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Free-living nitrogen fixation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Soil enrichment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924604"/>
                  </a:ext>
                </a:extLst>
              </a:tr>
              <a:tr h="299408">
                <a:tc>
                  <a:txBody>
                    <a:bodyPr/>
                    <a:lstStyle/>
                    <a:p>
                      <a:r>
                        <a:rPr lang="en-IN" sz="1600"/>
                        <a:t>Bacteria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Anabaena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Nitrogen-fixing cyanobacterium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Soil enrichment, water bodies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366344"/>
                  </a:ext>
                </a:extLst>
              </a:tr>
              <a:tr h="427728">
                <a:tc>
                  <a:txBody>
                    <a:bodyPr/>
                    <a:lstStyle/>
                    <a:p>
                      <a:r>
                        <a:rPr lang="en-IN" sz="1600"/>
                        <a:t>Fungi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Saccharomyces cerevisiae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Fermentation (bread, alcohol production)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Food and beverage industry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021858"/>
                  </a:ext>
                </a:extLst>
              </a:tr>
              <a:tr h="299408">
                <a:tc>
                  <a:txBody>
                    <a:bodyPr/>
                    <a:lstStyle/>
                    <a:p>
                      <a:r>
                        <a:rPr lang="en-IN" sz="1600"/>
                        <a:t>Fungi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Penicillium notatum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Produces antibiotic penicillin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Medicine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058269"/>
                  </a:ext>
                </a:extLst>
              </a:tr>
              <a:tr h="299408">
                <a:tc>
                  <a:txBody>
                    <a:bodyPr/>
                    <a:lstStyle/>
                    <a:p>
                      <a:r>
                        <a:rPr lang="en-IN" sz="1600"/>
                        <a:t>Fungi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Aspergillus niger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Produces citric acid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Food additives industry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845777"/>
                  </a:ext>
                </a:extLst>
              </a:tr>
              <a:tr h="427728">
                <a:tc>
                  <a:txBody>
                    <a:bodyPr/>
                    <a:lstStyle/>
                    <a:p>
                      <a:r>
                        <a:rPr lang="en-IN" sz="1600"/>
                        <a:t>Fungi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Trichoderma</a:t>
                      </a:r>
                      <a:r>
                        <a:rPr lang="en-IN" sz="1600"/>
                        <a:t> spp.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Biocontrol agent against plant pathogens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Organic farming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980394"/>
                  </a:ext>
                </a:extLst>
              </a:tr>
              <a:tr h="299408">
                <a:tc>
                  <a:txBody>
                    <a:bodyPr/>
                    <a:lstStyle/>
                    <a:p>
                      <a:r>
                        <a:rPr lang="en-IN" sz="1600"/>
                        <a:t>Fungi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Mushroom (Agaricus)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Edible fungus, rich in protein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Food/nutrition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867268"/>
                  </a:ext>
                </a:extLst>
              </a:tr>
              <a:tr h="427728">
                <a:tc>
                  <a:txBody>
                    <a:bodyPr/>
                    <a:lstStyle/>
                    <a:p>
                      <a:r>
                        <a:rPr lang="en-IN" sz="1600"/>
                        <a:t>Algae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Spirulina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High-protein supplement (single-cell protein)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Health/nutrition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022535"/>
                  </a:ext>
                </a:extLst>
              </a:tr>
              <a:tr h="427728">
                <a:tc>
                  <a:txBody>
                    <a:bodyPr/>
                    <a:lstStyle/>
                    <a:p>
                      <a:r>
                        <a:rPr lang="en-IN" sz="1600"/>
                        <a:t>Algae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Chlorella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Used in dietary supplements and oxygen production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Food and environment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767549"/>
                  </a:ext>
                </a:extLst>
              </a:tr>
              <a:tr h="171091">
                <a:tc>
                  <a:txBody>
                    <a:bodyPr/>
                    <a:lstStyle/>
                    <a:p>
                      <a:r>
                        <a:rPr lang="en-IN" sz="1600"/>
                        <a:t>Algae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Nostoc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Nitrogen fixation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Agriculture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730108"/>
                  </a:ext>
                </a:extLst>
              </a:tr>
              <a:tr h="299408">
                <a:tc>
                  <a:txBody>
                    <a:bodyPr/>
                    <a:lstStyle/>
                    <a:p>
                      <a:r>
                        <a:rPr lang="en-IN" sz="1600"/>
                        <a:t>Algae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Gelidium</a:t>
                      </a:r>
                      <a:r>
                        <a:rPr lang="en-IN" sz="1600"/>
                        <a:t> (red algae)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Produces agar used in labs and food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Research, food industry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541102"/>
                  </a:ext>
                </a:extLst>
              </a:tr>
              <a:tr h="299408">
                <a:tc>
                  <a:txBody>
                    <a:bodyPr/>
                    <a:lstStyle/>
                    <a:p>
                      <a:r>
                        <a:rPr lang="en-IN" sz="1600"/>
                        <a:t>Algae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Laminaria</a:t>
                      </a:r>
                      <a:r>
                        <a:rPr lang="en-IN" sz="1600"/>
                        <a:t> (brown algae)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Source of iodine and alginates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Food and cosmetic industry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2915875"/>
                  </a:ext>
                </a:extLst>
              </a:tr>
              <a:tr h="427728">
                <a:tc>
                  <a:txBody>
                    <a:bodyPr/>
                    <a:lstStyle/>
                    <a:p>
                      <a:r>
                        <a:rPr lang="en-IN" sz="1600"/>
                        <a:t>Protozoa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Entamoeba coli</a:t>
                      </a:r>
                      <a:r>
                        <a:rPr lang="en-IN" sz="1600"/>
                        <a:t> (non-pathogenic)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Helps in digestion (commensal organism)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Human digestion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231414"/>
                  </a:ext>
                </a:extLst>
              </a:tr>
              <a:tr h="427728">
                <a:tc>
                  <a:txBody>
                    <a:bodyPr/>
                    <a:lstStyle/>
                    <a:p>
                      <a:r>
                        <a:rPr lang="en-IN" sz="1600"/>
                        <a:t>Protozoa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Plasmodium</a:t>
                      </a:r>
                      <a:r>
                        <a:rPr lang="en-IN" sz="1600"/>
                        <a:t> (research)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Used in vaccine development and genetic studies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Biomedical research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982906"/>
                  </a:ext>
                </a:extLst>
              </a:tr>
              <a:tr h="427728">
                <a:tc>
                  <a:txBody>
                    <a:bodyPr/>
                    <a:lstStyle/>
                    <a:p>
                      <a:r>
                        <a:rPr lang="en-IN" sz="1600"/>
                        <a:t>Virus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Bacteriophage</a:t>
                      </a:r>
                      <a:endParaRPr lang="en-IN" sz="1600"/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Used in gene therapy, phage therapy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Medicine, biotechnology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48597"/>
                  </a:ext>
                </a:extLst>
              </a:tr>
              <a:tr h="427728">
                <a:tc>
                  <a:txBody>
                    <a:bodyPr/>
                    <a:lstStyle/>
                    <a:p>
                      <a:r>
                        <a:rPr lang="en-IN" sz="1600"/>
                        <a:t>Virus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Engineered viral vectors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Used to deliver genes in gene therapy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Genetic engineering</a:t>
                      </a:r>
                    </a:p>
                  </a:txBody>
                  <a:tcPr marL="21349" marR="21349" marT="10674" marB="106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929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196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463A7-7780-D9C0-BEBF-6B8DB8041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31FB5-D9C6-A273-F7B7-42A8B5B35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0500"/>
            <a:ext cx="7772400" cy="1470025"/>
          </a:xfrm>
        </p:spPr>
        <p:txBody>
          <a:bodyPr/>
          <a:lstStyle/>
          <a:p>
            <a:r>
              <a:rPr lang="en-IN" dirty="0"/>
              <a:t>Harmful Microorganisms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A035D9-E372-BD9D-24AA-6E07CE0B204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953000" y="3619500"/>
            <a:ext cx="9232014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Cause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diseases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humans, animals, and plants.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Spoil food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clothes, leather.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toxins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food (food poisoning).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1800" b="1" dirty="0"/>
              <a:t>Pathogens</a:t>
            </a:r>
            <a:r>
              <a:rPr lang="en-IN" sz="1800" dirty="0"/>
              <a:t> – Microbes that cause disease.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825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62CE9-56BF-A596-93D1-60BE77D7C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B0CE04-F03D-FB64-4D0D-16FDD2E9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471412"/>
              </p:ext>
            </p:extLst>
          </p:nvPr>
        </p:nvGraphicFramePr>
        <p:xfrm>
          <a:off x="1066800" y="4686300"/>
          <a:ext cx="2530044" cy="4525964"/>
        </p:xfrm>
        <a:graphic>
          <a:graphicData uri="http://schemas.openxmlformats.org/drawingml/2006/table">
            <a:tbl>
              <a:tblPr/>
              <a:tblGrid>
                <a:gridCol w="421674">
                  <a:extLst>
                    <a:ext uri="{9D8B030D-6E8A-4147-A177-3AD203B41FA5}">
                      <a16:colId xmlns:a16="http://schemas.microsoft.com/office/drawing/2014/main" val="718882966"/>
                    </a:ext>
                  </a:extLst>
                </a:gridCol>
                <a:gridCol w="421674">
                  <a:extLst>
                    <a:ext uri="{9D8B030D-6E8A-4147-A177-3AD203B41FA5}">
                      <a16:colId xmlns:a16="http://schemas.microsoft.com/office/drawing/2014/main" val="796657362"/>
                    </a:ext>
                  </a:extLst>
                </a:gridCol>
                <a:gridCol w="421674">
                  <a:extLst>
                    <a:ext uri="{9D8B030D-6E8A-4147-A177-3AD203B41FA5}">
                      <a16:colId xmlns:a16="http://schemas.microsoft.com/office/drawing/2014/main" val="214748903"/>
                    </a:ext>
                  </a:extLst>
                </a:gridCol>
                <a:gridCol w="421674">
                  <a:extLst>
                    <a:ext uri="{9D8B030D-6E8A-4147-A177-3AD203B41FA5}">
                      <a16:colId xmlns:a16="http://schemas.microsoft.com/office/drawing/2014/main" val="168969396"/>
                    </a:ext>
                  </a:extLst>
                </a:gridCol>
                <a:gridCol w="421674">
                  <a:extLst>
                    <a:ext uri="{9D8B030D-6E8A-4147-A177-3AD203B41FA5}">
                      <a16:colId xmlns:a16="http://schemas.microsoft.com/office/drawing/2014/main" val="2704969659"/>
                    </a:ext>
                  </a:extLst>
                </a:gridCol>
                <a:gridCol w="421674">
                  <a:extLst>
                    <a:ext uri="{9D8B030D-6E8A-4147-A177-3AD203B41FA5}">
                      <a16:colId xmlns:a16="http://schemas.microsoft.com/office/drawing/2014/main" val="38555745"/>
                    </a:ext>
                  </a:extLst>
                </a:gridCol>
              </a:tblGrid>
              <a:tr h="281116"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668210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258295"/>
                  </a:ext>
                </a:extLst>
              </a:tr>
              <a:tr h="196781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986782"/>
                  </a:ext>
                </a:extLst>
              </a:tr>
              <a:tr h="281116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583760"/>
                  </a:ext>
                </a:extLst>
              </a:tr>
              <a:tr h="281116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777931"/>
                  </a:ext>
                </a:extLst>
              </a:tr>
              <a:tr h="281116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867020"/>
                  </a:ext>
                </a:extLst>
              </a:tr>
              <a:tr h="281116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934274"/>
                  </a:ext>
                </a:extLst>
              </a:tr>
              <a:tr h="281116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1873288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92065"/>
                  </a:ext>
                </a:extLst>
              </a:tr>
              <a:tr h="449785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929200"/>
                  </a:ext>
                </a:extLst>
              </a:tr>
              <a:tr h="365450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436561"/>
                  </a:ext>
                </a:extLst>
              </a:tr>
              <a:tr h="365450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746645"/>
                  </a:ext>
                </a:extLst>
              </a:tr>
              <a:tr h="281116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953319"/>
                  </a:ext>
                </a:extLst>
              </a:tr>
              <a:tr h="281116"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sz="600" dirty="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239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CE1E8C-B45F-C5C2-5AA9-8FDDECA74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241768"/>
              </p:ext>
            </p:extLst>
          </p:nvPr>
        </p:nvGraphicFramePr>
        <p:xfrm>
          <a:off x="931764" y="647700"/>
          <a:ext cx="7526436" cy="8888716"/>
        </p:xfrm>
        <a:graphic>
          <a:graphicData uri="http://schemas.openxmlformats.org/drawingml/2006/table">
            <a:tbl>
              <a:tblPr/>
              <a:tblGrid>
                <a:gridCol w="1254406">
                  <a:extLst>
                    <a:ext uri="{9D8B030D-6E8A-4147-A177-3AD203B41FA5}">
                      <a16:colId xmlns:a16="http://schemas.microsoft.com/office/drawing/2014/main" val="708359025"/>
                    </a:ext>
                  </a:extLst>
                </a:gridCol>
                <a:gridCol w="1254406">
                  <a:extLst>
                    <a:ext uri="{9D8B030D-6E8A-4147-A177-3AD203B41FA5}">
                      <a16:colId xmlns:a16="http://schemas.microsoft.com/office/drawing/2014/main" val="1722936027"/>
                    </a:ext>
                  </a:extLst>
                </a:gridCol>
                <a:gridCol w="1254406">
                  <a:extLst>
                    <a:ext uri="{9D8B030D-6E8A-4147-A177-3AD203B41FA5}">
                      <a16:colId xmlns:a16="http://schemas.microsoft.com/office/drawing/2014/main" val="2862331172"/>
                    </a:ext>
                  </a:extLst>
                </a:gridCol>
                <a:gridCol w="1254406">
                  <a:extLst>
                    <a:ext uri="{9D8B030D-6E8A-4147-A177-3AD203B41FA5}">
                      <a16:colId xmlns:a16="http://schemas.microsoft.com/office/drawing/2014/main" val="2572917376"/>
                    </a:ext>
                  </a:extLst>
                </a:gridCol>
                <a:gridCol w="1254406">
                  <a:extLst>
                    <a:ext uri="{9D8B030D-6E8A-4147-A177-3AD203B41FA5}">
                      <a16:colId xmlns:a16="http://schemas.microsoft.com/office/drawing/2014/main" val="138715075"/>
                    </a:ext>
                  </a:extLst>
                </a:gridCol>
                <a:gridCol w="1254406">
                  <a:extLst>
                    <a:ext uri="{9D8B030D-6E8A-4147-A177-3AD203B41FA5}">
                      <a16:colId xmlns:a16="http://schemas.microsoft.com/office/drawing/2014/main" val="4061350605"/>
                    </a:ext>
                  </a:extLst>
                </a:gridCol>
              </a:tblGrid>
              <a:tr h="673956">
                <a:tc>
                  <a:txBody>
                    <a:bodyPr/>
                    <a:lstStyle/>
                    <a:p>
                      <a:r>
                        <a:rPr lang="en-IN" sz="1600" b="1"/>
                        <a:t>Microorganism Type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Disease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Causative Agent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Mode of Transmission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Major Symptoms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Prevention/Control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099242"/>
                  </a:ext>
                </a:extLst>
              </a:tr>
              <a:tr h="1281789">
                <a:tc>
                  <a:txBody>
                    <a:bodyPr/>
                    <a:lstStyle/>
                    <a:p>
                      <a:r>
                        <a:rPr lang="en-IN" sz="1600" b="1"/>
                        <a:t>Protozoa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Malaria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Plasmodium vivax/falciparum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Mosquito bite (</a:t>
                      </a:r>
                      <a:r>
                        <a:rPr lang="en-IN" sz="1600" i="1"/>
                        <a:t>Anopheles</a:t>
                      </a:r>
                      <a:r>
                        <a:rPr lang="en-IN" sz="1600"/>
                        <a:t>)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Fever (cyclical), chills, shivering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Mosquito nets, no stagnant water, antimalarial meds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9459877"/>
                  </a:ext>
                </a:extLst>
              </a:tr>
              <a:tr h="876567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Amoebiasis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 dirty="0"/>
                        <a:t>Entamoeba histolytica</a:t>
                      </a:r>
                      <a:endParaRPr lang="en-IN" sz="1600" dirty="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Contaminated water/food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Diarrhea with mucus, abdominal cramps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Boiled water, hygiene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482983"/>
                  </a:ext>
                </a:extLst>
              </a:tr>
              <a:tr h="3035198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Sleeping Sickness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Trypanosoma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Tsetse fly bite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Fever, fatigue, sleep disorder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Insect control, early diagnosis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722410"/>
                  </a:ext>
                </a:extLst>
              </a:tr>
              <a:tr h="673956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Giardiasis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Giardia intestinalis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Contaminated water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Diarrhea, bloating, nausea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Clean water, sanitation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257247"/>
                  </a:ext>
                </a:extLst>
              </a:tr>
              <a:tr h="1079178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Toxoplasmosis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Toxoplasma gondii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Cat feces, undercooked meat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Flu-like symptoms, dangerous in pregnancy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Proper food hygiene, pet care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2823573"/>
                  </a:ext>
                </a:extLst>
              </a:tr>
              <a:tr h="673956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Leishmaniasis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i="1"/>
                        <a:t>Leishmania donovani</a:t>
                      </a:r>
                      <a:endParaRPr lang="en-IN" sz="1600"/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Sandfly bite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Skin ulcers, fever, weight loss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Vector control</a:t>
                      </a:r>
                    </a:p>
                  </a:txBody>
                  <a:tcPr marL="49736" marR="49736" marT="24868" marB="2486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074072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8814148-94D8-8508-1A5A-A2313C791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541944"/>
              </p:ext>
            </p:extLst>
          </p:nvPr>
        </p:nvGraphicFramePr>
        <p:xfrm>
          <a:off x="9015334" y="914400"/>
          <a:ext cx="8229600" cy="897517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310105645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93339168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56651675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84379839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15608915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223049574"/>
                    </a:ext>
                  </a:extLst>
                </a:gridCol>
              </a:tblGrid>
              <a:tr h="1084385">
                <a:tc>
                  <a:txBody>
                    <a:bodyPr/>
                    <a:lstStyle/>
                    <a:p>
                      <a:r>
                        <a:rPr lang="en-IN" sz="2000" b="1"/>
                        <a:t>Microorganism Type</a:t>
                      </a:r>
                      <a:endParaRPr lang="en-IN" sz="200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Disease</a:t>
                      </a:r>
                      <a:endParaRPr lang="en-IN" sz="200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Causative Agent</a:t>
                      </a:r>
                      <a:endParaRPr lang="en-IN" sz="200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Mode of Transmission</a:t>
                      </a:r>
                      <a:endParaRPr lang="en-IN" sz="200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Major Symptoms</a:t>
                      </a:r>
                      <a:endParaRPr lang="en-IN" sz="200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/>
                        <a:t>Prevention/Control</a:t>
                      </a:r>
                      <a:endParaRPr lang="en-IN" sz="200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261391"/>
                  </a:ext>
                </a:extLst>
              </a:tr>
              <a:tr h="1409699">
                <a:tc>
                  <a:txBody>
                    <a:bodyPr/>
                    <a:lstStyle/>
                    <a:p>
                      <a:r>
                        <a:rPr lang="en-IN" sz="2000" b="1"/>
                        <a:t>Fungi</a:t>
                      </a:r>
                      <a:endParaRPr lang="en-IN" sz="200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Ringworm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i="1"/>
                        <a:t>Trichophyton</a:t>
                      </a:r>
                      <a:r>
                        <a:rPr lang="en-IN" sz="2000"/>
                        <a:t> spp.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Contact with infected skin or surfaces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Red, circular, itchy patches on skin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Personal hygiene, antifungal treatment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605905"/>
                  </a:ext>
                </a:extLst>
              </a:tr>
              <a:tr h="1084385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Athlete's Foot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i="1"/>
                        <a:t>Tinea pedis</a:t>
                      </a:r>
                      <a:endParaRPr lang="en-IN" sz="200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Walking barefoot in moist places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Cracking, itching feet skin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Footwear hygiene, antifungals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047096"/>
                  </a:ext>
                </a:extLst>
              </a:tr>
              <a:tr h="1409699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Candidiasis (oral/genital)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i="1" dirty="0"/>
                        <a:t>Candida albicans</a:t>
                      </a:r>
                      <a:endParaRPr lang="en-IN" sz="2000" dirty="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Overgrowth of body’s own flora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White patches, itching, discomfort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Antifungal medication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83650"/>
                  </a:ext>
                </a:extLst>
              </a:tr>
              <a:tr h="1735016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Aspergillosis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i="1"/>
                        <a:t>Aspergillus</a:t>
                      </a:r>
                      <a:r>
                        <a:rPr lang="en-IN" sz="2000"/>
                        <a:t> spp.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Inhalation of fungal spores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Cough, respiratory distress (in immunocompromised)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Avoid mold, antifungals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238954"/>
                  </a:ext>
                </a:extLst>
              </a:tr>
              <a:tr h="1735016">
                <a:tc>
                  <a:txBody>
                    <a:bodyPr/>
                    <a:lstStyle/>
                    <a:p>
                      <a:endParaRPr lang="en-IN" sz="200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Histoplasmosis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i="1"/>
                        <a:t>Histoplasma capsulatum</a:t>
                      </a:r>
                      <a:endParaRPr lang="en-IN" sz="200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Inhalation of spores from bird/bat droppings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/>
                        <a:t>Flu-like symptoms, respiratory infection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Protective </a:t>
                      </a:r>
                      <a:r>
                        <a:rPr lang="fr-FR" sz="2000" dirty="0" err="1"/>
                        <a:t>masks</a:t>
                      </a:r>
                      <a:r>
                        <a:rPr lang="fr-FR" sz="2000" dirty="0"/>
                        <a:t> in caves, construction sites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965215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3BCCC0AE-1525-5485-C125-1BF796DD0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8786" y="1288957"/>
            <a:ext cx="257597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A6FAD3F-BEFD-428B-62CA-03EC78519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8786" y="1304832"/>
            <a:ext cx="257597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8C27B34F-A565-2DD9-31BB-2E049ED58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8786" y="1320707"/>
            <a:ext cx="257597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C50A9D36-F45A-84D1-D20C-6025A99F4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8786" y="1336582"/>
            <a:ext cx="257597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BAC6091A-779E-72A0-FD36-1827B979C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255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61DC-7AA3-F5CB-DBA1-D1C448C54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F40B2C-4100-B0B7-21C4-992B58C009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305041"/>
              </p:ext>
            </p:extLst>
          </p:nvPr>
        </p:nvGraphicFramePr>
        <p:xfrm>
          <a:off x="228600" y="274638"/>
          <a:ext cx="8915400" cy="9709931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175745024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00306056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820397094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120098876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889838737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3020299396"/>
                    </a:ext>
                  </a:extLst>
                </a:gridCol>
              </a:tblGrid>
              <a:tr h="539477">
                <a:tc>
                  <a:txBody>
                    <a:bodyPr/>
                    <a:lstStyle/>
                    <a:p>
                      <a:r>
                        <a:rPr lang="en-IN" sz="1400" b="1" dirty="0"/>
                        <a:t>Microorganism Type</a:t>
                      </a:r>
                      <a:endParaRPr lang="en-IN" sz="1400" dirty="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Disease</a:t>
                      </a:r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Causative Agent</a:t>
                      </a:r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Mode of Transmission</a:t>
                      </a:r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Major Symptoms</a:t>
                      </a:r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Prevention/Control</a:t>
                      </a:r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17293"/>
                  </a:ext>
                </a:extLst>
              </a:tr>
              <a:tr h="1025008">
                <a:tc>
                  <a:txBody>
                    <a:bodyPr/>
                    <a:lstStyle/>
                    <a:p>
                      <a:r>
                        <a:rPr lang="en-IN" sz="1400" b="1"/>
                        <a:t>Bacteria</a:t>
                      </a:r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Tuberculosis (TB)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Mycobacterium tuberculosis</a:t>
                      </a:r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Airborne droplets (cough, sneeze)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Persistent cough, chest pain, blood in sputum, fever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BCG vaccine, avoid contact, proper ventilation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174922"/>
                  </a:ext>
                </a:extLst>
              </a:tr>
              <a:tr h="701322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Typhoid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Salmonella typhi</a:t>
                      </a:r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Contaminated food/water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High fever, weakness, stomach pain, rashes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Hygienic food/water, vaccination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565797"/>
                  </a:ext>
                </a:extLst>
              </a:tr>
              <a:tr h="539477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Cholera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Vibrio cholerae</a:t>
                      </a:r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Contaminated water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Diarrhea, dehydration, vomiting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ORS, clean water, sanitation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29394"/>
                  </a:ext>
                </a:extLst>
              </a:tr>
              <a:tr h="701322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Plague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Yersinia pestis</a:t>
                      </a:r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Rat flea bite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Fever, swollen lymph nodes, chills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Pest control, hygiene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315551"/>
                  </a:ext>
                </a:extLst>
              </a:tr>
              <a:tr h="863164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Tetanus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 dirty="0"/>
                        <a:t>Clostridium tetani</a:t>
                      </a:r>
                      <a:endParaRPr lang="en-IN" sz="1400" dirty="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Deep cuts/wounds, contaminated objects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Muscle stiffness, jaw locking (lockjaw)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TT vaccine, wound care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782184"/>
                  </a:ext>
                </a:extLst>
              </a:tr>
              <a:tr h="701322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Pneumonia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Streptococcus pneumoniae</a:t>
                      </a:r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Droplets, </a:t>
                      </a:r>
                      <a:r>
                        <a:rPr lang="en-IN" sz="1600" dirty="0"/>
                        <a:t>contact</a:t>
                      </a:r>
                      <a:endParaRPr lang="en-IN" sz="1400" dirty="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Chest pain, breathing difficulty, fever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Vaccination, hygiene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660773"/>
                  </a:ext>
                </a:extLst>
              </a:tr>
              <a:tr h="701322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Diphtheria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Corynebacterium diphtheriae</a:t>
                      </a:r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Droplets, close contact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Sore throat, fever, breathing difficulty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DPT vaccine, isolation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200319"/>
                  </a:ext>
                </a:extLst>
              </a:tr>
              <a:tr h="863164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Leprosy (Hansen’s disease)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Mycobacterium leprae</a:t>
                      </a:r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Prolonged contact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Skin lesions, nerve damage, loss of sensation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MDT therapy, early detection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930607"/>
                  </a:ext>
                </a:extLst>
              </a:tr>
              <a:tr h="701322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Anthrax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Bacillus anthracis</a:t>
                      </a:r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Contact with infected animals/products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Skin sores, respiratory issues, fever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Vaccination (for at-risk), protective gear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936789"/>
                  </a:ext>
                </a:extLst>
              </a:tr>
              <a:tr h="539477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Food poisoning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Clostridium botulinum</a:t>
                      </a:r>
                      <a:r>
                        <a:rPr lang="en-IN" sz="1400"/>
                        <a:t>, </a:t>
                      </a:r>
                      <a:r>
                        <a:rPr lang="en-IN" sz="1400" i="1"/>
                        <a:t>Salmonella</a:t>
                      </a:r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Contaminated/stale food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Vomiting, cramps, diarrhea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Food hygiene, storage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401621"/>
                  </a:ext>
                </a:extLst>
              </a:tr>
              <a:tr h="863164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Gonorrhea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Neisseria gonorrhoeae</a:t>
                      </a:r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Sexual contact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Burning urination, discharge, infertility (untreated)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Safe sex practices, antibiotics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242478"/>
                  </a:ext>
                </a:extLst>
              </a:tr>
              <a:tr h="701322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Syphilis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Treponema pallidum</a:t>
                      </a:r>
                      <a:endParaRPr lang="en-IN" sz="1400"/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Sexual contact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Sores, rash, nerve damage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Safe sex practices, early treatment</a:t>
                      </a:r>
                    </a:p>
                  </a:txBody>
                  <a:tcPr marL="25863" marR="25863" marT="12931" marB="129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4458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DDCDDA-DF78-DD05-5793-50F5DE63E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487944"/>
              </p:ext>
            </p:extLst>
          </p:nvPr>
        </p:nvGraphicFramePr>
        <p:xfrm>
          <a:off x="9601200" y="419106"/>
          <a:ext cx="8229600" cy="9553559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31715078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24848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65587917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10173904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34205872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132884823"/>
                    </a:ext>
                  </a:extLst>
                </a:gridCol>
              </a:tblGrid>
              <a:tr h="561198">
                <a:tc>
                  <a:txBody>
                    <a:bodyPr/>
                    <a:lstStyle/>
                    <a:p>
                      <a:r>
                        <a:rPr lang="en-IN" sz="1400" b="1"/>
                        <a:t>Microorganism Type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Disease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Causative Agent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Mode of Transmission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Major Symptoms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Prevention/Control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206100"/>
                  </a:ext>
                </a:extLst>
              </a:tr>
              <a:tr h="900555">
                <a:tc>
                  <a:txBody>
                    <a:bodyPr/>
                    <a:lstStyle/>
                    <a:p>
                      <a:r>
                        <a:rPr lang="en-IN" sz="1400" b="1"/>
                        <a:t>Viruses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COVID-19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SARS-CoV-2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Airborne, surface contact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Fever, dry cough, fatigue, breathing difficulty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Vaccination, masks, hygiene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74220"/>
                  </a:ext>
                </a:extLst>
              </a:tr>
              <a:tr h="561198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Influenza (Flu)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Influenza virus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Airborne droplets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Fever, chills, body ache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Flu shot, hygiene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2664890"/>
                  </a:ext>
                </a:extLst>
              </a:tr>
              <a:tr h="561198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Measles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Measles virus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Droplets, direct contact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Rashes, cough, fever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MMR vaccine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67904"/>
                  </a:ext>
                </a:extLst>
              </a:tr>
              <a:tr h="561198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Mumps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Mumps virus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Droplets, saliva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Swollen glands, pain, fever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MMR vaccine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62340"/>
                  </a:ext>
                </a:extLst>
              </a:tr>
              <a:tr h="561198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Rubella (German measles)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Rubella virus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Droplets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Mild fever, rash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MMR vaccine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744515"/>
                  </a:ext>
                </a:extLst>
              </a:tr>
              <a:tr h="730877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Polio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 dirty="0"/>
                        <a:t>Poliovirus</a:t>
                      </a:r>
                      <a:endParaRPr lang="en-IN" sz="1400" dirty="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Contaminated water/food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Paralysis, fever, muscle pain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Polio vaccine (OPV/IPV)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268321"/>
                  </a:ext>
                </a:extLst>
              </a:tr>
              <a:tr h="561198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Hepatitis A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Hepatitis A virus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Contaminated food/water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Jaundice, nausea, fatigue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Vaccination, hygiene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758624"/>
                  </a:ext>
                </a:extLst>
              </a:tr>
              <a:tr h="900555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Hepatitis B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Hepatitis B virus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Body fluids, blood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Liver damage, yellow skin/eyes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HBV vaccine, avoid needle sharing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890188"/>
                  </a:ext>
                </a:extLst>
              </a:tr>
              <a:tr h="900555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AIDS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HIV (Human Immunodeficiency Virus)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Blood, sexual contact, mother to baby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Weak immunity, infections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Safe sex, no shared needles, ART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776854"/>
                  </a:ext>
                </a:extLst>
              </a:tr>
              <a:tr h="730877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Rabies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Rabies virus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Bite of infected animal (e.g. dog)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Hydrophobia, paralysis, coma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Rabies vaccine, post-bite treatment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466189"/>
                  </a:ext>
                </a:extLst>
              </a:tr>
              <a:tr h="730877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Dengue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Dengue virus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Mosquito bite (</a:t>
                      </a:r>
                      <a:r>
                        <a:rPr lang="en-IN" sz="1400" i="1"/>
                        <a:t>Aedes aegypti</a:t>
                      </a:r>
                      <a:r>
                        <a:rPr lang="en-IN" sz="1400"/>
                        <a:t>)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Fever, joint pain, rash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Mosquito control, no stagnant water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686517"/>
                  </a:ext>
                </a:extLst>
              </a:tr>
              <a:tr h="561198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Chickenpox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Varicella-zoster virus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Airborne, direct contact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Itchy blisters, fever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Chickenpox vaccine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843277"/>
                  </a:ext>
                </a:extLst>
              </a:tr>
              <a:tr h="730877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Smallpox (eradicated)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i="1"/>
                        <a:t>Variola virus</a:t>
                      </a:r>
                      <a:endParaRPr lang="en-IN" sz="1400"/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Droplets, contact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High fever, pus-filled sores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(Eradicated via global vaccination)</a:t>
                      </a:r>
                    </a:p>
                  </a:txBody>
                  <a:tcPr marL="28112" marR="28112" marT="14056" marB="14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8720204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91551784-F66F-642D-34C5-8B734E2FE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497" y="1911442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FC3E579-F275-15EC-5506-96F19AEF2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497" y="1927317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436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2EADD-7A7E-542D-FDC0-3E1F8166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37533-2AC0-5338-4840-91241FB2E9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0500"/>
            <a:ext cx="7772400" cy="1470025"/>
          </a:xfrm>
        </p:spPr>
        <p:txBody>
          <a:bodyPr/>
          <a:lstStyle/>
          <a:p>
            <a:r>
              <a:rPr lang="en-IN" dirty="0"/>
              <a:t>Communicable Diseases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66DAD-2D36-ABE1-F794-2EA824CA8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400" y="2838450"/>
            <a:ext cx="10591800" cy="46101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Diseases that </a:t>
            </a:r>
            <a:r>
              <a:rPr lang="en-US" b="1" dirty="0"/>
              <a:t>spread from one person to another</a:t>
            </a:r>
            <a:r>
              <a:rPr lang="en-US" dirty="0"/>
              <a:t> through air, water, food, contact, or vectors (insects).</a:t>
            </a:r>
          </a:p>
          <a:p>
            <a:pPr>
              <a:buNone/>
            </a:pPr>
            <a:r>
              <a:rPr lang="en-US" b="1" dirty="0"/>
              <a:t>Examples: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Tuberculosis (air)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Cholera (water)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Typhoid (food)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Malaria (mosquito)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7487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E882C-BFC3-1FC1-7132-6A7E8B00D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8C050-ADD9-C4BC-01C7-C365A8375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0500"/>
            <a:ext cx="7772400" cy="1470025"/>
          </a:xfrm>
        </p:spPr>
        <p:txBody>
          <a:bodyPr/>
          <a:lstStyle/>
          <a:p>
            <a:r>
              <a:rPr lang="en-IN" dirty="0"/>
              <a:t>Prevention of Communicable Diseases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6ECAE-F1BD-7504-DFFC-B9D9976FF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400" y="2838450"/>
            <a:ext cx="10591800" cy="4610100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Vaccination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Hygiene and sanitation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Proper waste disposal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Boiling water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Avoiding contact with infected persons</a:t>
            </a:r>
            <a:endParaRPr lang="en-IN" dirty="0"/>
          </a:p>
          <a:p>
            <a:pPr>
              <a:buNone/>
            </a:pPr>
            <a:r>
              <a:rPr lang="en-IN" b="1" dirty="0"/>
              <a:t>Term:</a:t>
            </a:r>
            <a:br>
              <a:rPr lang="en-IN" dirty="0"/>
            </a:br>
            <a:r>
              <a:rPr lang="en-IN" b="1" dirty="0"/>
              <a:t>Vaccine</a:t>
            </a:r>
            <a:r>
              <a:rPr lang="en-IN" dirty="0"/>
              <a:t> – A substance that stimulates the immune system to develop immunity against specific diseases.</a:t>
            </a:r>
          </a:p>
          <a:p>
            <a:pPr>
              <a:buNone/>
            </a:pPr>
            <a:r>
              <a:rPr lang="en-IN" b="1" dirty="0"/>
              <a:t>Examples of Vaccines: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BCG (Tuberculosis)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Oral Polio Vaccine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MMR (Measles, Mumps, Rubella)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7183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C7020-4D46-36C7-0293-E33F01F10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62E0-0E10-6386-5863-BE5E4E521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0500"/>
            <a:ext cx="7772400" cy="1470025"/>
          </a:xfrm>
        </p:spPr>
        <p:txBody>
          <a:bodyPr/>
          <a:lstStyle/>
          <a:p>
            <a:r>
              <a:rPr lang="en-IN" dirty="0"/>
              <a:t>Food Spoilage by Microbes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19790-B3E4-C604-051C-262F5D9CE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400" y="2838450"/>
            <a:ext cx="10591800" cy="46101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/>
              <a:t>Causes: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Microbial growth changes </a:t>
            </a:r>
            <a:r>
              <a:rPr lang="en-US" b="1" dirty="0"/>
              <a:t>taste, smell, color, and texture</a:t>
            </a:r>
            <a:r>
              <a:rPr lang="en-US" dirty="0"/>
              <a:t> of food.</a:t>
            </a:r>
          </a:p>
          <a:p>
            <a:pPr>
              <a:buNone/>
            </a:pPr>
            <a:r>
              <a:rPr lang="en-US" b="1" dirty="0"/>
              <a:t>Signs of Spoilage: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Foul smell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Discoloration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Gas 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Sliminess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(Faster in warm and moist conditions)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27063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B2C96-9677-C64D-A7A0-4E2B4B3D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D237E-4881-52B3-3C7B-76FEED9C5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0500"/>
            <a:ext cx="7772400" cy="1470025"/>
          </a:xfrm>
        </p:spPr>
        <p:txBody>
          <a:bodyPr/>
          <a:lstStyle/>
          <a:p>
            <a:r>
              <a:rPr lang="en-IN" dirty="0"/>
              <a:t>Food Preservation 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B45E3-AF12-B509-F41F-0EFB765E9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400" y="2838450"/>
            <a:ext cx="10591800" cy="46101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IN" b="1" dirty="0"/>
              <a:t>Why Needed:</a:t>
            </a:r>
            <a:br>
              <a:rPr lang="en-IN" dirty="0"/>
            </a:br>
            <a:r>
              <a:rPr lang="en-IN" dirty="0"/>
              <a:t>To prevent spoilage, food wastage, and foodborne diseases.</a:t>
            </a:r>
          </a:p>
          <a:p>
            <a:pPr>
              <a:buNone/>
            </a:pPr>
            <a:r>
              <a:rPr lang="en-IN" b="1" dirty="0"/>
              <a:t>Methods of Preservation: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Chemical preservatives</a:t>
            </a:r>
            <a:r>
              <a:rPr lang="en-IN" dirty="0"/>
              <a:t> (e.g., sodium benzoate, potassium metabisulphite)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Pasteurization</a:t>
            </a:r>
            <a:r>
              <a:rPr lang="en-IN" dirty="0"/>
              <a:t> (milk)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Refrigeration and freezing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Vacuum packing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Drying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Canning and bottling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Salting and pickling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7888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3C55F-A560-C590-195D-90269FF3E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FC363-0AB4-2CF0-69C2-C3AF48A5E1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0500"/>
            <a:ext cx="7772400" cy="1470025"/>
          </a:xfrm>
        </p:spPr>
        <p:txBody>
          <a:bodyPr>
            <a:normAutofit/>
          </a:bodyPr>
          <a:lstStyle/>
          <a:p>
            <a:r>
              <a:rPr lang="en-IN" dirty="0"/>
              <a:t>Nitrogen Fixation and Nitrogen Cycle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058E24-1818-1130-A69D-5E1A8CD35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400" y="2838450"/>
            <a:ext cx="10591800" cy="461010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Microbes like </a:t>
            </a:r>
            <a:r>
              <a:rPr lang="en-IN" b="1" dirty="0"/>
              <a:t>Rhizobium</a:t>
            </a:r>
            <a:r>
              <a:rPr lang="en-IN" dirty="0"/>
              <a:t> and </a:t>
            </a:r>
            <a:r>
              <a:rPr lang="en-IN" b="1" dirty="0"/>
              <a:t>cyanobacteria (blue-green algae)</a:t>
            </a:r>
            <a:r>
              <a:rPr lang="en-IN" dirty="0"/>
              <a:t> fix atmospheric nitrogen.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Maintain </a:t>
            </a:r>
            <a:r>
              <a:rPr lang="en-IN" b="1" dirty="0"/>
              <a:t>nitrogen balance</a:t>
            </a:r>
            <a:r>
              <a:rPr lang="en-IN" dirty="0"/>
              <a:t> in nature.</a:t>
            </a:r>
          </a:p>
          <a:p>
            <a:pPr>
              <a:buNone/>
            </a:pPr>
            <a:r>
              <a:rPr lang="en-IN" b="1" dirty="0"/>
              <a:t>Nitrogen Cycle Stages: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Nitrogen fixation (bacteria)</a:t>
            </a:r>
          </a:p>
          <a:p>
            <a:pPr>
              <a:buFont typeface="+mj-lt"/>
              <a:buAutoNum type="arabicPeriod"/>
            </a:pPr>
            <a:r>
              <a:rPr lang="en-IN" dirty="0"/>
              <a:t>Nitrification</a:t>
            </a:r>
          </a:p>
          <a:p>
            <a:pPr>
              <a:buFont typeface="+mj-lt"/>
              <a:buAutoNum type="arabicPeriod"/>
            </a:pPr>
            <a:r>
              <a:rPr lang="en-IN" dirty="0"/>
              <a:t>Assimilation (plants absorb nitrates)</a:t>
            </a:r>
          </a:p>
          <a:p>
            <a:pPr>
              <a:buFont typeface="+mj-lt"/>
              <a:buAutoNum type="arabicPeriod"/>
            </a:pPr>
            <a:r>
              <a:rPr lang="en-IN" dirty="0"/>
              <a:t>Ammonification (from dead organisms)</a:t>
            </a:r>
          </a:p>
          <a:p>
            <a:pPr>
              <a:buFont typeface="+mj-lt"/>
              <a:buAutoNum type="arabicPeriod"/>
            </a:pPr>
            <a:r>
              <a:rPr lang="en-IN" dirty="0"/>
              <a:t>Denitrification (back to atmosphere)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2365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FB740-AD6C-ED5E-F230-064EF4FE0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60ECC-E799-A07F-1AF1-3DD6E82CA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314" name="Picture 2" descr="Nitrogen fixation, its types and mechanism - Online Science Notes">
            <a:extLst>
              <a:ext uri="{FF2B5EF4-FFF2-40B4-BE49-F238E27FC236}">
                <a16:creationId xmlns:a16="http://schemas.microsoft.com/office/drawing/2014/main" id="{E0C23BEC-CB17-CEAA-BDF8-5CB876ACB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-21590"/>
            <a:ext cx="12192000" cy="9956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004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DECEC-E0DC-3501-0D1B-4929027B3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91F91-BF4D-EFE1-9874-B7AE3A91D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0500"/>
            <a:ext cx="7772400" cy="1470025"/>
          </a:xfrm>
        </p:spPr>
        <p:txBody>
          <a:bodyPr/>
          <a:lstStyle/>
          <a:p>
            <a:r>
              <a:rPr lang="en-IN" dirty="0"/>
              <a:t>Antibiotics and Antiseptics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FFA69-3191-F010-1C67-027AB9694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400" y="2838450"/>
            <a:ext cx="10591800" cy="46101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Antibiotics</a:t>
            </a:r>
            <a:r>
              <a:rPr lang="en-IN" dirty="0"/>
              <a:t> – Substances produced by microbes that kill/inhibit harmful bacteria.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Example: Penicillin from </a:t>
            </a:r>
            <a:r>
              <a:rPr lang="en-IN" i="1" dirty="0"/>
              <a:t>Penicillium notatum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Antiseptics</a:t>
            </a:r>
            <a:r>
              <a:rPr lang="en-IN" dirty="0"/>
              <a:t> – Chemicals applied to the skin to kill germs.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Example: Dettol, iodine</a:t>
            </a:r>
          </a:p>
          <a:p>
            <a:r>
              <a:rPr lang="en-IN" b="1" dirty="0"/>
              <a:t>Caution:</a:t>
            </a:r>
            <a:br>
              <a:rPr lang="en-IN" dirty="0"/>
            </a:br>
            <a:r>
              <a:rPr lang="en-IN" dirty="0"/>
              <a:t>Overuse or misuse of antibiotics leads to </a:t>
            </a:r>
            <a:r>
              <a:rPr lang="en-IN" b="1" dirty="0"/>
              <a:t>resistance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9476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3F234-C246-1805-BA08-30394C3D6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EDC2B-C344-5774-ED10-32349D511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0500"/>
            <a:ext cx="7772400" cy="1470025"/>
          </a:xfrm>
        </p:spPr>
        <p:txBody>
          <a:bodyPr/>
          <a:lstStyle/>
          <a:p>
            <a:r>
              <a:rPr lang="en-IN" b="1" dirty="0"/>
              <a:t>Fermentation by Microorganisms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5D01B-B993-D0D7-62AA-737C3CBE2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400" y="2838450"/>
            <a:ext cx="10591800" cy="46101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Yeast is used in </a:t>
            </a:r>
            <a:r>
              <a:rPr lang="en-US" sz="3600" b="1" dirty="0"/>
              <a:t>alcohol production</a:t>
            </a:r>
            <a:r>
              <a:rPr lang="en-US" sz="3600" dirty="0"/>
              <a:t> and </a:t>
            </a:r>
            <a:r>
              <a:rPr lang="en-US" sz="3600" b="1" dirty="0"/>
              <a:t>bread rising</a:t>
            </a:r>
            <a:r>
              <a:rPr lang="en-US" sz="3600" dirty="0"/>
              <a:t> (releases CO₂).</a:t>
            </a:r>
            <a:endParaRPr lang="en-IN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A1D44B29-3EDF-53E2-5386-6EC0E5340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610100"/>
            <a:ext cx="91440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9236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98492-6A1B-77BD-0C4B-5C7284373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B88BF-D86E-4AFF-9B76-0792017DF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0500"/>
            <a:ext cx="7772400" cy="1470025"/>
          </a:xfrm>
        </p:spPr>
        <p:txBody>
          <a:bodyPr/>
          <a:lstStyle/>
          <a:p>
            <a:r>
              <a:rPr lang="en-US" dirty="0"/>
              <a:t>Role in Environment and Biotechnology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1E0F3-6DDE-BF56-9B70-0CE46B8E8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400" y="2838450"/>
            <a:ext cx="10591800" cy="46101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Decomposers</a:t>
            </a:r>
            <a:r>
              <a:rPr lang="en-US" dirty="0"/>
              <a:t> – Fungi and bacteria break down dead matter.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Oil-eating bacteria</a:t>
            </a:r>
            <a:r>
              <a:rPr lang="en-US" dirty="0"/>
              <a:t> – Clean oil spills.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in </a:t>
            </a:r>
            <a:r>
              <a:rPr lang="en-US" b="1" dirty="0"/>
              <a:t>biotechnology</a:t>
            </a:r>
            <a:r>
              <a:rPr lang="en-US" dirty="0"/>
              <a:t> to produce insulin, hormones, vaccines.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7949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D924EE-2A59-4009-582D-E63CE86770B5}"/>
              </a:ext>
            </a:extLst>
          </p:cNvPr>
          <p:cNvSpPr txBox="1"/>
          <p:nvPr/>
        </p:nvSpPr>
        <p:spPr>
          <a:xfrm>
            <a:off x="6858000" y="2552700"/>
            <a:ext cx="5257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/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1856</Words>
  <Application>Microsoft Office PowerPoint</Application>
  <PresentationFormat>Custom</PresentationFormat>
  <Paragraphs>447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Canva Sans Bold</vt:lpstr>
      <vt:lpstr>Office Theme</vt:lpstr>
      <vt:lpstr>PowerPoint Presentation</vt:lpstr>
      <vt:lpstr>What are Microorganisms?</vt:lpstr>
      <vt:lpstr>Where are Microorganisms Found?</vt:lpstr>
      <vt:lpstr>Classification of Microorganisms</vt:lpstr>
      <vt:lpstr>Bacteria</vt:lpstr>
      <vt:lpstr>PowerPoint Presentation</vt:lpstr>
      <vt:lpstr>Algae</vt:lpstr>
      <vt:lpstr>Fungi</vt:lpstr>
      <vt:lpstr>Protozoa</vt:lpstr>
      <vt:lpstr>PowerPoint Presentation</vt:lpstr>
      <vt:lpstr>Viruses</vt:lpstr>
      <vt:lpstr>Useful Microorganisms</vt:lpstr>
      <vt:lpstr>PowerPoint Presentation</vt:lpstr>
      <vt:lpstr>Harmful Microorganisms</vt:lpstr>
      <vt:lpstr>PowerPoint Presentation</vt:lpstr>
      <vt:lpstr>PowerPoint Presentation</vt:lpstr>
      <vt:lpstr>Communicable Diseases</vt:lpstr>
      <vt:lpstr>Prevention of Communicable Diseases</vt:lpstr>
      <vt:lpstr>Food Spoilage by Microbes</vt:lpstr>
      <vt:lpstr>Food Preservation Techniques</vt:lpstr>
      <vt:lpstr>Nitrogen Fixation and Nitrogen Cycle</vt:lpstr>
      <vt:lpstr>PowerPoint Presentation</vt:lpstr>
      <vt:lpstr>Antibiotics and Antiseptics</vt:lpstr>
      <vt:lpstr>Fermentation by Microorganisms</vt:lpstr>
      <vt:lpstr>Role in Environment and Biotechnology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KIT Format</dc:title>
  <dc:creator>Sanskriti Jain</dc:creator>
  <cp:lastModifiedBy>Sanskriti Jain</cp:lastModifiedBy>
  <cp:revision>4</cp:revision>
  <dcterms:created xsi:type="dcterms:W3CDTF">2006-08-16T00:00:00Z</dcterms:created>
  <dcterms:modified xsi:type="dcterms:W3CDTF">2025-05-17T11:49:36Z</dcterms:modified>
  <dc:identifier>DAGm2atu-Zk</dc:identifier>
</cp:coreProperties>
</file>