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75" r:id="rId9"/>
    <p:sldId id="276" r:id="rId10"/>
    <p:sldId id="264" r:id="rId11"/>
    <p:sldId id="277" r:id="rId12"/>
    <p:sldId id="278" r:id="rId13"/>
    <p:sldId id="265" r:id="rId14"/>
    <p:sldId id="266" r:id="rId15"/>
    <p:sldId id="279" r:id="rId16"/>
    <p:sldId id="280" r:id="rId17"/>
    <p:sldId id="267" r:id="rId18"/>
    <p:sldId id="281" r:id="rId19"/>
    <p:sldId id="268" r:id="rId20"/>
    <p:sldId id="282" r:id="rId21"/>
    <p:sldId id="269" r:id="rId22"/>
    <p:sldId id="283" r:id="rId23"/>
    <p:sldId id="284" r:id="rId24"/>
    <p:sldId id="270" r:id="rId25"/>
    <p:sldId id="285" r:id="rId26"/>
    <p:sldId id="286" r:id="rId27"/>
    <p:sldId id="271" r:id="rId28"/>
    <p:sldId id="287" r:id="rId29"/>
    <p:sldId id="272" r:id="rId30"/>
    <p:sldId id="288" r:id="rId31"/>
    <p:sldId id="273" r:id="rId32"/>
    <p:sldId id="289" r:id="rId33"/>
    <p:sldId id="274" r:id="rId34"/>
    <p:sldId id="290" r:id="rId35"/>
    <p:sldId id="291" r:id="rId36"/>
    <p:sldId id="293" r:id="rId37"/>
    <p:sldId id="294" r:id="rId38"/>
    <p:sldId id="295" r:id="rId39"/>
    <p:sldId id="296" r:id="rId40"/>
    <p:sldId id="257" r:id="rId41"/>
  </p:sldIdLst>
  <p:sldSz cx="18288000" cy="10287000"/>
  <p:notesSz cx="6858000" cy="9144000"/>
  <p:embeddedFontLst>
    <p:embeddedFont>
      <p:font typeface="Canva Sans Bold" panose="020B060402020202020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FBAE56-780A-48D6-B71E-850C4938BFB1}" v="82" dt="2025-05-28T02:51:35.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skriti Jain" userId="df811092909c9c3b" providerId="LiveId" clId="{B7FBAE56-780A-48D6-B71E-850C4938BFB1}"/>
    <pc:docChg chg="addSld delSld modSld">
      <pc:chgData name="Sanskriti Jain" userId="df811092909c9c3b" providerId="LiveId" clId="{B7FBAE56-780A-48D6-B71E-850C4938BFB1}" dt="2025-05-28T02:51:54.535" v="152" actId="14100"/>
      <pc:docMkLst>
        <pc:docMk/>
      </pc:docMkLst>
      <pc:sldChg chg="modSp mod">
        <pc:chgData name="Sanskriti Jain" userId="df811092909c9c3b" providerId="LiveId" clId="{B7FBAE56-780A-48D6-B71E-850C4938BFB1}" dt="2025-05-28T02:33:59.907" v="2" actId="1076"/>
        <pc:sldMkLst>
          <pc:docMk/>
          <pc:sldMk cId="863864575" sldId="266"/>
        </pc:sldMkLst>
        <pc:spChg chg="mod">
          <ac:chgData name="Sanskriti Jain" userId="df811092909c9c3b" providerId="LiveId" clId="{B7FBAE56-780A-48D6-B71E-850C4938BFB1}" dt="2025-05-28T02:33:49.427" v="0"/>
          <ac:spMkLst>
            <pc:docMk/>
            <pc:sldMk cId="863864575" sldId="266"/>
            <ac:spMk id="2" creationId="{2F97F35D-1E3C-5C44-AFC6-9907DE799EE8}"/>
          </ac:spMkLst>
        </pc:spChg>
        <pc:spChg chg="mod">
          <ac:chgData name="Sanskriti Jain" userId="df811092909c9c3b" providerId="LiveId" clId="{B7FBAE56-780A-48D6-B71E-850C4938BFB1}" dt="2025-05-28T02:33:59.907" v="2" actId="1076"/>
          <ac:spMkLst>
            <pc:docMk/>
            <pc:sldMk cId="863864575" sldId="266"/>
            <ac:spMk id="4" creationId="{F9DD7D53-77FB-38FE-779D-F250C8FA1D58}"/>
          </ac:spMkLst>
        </pc:spChg>
      </pc:sldChg>
      <pc:sldChg chg="modSp mod">
        <pc:chgData name="Sanskriti Jain" userId="df811092909c9c3b" providerId="LiveId" clId="{B7FBAE56-780A-48D6-B71E-850C4938BFB1}" dt="2025-05-28T02:35:45.715" v="14" actId="403"/>
        <pc:sldMkLst>
          <pc:docMk/>
          <pc:sldMk cId="1477734953" sldId="267"/>
        </pc:sldMkLst>
        <pc:spChg chg="mod">
          <ac:chgData name="Sanskriti Jain" userId="df811092909c9c3b" providerId="LiveId" clId="{B7FBAE56-780A-48D6-B71E-850C4938BFB1}" dt="2025-05-28T02:35:31.984" v="10"/>
          <ac:spMkLst>
            <pc:docMk/>
            <pc:sldMk cId="1477734953" sldId="267"/>
            <ac:spMk id="2" creationId="{54979996-84C1-4A89-8466-99D9D2873739}"/>
          </ac:spMkLst>
        </pc:spChg>
        <pc:spChg chg="mod">
          <ac:chgData name="Sanskriti Jain" userId="df811092909c9c3b" providerId="LiveId" clId="{B7FBAE56-780A-48D6-B71E-850C4938BFB1}" dt="2025-05-28T02:35:45.715" v="14" actId="403"/>
          <ac:spMkLst>
            <pc:docMk/>
            <pc:sldMk cId="1477734953" sldId="267"/>
            <ac:spMk id="4" creationId="{47ED31D4-04DE-47C0-6456-078DE8082979}"/>
          </ac:spMkLst>
        </pc:spChg>
      </pc:sldChg>
      <pc:sldChg chg="modSp mod">
        <pc:chgData name="Sanskriti Jain" userId="df811092909c9c3b" providerId="LiveId" clId="{B7FBAE56-780A-48D6-B71E-850C4938BFB1}" dt="2025-05-28T02:36:35.159" v="21" actId="1076"/>
        <pc:sldMkLst>
          <pc:docMk/>
          <pc:sldMk cId="1481123659" sldId="268"/>
        </pc:sldMkLst>
        <pc:spChg chg="mod">
          <ac:chgData name="Sanskriti Jain" userId="df811092909c9c3b" providerId="LiveId" clId="{B7FBAE56-780A-48D6-B71E-850C4938BFB1}" dt="2025-05-28T02:36:26.638" v="19"/>
          <ac:spMkLst>
            <pc:docMk/>
            <pc:sldMk cId="1481123659" sldId="268"/>
            <ac:spMk id="2" creationId="{E510BF8C-EE85-E28F-EBED-EB3427E2B69D}"/>
          </ac:spMkLst>
        </pc:spChg>
        <pc:spChg chg="mod">
          <ac:chgData name="Sanskriti Jain" userId="df811092909c9c3b" providerId="LiveId" clId="{B7FBAE56-780A-48D6-B71E-850C4938BFB1}" dt="2025-05-28T02:36:35.159" v="21" actId="1076"/>
          <ac:spMkLst>
            <pc:docMk/>
            <pc:sldMk cId="1481123659" sldId="268"/>
            <ac:spMk id="4" creationId="{5628D705-6856-BFA2-586D-6F3AFDA2AA8D}"/>
          </ac:spMkLst>
        </pc:spChg>
      </pc:sldChg>
      <pc:sldChg chg="modSp mod">
        <pc:chgData name="Sanskriti Jain" userId="df811092909c9c3b" providerId="LiveId" clId="{B7FBAE56-780A-48D6-B71E-850C4938BFB1}" dt="2025-05-28T02:37:27.193" v="28" actId="1076"/>
        <pc:sldMkLst>
          <pc:docMk/>
          <pc:sldMk cId="2266510548" sldId="269"/>
        </pc:sldMkLst>
        <pc:spChg chg="mod">
          <ac:chgData name="Sanskriti Jain" userId="df811092909c9c3b" providerId="LiveId" clId="{B7FBAE56-780A-48D6-B71E-850C4938BFB1}" dt="2025-05-28T02:37:16.987" v="26"/>
          <ac:spMkLst>
            <pc:docMk/>
            <pc:sldMk cId="2266510548" sldId="269"/>
            <ac:spMk id="2" creationId="{75B1D811-A861-141E-2F5E-582EE6A3B714}"/>
          </ac:spMkLst>
        </pc:spChg>
        <pc:spChg chg="mod">
          <ac:chgData name="Sanskriti Jain" userId="df811092909c9c3b" providerId="LiveId" clId="{B7FBAE56-780A-48D6-B71E-850C4938BFB1}" dt="2025-05-28T02:37:27.193" v="28" actId="1076"/>
          <ac:spMkLst>
            <pc:docMk/>
            <pc:sldMk cId="2266510548" sldId="269"/>
            <ac:spMk id="4" creationId="{BD04BA67-6EB6-D9FE-0049-19BAAF6EAE8B}"/>
          </ac:spMkLst>
        </pc:spChg>
      </pc:sldChg>
      <pc:sldChg chg="modSp mod">
        <pc:chgData name="Sanskriti Jain" userId="df811092909c9c3b" providerId="LiveId" clId="{B7FBAE56-780A-48D6-B71E-850C4938BFB1}" dt="2025-05-28T02:38:43.461" v="37"/>
        <pc:sldMkLst>
          <pc:docMk/>
          <pc:sldMk cId="2591276704" sldId="270"/>
        </pc:sldMkLst>
        <pc:spChg chg="mod">
          <ac:chgData name="Sanskriti Jain" userId="df811092909c9c3b" providerId="LiveId" clId="{B7FBAE56-780A-48D6-B71E-850C4938BFB1}" dt="2025-05-28T02:38:36.164" v="36"/>
          <ac:spMkLst>
            <pc:docMk/>
            <pc:sldMk cId="2591276704" sldId="270"/>
            <ac:spMk id="2" creationId="{3400A734-3CF6-CE65-E2F3-5116F7217EB5}"/>
          </ac:spMkLst>
        </pc:spChg>
        <pc:spChg chg="mod">
          <ac:chgData name="Sanskriti Jain" userId="df811092909c9c3b" providerId="LiveId" clId="{B7FBAE56-780A-48D6-B71E-850C4938BFB1}" dt="2025-05-28T02:38:43.461" v="37"/>
          <ac:spMkLst>
            <pc:docMk/>
            <pc:sldMk cId="2591276704" sldId="270"/>
            <ac:spMk id="4" creationId="{DBBC5052-1B88-7B83-98DE-764C2C48F0D7}"/>
          </ac:spMkLst>
        </pc:spChg>
      </pc:sldChg>
      <pc:sldChg chg="modSp mod">
        <pc:chgData name="Sanskriti Jain" userId="df811092909c9c3b" providerId="LiveId" clId="{B7FBAE56-780A-48D6-B71E-850C4938BFB1}" dt="2025-05-28T02:40:16.448" v="47" actId="1076"/>
        <pc:sldMkLst>
          <pc:docMk/>
          <pc:sldMk cId="3497117428" sldId="271"/>
        </pc:sldMkLst>
        <pc:spChg chg="mod">
          <ac:chgData name="Sanskriti Jain" userId="df811092909c9c3b" providerId="LiveId" clId="{B7FBAE56-780A-48D6-B71E-850C4938BFB1}" dt="2025-05-28T02:40:03.578" v="45"/>
          <ac:spMkLst>
            <pc:docMk/>
            <pc:sldMk cId="3497117428" sldId="271"/>
            <ac:spMk id="2" creationId="{5E489037-C60E-B2AD-5D00-E4B7F7679F3D}"/>
          </ac:spMkLst>
        </pc:spChg>
        <pc:spChg chg="mod">
          <ac:chgData name="Sanskriti Jain" userId="df811092909c9c3b" providerId="LiveId" clId="{B7FBAE56-780A-48D6-B71E-850C4938BFB1}" dt="2025-05-28T02:40:16.448" v="47" actId="1076"/>
          <ac:spMkLst>
            <pc:docMk/>
            <pc:sldMk cId="3497117428" sldId="271"/>
            <ac:spMk id="4" creationId="{92D386C5-7A2C-DD99-7004-F650AB88A8F6}"/>
          </ac:spMkLst>
        </pc:spChg>
      </pc:sldChg>
      <pc:sldChg chg="modSp mod">
        <pc:chgData name="Sanskriti Jain" userId="df811092909c9c3b" providerId="LiveId" clId="{B7FBAE56-780A-48D6-B71E-850C4938BFB1}" dt="2025-05-28T02:41:18.172" v="53" actId="403"/>
        <pc:sldMkLst>
          <pc:docMk/>
          <pc:sldMk cId="1167972640" sldId="272"/>
        </pc:sldMkLst>
        <pc:spChg chg="mod">
          <ac:chgData name="Sanskriti Jain" userId="df811092909c9c3b" providerId="LiveId" clId="{B7FBAE56-780A-48D6-B71E-850C4938BFB1}" dt="2025-05-28T02:41:06.423" v="50"/>
          <ac:spMkLst>
            <pc:docMk/>
            <pc:sldMk cId="1167972640" sldId="272"/>
            <ac:spMk id="2" creationId="{831F6511-A78E-489E-867C-30DC68150592}"/>
          </ac:spMkLst>
        </pc:spChg>
        <pc:spChg chg="mod">
          <ac:chgData name="Sanskriti Jain" userId="df811092909c9c3b" providerId="LiveId" clId="{B7FBAE56-780A-48D6-B71E-850C4938BFB1}" dt="2025-05-28T02:41:18.172" v="53" actId="403"/>
          <ac:spMkLst>
            <pc:docMk/>
            <pc:sldMk cId="1167972640" sldId="272"/>
            <ac:spMk id="4" creationId="{4127CFAF-ACB7-F8A0-BDD8-66815E15BABE}"/>
          </ac:spMkLst>
        </pc:spChg>
      </pc:sldChg>
      <pc:sldChg chg="modSp mod">
        <pc:chgData name="Sanskriti Jain" userId="df811092909c9c3b" providerId="LiveId" clId="{B7FBAE56-780A-48D6-B71E-850C4938BFB1}" dt="2025-05-28T02:43:38.772" v="73" actId="1076"/>
        <pc:sldMkLst>
          <pc:docMk/>
          <pc:sldMk cId="3712539617" sldId="273"/>
        </pc:sldMkLst>
        <pc:spChg chg="mod">
          <ac:chgData name="Sanskriti Jain" userId="df811092909c9c3b" providerId="LiveId" clId="{B7FBAE56-780A-48D6-B71E-850C4938BFB1}" dt="2025-05-28T02:43:27.595" v="71"/>
          <ac:spMkLst>
            <pc:docMk/>
            <pc:sldMk cId="3712539617" sldId="273"/>
            <ac:spMk id="2" creationId="{8A4FB72C-8A02-1EDA-E4AD-E2D224EAEEC8}"/>
          </ac:spMkLst>
        </pc:spChg>
        <pc:spChg chg="mod">
          <ac:chgData name="Sanskriti Jain" userId="df811092909c9c3b" providerId="LiveId" clId="{B7FBAE56-780A-48D6-B71E-850C4938BFB1}" dt="2025-05-28T02:43:38.772" v="73" actId="1076"/>
          <ac:spMkLst>
            <pc:docMk/>
            <pc:sldMk cId="3712539617" sldId="273"/>
            <ac:spMk id="4" creationId="{ABA89B6C-204B-E110-ADC6-74312A9E5A9B}"/>
          </ac:spMkLst>
        </pc:spChg>
      </pc:sldChg>
      <pc:sldChg chg="modSp mod">
        <pc:chgData name="Sanskriti Jain" userId="df811092909c9c3b" providerId="LiveId" clId="{B7FBAE56-780A-48D6-B71E-850C4938BFB1}" dt="2025-05-28T02:45:58.413" v="86" actId="1076"/>
        <pc:sldMkLst>
          <pc:docMk/>
          <pc:sldMk cId="439353562" sldId="274"/>
        </pc:sldMkLst>
        <pc:spChg chg="mod">
          <ac:chgData name="Sanskriti Jain" userId="df811092909c9c3b" providerId="LiveId" clId="{B7FBAE56-780A-48D6-B71E-850C4938BFB1}" dt="2025-05-28T02:45:40.646" v="84"/>
          <ac:spMkLst>
            <pc:docMk/>
            <pc:sldMk cId="439353562" sldId="274"/>
            <ac:spMk id="2" creationId="{3DC4B6E7-26F5-591B-1516-753ABC88C804}"/>
          </ac:spMkLst>
        </pc:spChg>
        <pc:spChg chg="mod">
          <ac:chgData name="Sanskriti Jain" userId="df811092909c9c3b" providerId="LiveId" clId="{B7FBAE56-780A-48D6-B71E-850C4938BFB1}" dt="2025-05-28T02:45:58.413" v="86" actId="1076"/>
          <ac:spMkLst>
            <pc:docMk/>
            <pc:sldMk cId="439353562" sldId="274"/>
            <ac:spMk id="4" creationId="{540693E5-86CE-398E-2CE8-4BF026A1D334}"/>
          </ac:spMkLst>
        </pc:spChg>
      </pc:sldChg>
      <pc:sldChg chg="addSp modSp new">
        <pc:chgData name="Sanskriti Jain" userId="df811092909c9c3b" providerId="LiveId" clId="{B7FBAE56-780A-48D6-B71E-850C4938BFB1}" dt="2025-05-28T02:34:50.100" v="7" actId="1076"/>
        <pc:sldMkLst>
          <pc:docMk/>
          <pc:sldMk cId="2211281386" sldId="279"/>
        </pc:sldMkLst>
        <pc:picChg chg="add mod">
          <ac:chgData name="Sanskriti Jain" userId="df811092909c9c3b" providerId="LiveId" clId="{B7FBAE56-780A-48D6-B71E-850C4938BFB1}" dt="2025-05-28T02:34:50.100" v="7" actId="1076"/>
          <ac:picMkLst>
            <pc:docMk/>
            <pc:sldMk cId="2211281386" sldId="279"/>
            <ac:picMk id="1026" creationId="{32CD1262-30FC-91BD-82B4-0AB637AB67D9}"/>
          </ac:picMkLst>
        </pc:picChg>
      </pc:sldChg>
      <pc:sldChg chg="addSp new">
        <pc:chgData name="Sanskriti Jain" userId="df811092909c9c3b" providerId="LiveId" clId="{B7FBAE56-780A-48D6-B71E-850C4938BFB1}" dt="2025-05-28T02:35:19.858" v="9"/>
        <pc:sldMkLst>
          <pc:docMk/>
          <pc:sldMk cId="2402687750" sldId="280"/>
        </pc:sldMkLst>
        <pc:picChg chg="add">
          <ac:chgData name="Sanskriti Jain" userId="df811092909c9c3b" providerId="LiveId" clId="{B7FBAE56-780A-48D6-B71E-850C4938BFB1}" dt="2025-05-28T02:35:19.858" v="9"/>
          <ac:picMkLst>
            <pc:docMk/>
            <pc:sldMk cId="2402687750" sldId="280"/>
            <ac:picMk id="2050" creationId="{C54C15A7-542B-0E21-2D39-38BCFF0F6AB4}"/>
          </ac:picMkLst>
        </pc:picChg>
      </pc:sldChg>
      <pc:sldChg chg="addSp modSp new">
        <pc:chgData name="Sanskriti Jain" userId="df811092909c9c3b" providerId="LiveId" clId="{B7FBAE56-780A-48D6-B71E-850C4938BFB1}" dt="2025-05-28T02:36:09.680" v="18" actId="1076"/>
        <pc:sldMkLst>
          <pc:docMk/>
          <pc:sldMk cId="4242885571" sldId="281"/>
        </pc:sldMkLst>
        <pc:picChg chg="add mod">
          <ac:chgData name="Sanskriti Jain" userId="df811092909c9c3b" providerId="LiveId" clId="{B7FBAE56-780A-48D6-B71E-850C4938BFB1}" dt="2025-05-28T02:36:09.680" v="18" actId="1076"/>
          <ac:picMkLst>
            <pc:docMk/>
            <pc:sldMk cId="4242885571" sldId="281"/>
            <ac:picMk id="3074" creationId="{F5B437A3-5937-B2EF-1073-410374DC42D4}"/>
          </ac:picMkLst>
        </pc:picChg>
      </pc:sldChg>
      <pc:sldChg chg="addSp modSp new">
        <pc:chgData name="Sanskriti Jain" userId="df811092909c9c3b" providerId="LiveId" clId="{B7FBAE56-780A-48D6-B71E-850C4938BFB1}" dt="2025-05-28T02:37:03.890" v="25" actId="1076"/>
        <pc:sldMkLst>
          <pc:docMk/>
          <pc:sldMk cId="2531232091" sldId="282"/>
        </pc:sldMkLst>
        <pc:picChg chg="add mod">
          <ac:chgData name="Sanskriti Jain" userId="df811092909c9c3b" providerId="LiveId" clId="{B7FBAE56-780A-48D6-B71E-850C4938BFB1}" dt="2025-05-28T02:37:03.890" v="25" actId="1076"/>
          <ac:picMkLst>
            <pc:docMk/>
            <pc:sldMk cId="2531232091" sldId="282"/>
            <ac:picMk id="4098" creationId="{2EA97CA3-57DD-2C16-1A17-7A03A4D0D13A}"/>
          </ac:picMkLst>
        </pc:picChg>
      </pc:sldChg>
      <pc:sldChg chg="addSp delSp modSp new">
        <pc:chgData name="Sanskriti Jain" userId="df811092909c9c3b" providerId="LiveId" clId="{B7FBAE56-780A-48D6-B71E-850C4938BFB1}" dt="2025-05-28T02:37:58.138" v="33"/>
        <pc:sldMkLst>
          <pc:docMk/>
          <pc:sldMk cId="2162011250" sldId="283"/>
        </pc:sldMkLst>
        <pc:picChg chg="add del mod">
          <ac:chgData name="Sanskriti Jain" userId="df811092909c9c3b" providerId="LiveId" clId="{B7FBAE56-780A-48D6-B71E-850C4938BFB1}" dt="2025-05-28T02:37:49.249" v="32" actId="478"/>
          <ac:picMkLst>
            <pc:docMk/>
            <pc:sldMk cId="2162011250" sldId="283"/>
            <ac:picMk id="5122" creationId="{2CA6E2D4-BC28-A9FB-1ADB-2BC910ED48B7}"/>
          </ac:picMkLst>
        </pc:picChg>
        <pc:picChg chg="add">
          <ac:chgData name="Sanskriti Jain" userId="df811092909c9c3b" providerId="LiveId" clId="{B7FBAE56-780A-48D6-B71E-850C4938BFB1}" dt="2025-05-28T02:37:58.138" v="33"/>
          <ac:picMkLst>
            <pc:docMk/>
            <pc:sldMk cId="2162011250" sldId="283"/>
            <ac:picMk id="5124" creationId="{BBE570CA-07A0-5888-5C74-4DA382D97BDA}"/>
          </ac:picMkLst>
        </pc:picChg>
      </pc:sldChg>
      <pc:sldChg chg="addSp new">
        <pc:chgData name="Sanskriti Jain" userId="df811092909c9c3b" providerId="LiveId" clId="{B7FBAE56-780A-48D6-B71E-850C4938BFB1}" dt="2025-05-28T02:38:20.845" v="35"/>
        <pc:sldMkLst>
          <pc:docMk/>
          <pc:sldMk cId="1404843587" sldId="284"/>
        </pc:sldMkLst>
        <pc:picChg chg="add">
          <ac:chgData name="Sanskriti Jain" userId="df811092909c9c3b" providerId="LiveId" clId="{B7FBAE56-780A-48D6-B71E-850C4938BFB1}" dt="2025-05-28T02:38:20.845" v="35"/>
          <ac:picMkLst>
            <pc:docMk/>
            <pc:sldMk cId="1404843587" sldId="284"/>
            <ac:picMk id="6146" creationId="{6217F48C-49FF-FDBB-A2B8-F30E06349FBD}"/>
          </ac:picMkLst>
        </pc:picChg>
      </pc:sldChg>
      <pc:sldChg chg="addSp modSp new">
        <pc:chgData name="Sanskriti Jain" userId="df811092909c9c3b" providerId="LiveId" clId="{B7FBAE56-780A-48D6-B71E-850C4938BFB1}" dt="2025-05-28T02:39:23.674" v="43" actId="1076"/>
        <pc:sldMkLst>
          <pc:docMk/>
          <pc:sldMk cId="4205247861" sldId="285"/>
        </pc:sldMkLst>
        <pc:spChg chg="add mod">
          <ac:chgData name="Sanskriti Jain" userId="df811092909c9c3b" providerId="LiveId" clId="{B7FBAE56-780A-48D6-B71E-850C4938BFB1}" dt="2025-05-28T02:39:23.674" v="43" actId="1076"/>
          <ac:spMkLst>
            <pc:docMk/>
            <pc:sldMk cId="4205247861" sldId="285"/>
            <ac:spMk id="2" creationId="{EAC93391-B75E-11CC-6154-7712EB14825C}"/>
          </ac:spMkLst>
        </pc:spChg>
        <pc:picChg chg="add mod">
          <ac:chgData name="Sanskriti Jain" userId="df811092909c9c3b" providerId="LiveId" clId="{B7FBAE56-780A-48D6-B71E-850C4938BFB1}" dt="2025-05-28T02:39:23.674" v="43" actId="1076"/>
          <ac:picMkLst>
            <pc:docMk/>
            <pc:sldMk cId="4205247861" sldId="285"/>
            <ac:picMk id="7172" creationId="{F8D102B0-2D6B-77A2-3D67-703894960FAF}"/>
          </ac:picMkLst>
        </pc:picChg>
      </pc:sldChg>
      <pc:sldChg chg="addSp new">
        <pc:chgData name="Sanskriti Jain" userId="df811092909c9c3b" providerId="LiveId" clId="{B7FBAE56-780A-48D6-B71E-850C4938BFB1}" dt="2025-05-28T02:39:45.107" v="44"/>
        <pc:sldMkLst>
          <pc:docMk/>
          <pc:sldMk cId="2425530307" sldId="286"/>
        </pc:sldMkLst>
        <pc:picChg chg="add">
          <ac:chgData name="Sanskriti Jain" userId="df811092909c9c3b" providerId="LiveId" clId="{B7FBAE56-780A-48D6-B71E-850C4938BFB1}" dt="2025-05-28T02:39:45.107" v="44"/>
          <ac:picMkLst>
            <pc:docMk/>
            <pc:sldMk cId="2425530307" sldId="286"/>
            <ac:picMk id="8194" creationId="{20D36B9E-23BE-7C2A-6E50-79539D6F2651}"/>
          </ac:picMkLst>
        </pc:picChg>
      </pc:sldChg>
      <pc:sldChg chg="addSp new">
        <pc:chgData name="Sanskriti Jain" userId="df811092909c9c3b" providerId="LiveId" clId="{B7FBAE56-780A-48D6-B71E-850C4938BFB1}" dt="2025-05-28T02:40:52.920" v="49"/>
        <pc:sldMkLst>
          <pc:docMk/>
          <pc:sldMk cId="3567512475" sldId="287"/>
        </pc:sldMkLst>
        <pc:picChg chg="add">
          <ac:chgData name="Sanskriti Jain" userId="df811092909c9c3b" providerId="LiveId" clId="{B7FBAE56-780A-48D6-B71E-850C4938BFB1}" dt="2025-05-28T02:40:52.920" v="49"/>
          <ac:picMkLst>
            <pc:docMk/>
            <pc:sldMk cId="3567512475" sldId="287"/>
            <ac:picMk id="9218" creationId="{7DA5A85F-67D7-9550-EA66-3C141DD68713}"/>
          </ac:picMkLst>
        </pc:picChg>
      </pc:sldChg>
      <pc:sldChg chg="addSp modSp new">
        <pc:chgData name="Sanskriti Jain" userId="df811092909c9c3b" providerId="LiveId" clId="{B7FBAE56-780A-48D6-B71E-850C4938BFB1}" dt="2025-05-28T02:43:16.948" v="70" actId="1076"/>
        <pc:sldMkLst>
          <pc:docMk/>
          <pc:sldMk cId="2023533290" sldId="288"/>
        </pc:sldMkLst>
        <pc:picChg chg="add mod">
          <ac:chgData name="Sanskriti Jain" userId="df811092909c9c3b" providerId="LiveId" clId="{B7FBAE56-780A-48D6-B71E-850C4938BFB1}" dt="2025-05-28T02:42:48.647" v="65" actId="1076"/>
          <ac:picMkLst>
            <pc:docMk/>
            <pc:sldMk cId="2023533290" sldId="288"/>
            <ac:picMk id="10242" creationId="{8B8613BF-AF65-7157-D4BD-1F92F9F996F1}"/>
          </ac:picMkLst>
        </pc:picChg>
        <pc:picChg chg="add mod">
          <ac:chgData name="Sanskriti Jain" userId="df811092909c9c3b" providerId="LiveId" clId="{B7FBAE56-780A-48D6-B71E-850C4938BFB1}" dt="2025-05-28T02:42:50.049" v="66" actId="1076"/>
          <ac:picMkLst>
            <pc:docMk/>
            <pc:sldMk cId="2023533290" sldId="288"/>
            <ac:picMk id="10244" creationId="{655B9DD2-6599-6075-C0A8-DB76443EF893}"/>
          </ac:picMkLst>
        </pc:picChg>
        <pc:picChg chg="add mod">
          <ac:chgData name="Sanskriti Jain" userId="df811092909c9c3b" providerId="LiveId" clId="{B7FBAE56-780A-48D6-B71E-850C4938BFB1}" dt="2025-05-28T02:43:16.948" v="70" actId="1076"/>
          <ac:picMkLst>
            <pc:docMk/>
            <pc:sldMk cId="2023533290" sldId="288"/>
            <ac:picMk id="10246" creationId="{16B4A302-75F4-9EF6-5775-50CE8FD7E66F}"/>
          </ac:picMkLst>
        </pc:picChg>
      </pc:sldChg>
      <pc:sldChg chg="addSp modSp new">
        <pc:chgData name="Sanskriti Jain" userId="df811092909c9c3b" providerId="LiveId" clId="{B7FBAE56-780A-48D6-B71E-850C4938BFB1}" dt="2025-05-28T02:45:24.662" v="82" actId="14100"/>
        <pc:sldMkLst>
          <pc:docMk/>
          <pc:sldMk cId="1613441624" sldId="289"/>
        </pc:sldMkLst>
        <pc:picChg chg="add mod">
          <ac:chgData name="Sanskriti Jain" userId="df811092909c9c3b" providerId="LiveId" clId="{B7FBAE56-780A-48D6-B71E-850C4938BFB1}" dt="2025-05-28T02:44:12.755" v="77" actId="1076"/>
          <ac:picMkLst>
            <pc:docMk/>
            <pc:sldMk cId="1613441624" sldId="289"/>
            <ac:picMk id="11266" creationId="{4D18C3FA-2862-F033-78A4-B41EFDB8B231}"/>
          </ac:picMkLst>
        </pc:picChg>
        <pc:picChg chg="add mod">
          <ac:chgData name="Sanskriti Jain" userId="df811092909c9c3b" providerId="LiveId" clId="{B7FBAE56-780A-48D6-B71E-850C4938BFB1}" dt="2025-05-28T02:44:58.175" v="79" actId="1076"/>
          <ac:picMkLst>
            <pc:docMk/>
            <pc:sldMk cId="1613441624" sldId="289"/>
            <ac:picMk id="11268" creationId="{BEF20D40-DE0B-26DD-3D51-A000A3EFB50B}"/>
          </ac:picMkLst>
        </pc:picChg>
        <pc:picChg chg="add mod">
          <ac:chgData name="Sanskriti Jain" userId="df811092909c9c3b" providerId="LiveId" clId="{B7FBAE56-780A-48D6-B71E-850C4938BFB1}" dt="2025-05-28T02:45:24.662" v="82" actId="14100"/>
          <ac:picMkLst>
            <pc:docMk/>
            <pc:sldMk cId="1613441624" sldId="289"/>
            <ac:picMk id="11270" creationId="{486DE6B0-6A1F-6DF5-6224-B48BA2E332CD}"/>
          </ac:picMkLst>
        </pc:picChg>
      </pc:sldChg>
      <pc:sldChg chg="addSp modSp new">
        <pc:chgData name="Sanskriti Jain" userId="df811092909c9c3b" providerId="LiveId" clId="{B7FBAE56-780A-48D6-B71E-850C4938BFB1}" dt="2025-05-28T02:47:21.517" v="92" actId="1076"/>
        <pc:sldMkLst>
          <pc:docMk/>
          <pc:sldMk cId="4288486186" sldId="290"/>
        </pc:sldMkLst>
        <pc:picChg chg="add mod">
          <ac:chgData name="Sanskriti Jain" userId="df811092909c9c3b" providerId="LiveId" clId="{B7FBAE56-780A-48D6-B71E-850C4938BFB1}" dt="2025-05-28T02:47:21.517" v="92" actId="1076"/>
          <ac:picMkLst>
            <pc:docMk/>
            <pc:sldMk cId="4288486186" sldId="290"/>
            <ac:picMk id="12290" creationId="{7680B21D-DA60-4B35-EF36-1CADE83EC659}"/>
          </ac:picMkLst>
        </pc:picChg>
      </pc:sldChg>
      <pc:sldChg chg="modSp add mod">
        <pc:chgData name="Sanskriti Jain" userId="df811092909c9c3b" providerId="LiveId" clId="{B7FBAE56-780A-48D6-B71E-850C4938BFB1}" dt="2025-05-28T02:47:54.393" v="98" actId="1076"/>
        <pc:sldMkLst>
          <pc:docMk/>
          <pc:sldMk cId="3630404758" sldId="291"/>
        </pc:sldMkLst>
        <pc:spChg chg="mod">
          <ac:chgData name="Sanskriti Jain" userId="df811092909c9c3b" providerId="LiveId" clId="{B7FBAE56-780A-48D6-B71E-850C4938BFB1}" dt="2025-05-28T02:47:38.751" v="96"/>
          <ac:spMkLst>
            <pc:docMk/>
            <pc:sldMk cId="3630404758" sldId="291"/>
            <ac:spMk id="2" creationId="{AC3FE48A-2DAE-8AFC-73BE-E160C1891538}"/>
          </ac:spMkLst>
        </pc:spChg>
        <pc:spChg chg="mod">
          <ac:chgData name="Sanskriti Jain" userId="df811092909c9c3b" providerId="LiveId" clId="{B7FBAE56-780A-48D6-B71E-850C4938BFB1}" dt="2025-05-28T02:47:54.393" v="98" actId="1076"/>
          <ac:spMkLst>
            <pc:docMk/>
            <pc:sldMk cId="3630404758" sldId="291"/>
            <ac:spMk id="4" creationId="{D9C65AE8-E0D2-19F9-5235-22A9200AEB9A}"/>
          </ac:spMkLst>
        </pc:spChg>
      </pc:sldChg>
      <pc:sldChg chg="add del">
        <pc:chgData name="Sanskriti Jain" userId="df811092909c9c3b" providerId="LiveId" clId="{B7FBAE56-780A-48D6-B71E-850C4938BFB1}" dt="2025-05-28T02:48:52.220" v="101" actId="47"/>
        <pc:sldMkLst>
          <pc:docMk/>
          <pc:sldMk cId="62283028" sldId="292"/>
        </pc:sldMkLst>
      </pc:sldChg>
      <pc:sldChg chg="addSp delSp modSp add mod">
        <pc:chgData name="Sanskriti Jain" userId="df811092909c9c3b" providerId="LiveId" clId="{B7FBAE56-780A-48D6-B71E-850C4938BFB1}" dt="2025-05-28T02:50:18.978" v="132" actId="1076"/>
        <pc:sldMkLst>
          <pc:docMk/>
          <pc:sldMk cId="1790372234" sldId="293"/>
        </pc:sldMkLst>
        <pc:spChg chg="mod">
          <ac:chgData name="Sanskriti Jain" userId="df811092909c9c3b" providerId="LiveId" clId="{B7FBAE56-780A-48D6-B71E-850C4938BFB1}" dt="2025-05-28T02:49:10.289" v="119" actId="20577"/>
          <ac:spMkLst>
            <pc:docMk/>
            <pc:sldMk cId="1790372234" sldId="293"/>
            <ac:spMk id="2" creationId="{002BD273-F098-5770-12B9-491BC9245B6A}"/>
          </ac:spMkLst>
        </pc:spChg>
        <pc:spChg chg="add">
          <ac:chgData name="Sanskriti Jain" userId="df811092909c9c3b" providerId="LiveId" clId="{B7FBAE56-780A-48D6-B71E-850C4938BFB1}" dt="2025-05-28T02:48:56.936" v="103"/>
          <ac:spMkLst>
            <pc:docMk/>
            <pc:sldMk cId="1790372234" sldId="293"/>
            <ac:spMk id="3" creationId="{49EB549E-C0F3-F403-1B4C-EC7AA909A775}"/>
          </ac:spMkLst>
        </pc:spChg>
        <pc:spChg chg="del mod">
          <ac:chgData name="Sanskriti Jain" userId="df811092909c9c3b" providerId="LiveId" clId="{B7FBAE56-780A-48D6-B71E-850C4938BFB1}" dt="2025-05-28T02:49:05.001" v="108"/>
          <ac:spMkLst>
            <pc:docMk/>
            <pc:sldMk cId="1790372234" sldId="293"/>
            <ac:spMk id="4" creationId="{C63BEEA2-E4E2-4E4D-7A7B-EFFE9C6FE0D6}"/>
          </ac:spMkLst>
        </pc:spChg>
        <pc:spChg chg="add del mod">
          <ac:chgData name="Sanskriti Jain" userId="df811092909c9c3b" providerId="LiveId" clId="{B7FBAE56-780A-48D6-B71E-850C4938BFB1}" dt="2025-05-28T02:49:59.560" v="124"/>
          <ac:spMkLst>
            <pc:docMk/>
            <pc:sldMk cId="1790372234" sldId="293"/>
            <ac:spMk id="5" creationId="{9399F961-58E9-9950-C697-EA9563366A9A}"/>
          </ac:spMkLst>
        </pc:spChg>
        <pc:spChg chg="add">
          <ac:chgData name="Sanskriti Jain" userId="df811092909c9c3b" providerId="LiveId" clId="{B7FBAE56-780A-48D6-B71E-850C4938BFB1}" dt="2025-05-28T02:49:53.153" v="121"/>
          <ac:spMkLst>
            <pc:docMk/>
            <pc:sldMk cId="1790372234" sldId="293"/>
            <ac:spMk id="6" creationId="{E5101930-6754-3F5D-ABFB-B8B1A8589AF0}"/>
          </ac:spMkLst>
        </pc:spChg>
        <pc:spChg chg="add">
          <ac:chgData name="Sanskriti Jain" userId="df811092909c9c3b" providerId="LiveId" clId="{B7FBAE56-780A-48D6-B71E-850C4938BFB1}" dt="2025-05-28T02:49:53.153" v="121"/>
          <ac:spMkLst>
            <pc:docMk/>
            <pc:sldMk cId="1790372234" sldId="293"/>
            <ac:spMk id="7" creationId="{44D4997D-CE54-4EA8-49E3-AB3452AF86CC}"/>
          </ac:spMkLst>
        </pc:spChg>
        <pc:spChg chg="add">
          <ac:chgData name="Sanskriti Jain" userId="df811092909c9c3b" providerId="LiveId" clId="{B7FBAE56-780A-48D6-B71E-850C4938BFB1}" dt="2025-05-28T02:49:53.153" v="121"/>
          <ac:spMkLst>
            <pc:docMk/>
            <pc:sldMk cId="1790372234" sldId="293"/>
            <ac:spMk id="8" creationId="{FBBEB3B5-BC25-17A3-C681-1C7D17C2CD54}"/>
          </ac:spMkLst>
        </pc:spChg>
        <pc:spChg chg="add del mod">
          <ac:chgData name="Sanskriti Jain" userId="df811092909c9c3b" providerId="LiveId" clId="{B7FBAE56-780A-48D6-B71E-850C4938BFB1}" dt="2025-05-28T02:50:13.014" v="130"/>
          <ac:spMkLst>
            <pc:docMk/>
            <pc:sldMk cId="1790372234" sldId="293"/>
            <ac:spMk id="9" creationId="{C2E38A5C-545F-A1AC-FFF1-CAD6D155F22B}"/>
          </ac:spMkLst>
        </pc:spChg>
        <pc:spChg chg="add mod">
          <ac:chgData name="Sanskriti Jain" userId="df811092909c9c3b" providerId="LiveId" clId="{B7FBAE56-780A-48D6-B71E-850C4938BFB1}" dt="2025-05-28T02:50:12.103" v="128" actId="1076"/>
          <ac:spMkLst>
            <pc:docMk/>
            <pc:sldMk cId="1790372234" sldId="293"/>
            <ac:spMk id="10" creationId="{0B851409-5C57-A964-188B-C9298258A87C}"/>
          </ac:spMkLst>
        </pc:spChg>
        <pc:spChg chg="add del">
          <ac:chgData name="Sanskriti Jain" userId="df811092909c9c3b" providerId="LiveId" clId="{B7FBAE56-780A-48D6-B71E-850C4938BFB1}" dt="2025-05-28T02:50:15.467" v="131" actId="478"/>
          <ac:spMkLst>
            <pc:docMk/>
            <pc:sldMk cId="1790372234" sldId="293"/>
            <ac:spMk id="11" creationId="{555655CF-0E69-B0ED-1202-C1280CCD7214}"/>
          </ac:spMkLst>
        </pc:spChg>
        <pc:spChg chg="add mod">
          <ac:chgData name="Sanskriti Jain" userId="df811092909c9c3b" providerId="LiveId" clId="{B7FBAE56-780A-48D6-B71E-850C4938BFB1}" dt="2025-05-28T02:50:18.978" v="132" actId="1076"/>
          <ac:spMkLst>
            <pc:docMk/>
            <pc:sldMk cId="1790372234" sldId="293"/>
            <ac:spMk id="12" creationId="{DCB3F601-F702-E5A0-02DD-E4F70864F3F1}"/>
          </ac:spMkLst>
        </pc:spChg>
      </pc:sldChg>
      <pc:sldChg chg="addSp delSp modSp new">
        <pc:chgData name="Sanskriti Jain" userId="df811092909c9c3b" providerId="LiveId" clId="{B7FBAE56-780A-48D6-B71E-850C4938BFB1}" dt="2025-05-28T02:51:02.461" v="141" actId="478"/>
        <pc:sldMkLst>
          <pc:docMk/>
          <pc:sldMk cId="2035005543" sldId="294"/>
        </pc:sldMkLst>
        <pc:spChg chg="add mod">
          <ac:chgData name="Sanskriti Jain" userId="df811092909c9c3b" providerId="LiveId" clId="{B7FBAE56-780A-48D6-B71E-850C4938BFB1}" dt="2025-05-28T02:51:00.563" v="140" actId="1076"/>
          <ac:spMkLst>
            <pc:docMk/>
            <pc:sldMk cId="2035005543" sldId="294"/>
            <ac:spMk id="2" creationId="{9F7A7F9C-27F1-B031-17D9-6B99C10BC380}"/>
          </ac:spMkLst>
        </pc:spChg>
        <pc:spChg chg="add del mod">
          <ac:chgData name="Sanskriti Jain" userId="df811092909c9c3b" providerId="LiveId" clId="{B7FBAE56-780A-48D6-B71E-850C4938BFB1}" dt="2025-05-28T02:51:02.461" v="141" actId="478"/>
          <ac:spMkLst>
            <pc:docMk/>
            <pc:sldMk cId="2035005543" sldId="294"/>
            <ac:spMk id="3" creationId="{99B0CDF2-EBCF-4752-A9B7-491647C938C3}"/>
          </ac:spMkLst>
        </pc:spChg>
        <pc:spChg chg="add mod">
          <ac:chgData name="Sanskriti Jain" userId="df811092909c9c3b" providerId="LiveId" clId="{B7FBAE56-780A-48D6-B71E-850C4938BFB1}" dt="2025-05-28T02:50:54.664" v="138" actId="1076"/>
          <ac:spMkLst>
            <pc:docMk/>
            <pc:sldMk cId="2035005543" sldId="294"/>
            <ac:spMk id="4" creationId="{36CBEE99-D86F-B25B-1AB5-0E314141EFA4}"/>
          </ac:spMkLst>
        </pc:spChg>
      </pc:sldChg>
      <pc:sldChg chg="addSp new del">
        <pc:chgData name="Sanskriti Jain" userId="df811092909c9c3b" providerId="LiveId" clId="{B7FBAE56-780A-48D6-B71E-850C4938BFB1}" dt="2025-05-28T02:48:54.203" v="102" actId="47"/>
        <pc:sldMkLst>
          <pc:docMk/>
          <pc:sldMk cId="3156877687" sldId="294"/>
        </pc:sldMkLst>
        <pc:spChg chg="add">
          <ac:chgData name="Sanskriti Jain" userId="df811092909c9c3b" providerId="LiveId" clId="{B7FBAE56-780A-48D6-B71E-850C4938BFB1}" dt="2025-05-28T02:48:48.309" v="100"/>
          <ac:spMkLst>
            <pc:docMk/>
            <pc:sldMk cId="3156877687" sldId="294"/>
            <ac:spMk id="2" creationId="{00D01B49-5F60-91DB-1468-5DB56F939E1F}"/>
          </ac:spMkLst>
        </pc:spChg>
      </pc:sldChg>
      <pc:sldChg chg="addSp delSp modSp new">
        <pc:chgData name="Sanskriti Jain" userId="df811092909c9c3b" providerId="LiveId" clId="{B7FBAE56-780A-48D6-B71E-850C4938BFB1}" dt="2025-05-28T02:51:35.417" v="148" actId="478"/>
        <pc:sldMkLst>
          <pc:docMk/>
          <pc:sldMk cId="1284374055" sldId="295"/>
        </pc:sldMkLst>
        <pc:spChg chg="add mod">
          <ac:chgData name="Sanskriti Jain" userId="df811092909c9c3b" providerId="LiveId" clId="{B7FBAE56-780A-48D6-B71E-850C4938BFB1}" dt="2025-05-28T02:51:33.119" v="147" actId="14100"/>
          <ac:spMkLst>
            <pc:docMk/>
            <pc:sldMk cId="1284374055" sldId="295"/>
            <ac:spMk id="2" creationId="{6AD52AAF-B986-020B-5260-8F316CA1146B}"/>
          </ac:spMkLst>
        </pc:spChg>
        <pc:spChg chg="add del mod">
          <ac:chgData name="Sanskriti Jain" userId="df811092909c9c3b" providerId="LiveId" clId="{B7FBAE56-780A-48D6-B71E-850C4938BFB1}" dt="2025-05-28T02:51:35.417" v="148" actId="478"/>
          <ac:spMkLst>
            <pc:docMk/>
            <pc:sldMk cId="1284374055" sldId="295"/>
            <ac:spMk id="3" creationId="{4A61A422-E292-2BF0-57D2-32048155D444}"/>
          </ac:spMkLst>
        </pc:spChg>
        <pc:spChg chg="add mod">
          <ac:chgData name="Sanskriti Jain" userId="df811092909c9c3b" providerId="LiveId" clId="{B7FBAE56-780A-48D6-B71E-850C4938BFB1}" dt="2025-05-28T02:51:28.570" v="146" actId="14100"/>
          <ac:spMkLst>
            <pc:docMk/>
            <pc:sldMk cId="1284374055" sldId="295"/>
            <ac:spMk id="4" creationId="{C6BC0CB8-646A-653A-5069-3636A0A08092}"/>
          </ac:spMkLst>
        </pc:spChg>
      </pc:sldChg>
      <pc:sldChg chg="addSp modSp new mod">
        <pc:chgData name="Sanskriti Jain" userId="df811092909c9c3b" providerId="LiveId" clId="{B7FBAE56-780A-48D6-B71E-850C4938BFB1}" dt="2025-05-28T02:51:54.535" v="152" actId="14100"/>
        <pc:sldMkLst>
          <pc:docMk/>
          <pc:sldMk cId="1748992111" sldId="296"/>
        </pc:sldMkLst>
        <pc:spChg chg="add mod">
          <ac:chgData name="Sanskriti Jain" userId="df811092909c9c3b" providerId="LiveId" clId="{B7FBAE56-780A-48D6-B71E-850C4938BFB1}" dt="2025-05-28T02:51:54.535" v="152" actId="14100"/>
          <ac:spMkLst>
            <pc:docMk/>
            <pc:sldMk cId="1748992111" sldId="296"/>
            <ac:spMk id="3" creationId="{04F80711-3A66-9CD0-AF96-7E8BA235436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5" name="Picture 4">
            <a:extLst>
              <a:ext uri="{FF2B5EF4-FFF2-40B4-BE49-F238E27FC236}">
                <a16:creationId xmlns:a16="http://schemas.microsoft.com/office/drawing/2014/main" id="{C23D0E5B-1E2F-3364-AC6F-25945CC6FC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2400" y="190500"/>
            <a:ext cx="2181225" cy="712533"/>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EE"/>
        </a:solidFill>
        <a:effectLst/>
      </p:bgPr>
    </p:bg>
    <p:spTree>
      <p:nvGrpSpPr>
        <p:cNvPr id="1" name=""/>
        <p:cNvGrpSpPr/>
        <p:nvPr/>
      </p:nvGrpSpPr>
      <p:grpSpPr>
        <a:xfrm>
          <a:off x="0" y="0"/>
          <a:ext cx="0" cy="0"/>
          <a:chOff x="0" y="0"/>
          <a:chExt cx="0" cy="0"/>
        </a:xfrm>
      </p:grpSpPr>
      <p:sp>
        <p:nvSpPr>
          <p:cNvPr id="2" name="AutoShape 2"/>
          <p:cNvSpPr/>
          <p:nvPr/>
        </p:nvSpPr>
        <p:spPr>
          <a:xfrm>
            <a:off x="6206986" y="6560301"/>
            <a:ext cx="6492240" cy="0"/>
          </a:xfrm>
          <a:prstGeom prst="line">
            <a:avLst/>
          </a:prstGeom>
          <a:ln w="38100" cap="flat">
            <a:solidFill>
              <a:srgbClr val="000000"/>
            </a:solidFill>
            <a:prstDash val="solid"/>
            <a:headEnd type="none" w="sm" len="sm"/>
            <a:tailEnd type="none" w="sm" len="sm"/>
          </a:ln>
        </p:spPr>
      </p:sp>
      <p:sp>
        <p:nvSpPr>
          <p:cNvPr id="3" name="Freeform 3"/>
          <p:cNvSpPr/>
          <p:nvPr/>
        </p:nvSpPr>
        <p:spPr>
          <a:xfrm>
            <a:off x="-184800" y="0"/>
            <a:ext cx="19445557" cy="12250701"/>
          </a:xfrm>
          <a:custGeom>
            <a:avLst/>
            <a:gdLst/>
            <a:ahLst/>
            <a:cxnLst/>
            <a:rect l="l" t="t" r="r" b="b"/>
            <a:pathLst>
              <a:path w="19445557" h="12250701">
                <a:moveTo>
                  <a:pt x="0" y="0"/>
                </a:moveTo>
                <a:lnTo>
                  <a:pt x="19445557" y="0"/>
                </a:lnTo>
                <a:lnTo>
                  <a:pt x="19445557" y="12250701"/>
                </a:lnTo>
                <a:lnTo>
                  <a:pt x="0" y="12250701"/>
                </a:lnTo>
                <a:lnTo>
                  <a:pt x="0" y="0"/>
                </a:lnTo>
                <a:close/>
              </a:path>
            </a:pathLst>
          </a:custGeom>
          <a:blipFill>
            <a:blip r:embed="rId2">
              <a:alphaModFix amt="51000"/>
            </a:blip>
            <a:stretch>
              <a:fillRect/>
            </a:stretch>
          </a:blipFill>
        </p:spPr>
      </p:sp>
      <p:sp>
        <p:nvSpPr>
          <p:cNvPr id="4" name="Freeform 4"/>
          <p:cNvSpPr/>
          <p:nvPr/>
        </p:nvSpPr>
        <p:spPr>
          <a:xfrm>
            <a:off x="0" y="0"/>
            <a:ext cx="18906212" cy="10634744"/>
          </a:xfrm>
          <a:custGeom>
            <a:avLst/>
            <a:gdLst/>
            <a:ahLst/>
            <a:cxnLst/>
            <a:rect l="l" t="t" r="r" b="b"/>
            <a:pathLst>
              <a:path w="18906212" h="10634744">
                <a:moveTo>
                  <a:pt x="0" y="0"/>
                </a:moveTo>
                <a:lnTo>
                  <a:pt x="18906212" y="0"/>
                </a:lnTo>
                <a:lnTo>
                  <a:pt x="18906212" y="10634744"/>
                </a:lnTo>
                <a:lnTo>
                  <a:pt x="0" y="10634744"/>
                </a:lnTo>
                <a:lnTo>
                  <a:pt x="0" y="0"/>
                </a:lnTo>
                <a:close/>
              </a:path>
            </a:pathLst>
          </a:custGeom>
          <a:blipFill>
            <a:blip r:embed="rId3">
              <a:alphaModFix amt="6999"/>
            </a:blip>
            <a:stretch>
              <a:fillRect/>
            </a:stretch>
          </a:blipFill>
        </p:spPr>
      </p:sp>
      <p:sp>
        <p:nvSpPr>
          <p:cNvPr id="5" name="Freeform 5"/>
          <p:cNvSpPr/>
          <p:nvPr/>
        </p:nvSpPr>
        <p:spPr>
          <a:xfrm>
            <a:off x="5902520" y="1563941"/>
            <a:ext cx="7101172" cy="2316757"/>
          </a:xfrm>
          <a:custGeom>
            <a:avLst/>
            <a:gdLst/>
            <a:ahLst/>
            <a:cxnLst/>
            <a:rect l="l" t="t" r="r" b="b"/>
            <a:pathLst>
              <a:path w="7101172" h="2316757">
                <a:moveTo>
                  <a:pt x="0" y="0"/>
                </a:moveTo>
                <a:lnTo>
                  <a:pt x="7101172" y="0"/>
                </a:lnTo>
                <a:lnTo>
                  <a:pt x="7101172" y="2316758"/>
                </a:lnTo>
                <a:lnTo>
                  <a:pt x="0" y="2316758"/>
                </a:lnTo>
                <a:lnTo>
                  <a:pt x="0" y="0"/>
                </a:lnTo>
                <a:close/>
              </a:path>
            </a:pathLst>
          </a:custGeom>
          <a:blipFill>
            <a:blip r:embed="rId4"/>
            <a:stretch>
              <a:fillRect/>
            </a:stretch>
          </a:blipFill>
        </p:spPr>
      </p:sp>
      <p:grpSp>
        <p:nvGrpSpPr>
          <p:cNvPr id="6" name="Group 6"/>
          <p:cNvGrpSpPr/>
          <p:nvPr/>
        </p:nvGrpSpPr>
        <p:grpSpPr>
          <a:xfrm>
            <a:off x="0" y="8782628"/>
            <a:ext cx="18486116" cy="1392098"/>
            <a:chOff x="0" y="0"/>
            <a:chExt cx="4868771" cy="366643"/>
          </a:xfrm>
        </p:grpSpPr>
        <p:sp>
          <p:nvSpPr>
            <p:cNvPr id="7" name="Freeform 7"/>
            <p:cNvSpPr/>
            <p:nvPr/>
          </p:nvSpPr>
          <p:spPr>
            <a:xfrm>
              <a:off x="0" y="0"/>
              <a:ext cx="4868771" cy="366643"/>
            </a:xfrm>
            <a:custGeom>
              <a:avLst/>
              <a:gdLst/>
              <a:ahLst/>
              <a:cxnLst/>
              <a:rect l="l" t="t" r="r" b="b"/>
              <a:pathLst>
                <a:path w="4868771" h="366643">
                  <a:moveTo>
                    <a:pt x="0" y="0"/>
                  </a:moveTo>
                  <a:lnTo>
                    <a:pt x="4868771" y="0"/>
                  </a:lnTo>
                  <a:lnTo>
                    <a:pt x="4868771" y="366643"/>
                  </a:lnTo>
                  <a:lnTo>
                    <a:pt x="0" y="366643"/>
                  </a:lnTo>
                  <a:close/>
                </a:path>
              </a:pathLst>
            </a:custGeom>
            <a:solidFill>
              <a:srgbClr val="545454"/>
            </a:solidFill>
          </p:spPr>
        </p:sp>
        <p:sp>
          <p:nvSpPr>
            <p:cNvPr id="8" name="TextBox 8"/>
            <p:cNvSpPr txBox="1"/>
            <p:nvPr/>
          </p:nvSpPr>
          <p:spPr>
            <a:xfrm>
              <a:off x="0" y="-38100"/>
              <a:ext cx="4868771" cy="404743"/>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6444890" y="4311580"/>
            <a:ext cx="6404723" cy="1115113"/>
          </a:xfrm>
          <a:prstGeom prst="rect">
            <a:avLst/>
          </a:prstGeom>
        </p:spPr>
        <p:txBody>
          <a:bodyPr wrap="square" lIns="0" tIns="0" rIns="0" bIns="0" rtlCol="0" anchor="t">
            <a:spAutoFit/>
          </a:bodyPr>
          <a:lstStyle/>
          <a:p>
            <a:pPr algn="ctr">
              <a:lnSpc>
                <a:spcPts val="9331"/>
              </a:lnSpc>
            </a:pPr>
            <a:r>
              <a:rPr lang="en-US" sz="6665" b="1" dirty="0">
                <a:solidFill>
                  <a:srgbClr val="000000"/>
                </a:solidFill>
                <a:latin typeface="Canva Sans Bold"/>
                <a:ea typeface="Canva Sans Bold"/>
                <a:cs typeface="Canva Sans Bold"/>
                <a:sym typeface="Canva Sans Bold"/>
              </a:rPr>
              <a:t>LIGHT</a:t>
            </a:r>
          </a:p>
        </p:txBody>
      </p:sp>
      <p:sp>
        <p:nvSpPr>
          <p:cNvPr id="10" name="TextBox 10"/>
          <p:cNvSpPr txBox="1"/>
          <p:nvPr/>
        </p:nvSpPr>
        <p:spPr>
          <a:xfrm>
            <a:off x="7513600" y="6960351"/>
            <a:ext cx="4221199" cy="600036"/>
          </a:xfrm>
          <a:prstGeom prst="rect">
            <a:avLst/>
          </a:prstGeom>
        </p:spPr>
        <p:txBody>
          <a:bodyPr wrap="square" lIns="0" tIns="0" rIns="0" bIns="0" rtlCol="0" anchor="t">
            <a:spAutoFit/>
          </a:bodyPr>
          <a:lstStyle/>
          <a:p>
            <a:pPr algn="ctr">
              <a:lnSpc>
                <a:spcPts val="5039"/>
              </a:lnSpc>
            </a:pPr>
            <a:r>
              <a:rPr lang="en-US" sz="3599" b="1" dirty="0">
                <a:solidFill>
                  <a:srgbClr val="000000"/>
                </a:solidFill>
                <a:latin typeface="Canva Sans Bold"/>
                <a:ea typeface="Canva Sans Bold"/>
                <a:cs typeface="Canva Sans Bold"/>
                <a:sym typeface="Canva Sans Bold"/>
              </a:rPr>
              <a:t>By Sanskriti</a:t>
            </a:r>
          </a:p>
        </p:txBody>
      </p:sp>
      <p:sp>
        <p:nvSpPr>
          <p:cNvPr id="11" name="TextBox 11"/>
          <p:cNvSpPr txBox="1"/>
          <p:nvPr/>
        </p:nvSpPr>
        <p:spPr>
          <a:xfrm>
            <a:off x="6113329" y="9062499"/>
            <a:ext cx="6890363" cy="782265"/>
          </a:xfrm>
          <a:prstGeom prst="rect">
            <a:avLst/>
          </a:prstGeom>
        </p:spPr>
        <p:txBody>
          <a:bodyPr wrap="square" lIns="0" tIns="0" rIns="0" bIns="0" rtlCol="0" anchor="t">
            <a:spAutoFit/>
          </a:bodyPr>
          <a:lstStyle/>
          <a:p>
            <a:pPr algn="ctr">
              <a:lnSpc>
                <a:spcPts val="6097"/>
              </a:lnSpc>
            </a:pPr>
            <a:r>
              <a:rPr lang="en-US" sz="4355" b="1" dirty="0">
                <a:solidFill>
                  <a:srgbClr val="FFFFFF"/>
                </a:solidFill>
                <a:latin typeface="Canva Sans Bold"/>
                <a:ea typeface="Canva Sans Bold"/>
                <a:cs typeface="Canva Sans Bold"/>
                <a:sym typeface="Canva Sans Bold"/>
              </a:rPr>
              <a:t>www.vaagaacademy.com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1EB57C-A8D0-28EF-48A8-C2BCF59F8736}"/>
              </a:ext>
            </a:extLst>
          </p:cNvPr>
          <p:cNvSpPr txBox="1"/>
          <p:nvPr/>
        </p:nvSpPr>
        <p:spPr>
          <a:xfrm>
            <a:off x="7543800" y="800100"/>
            <a:ext cx="4800600" cy="646331"/>
          </a:xfrm>
          <a:prstGeom prst="rect">
            <a:avLst/>
          </a:prstGeom>
          <a:noFill/>
        </p:spPr>
        <p:txBody>
          <a:bodyPr wrap="square" rtlCol="0">
            <a:spAutoFit/>
          </a:bodyPr>
          <a:lstStyle/>
          <a:p>
            <a:r>
              <a:rPr lang="en-IN" sz="3600"/>
              <a:t>LEARNING OBJECTIVES</a:t>
            </a:r>
            <a:endParaRPr lang="en-IN" sz="3600" dirty="0"/>
          </a:p>
        </p:txBody>
      </p:sp>
      <p:sp>
        <p:nvSpPr>
          <p:cNvPr id="4" name="TextBox 3">
            <a:extLst>
              <a:ext uri="{FF2B5EF4-FFF2-40B4-BE49-F238E27FC236}">
                <a16:creationId xmlns:a16="http://schemas.microsoft.com/office/drawing/2014/main" id="{EB54C90B-8ED4-A222-190E-1B06F0BBDB13}"/>
              </a:ext>
            </a:extLst>
          </p:cNvPr>
          <p:cNvSpPr txBox="1"/>
          <p:nvPr/>
        </p:nvSpPr>
        <p:spPr>
          <a:xfrm>
            <a:off x="4343400" y="3158341"/>
            <a:ext cx="9144000" cy="3970318"/>
          </a:xfrm>
          <a:prstGeom prst="rect">
            <a:avLst/>
          </a:prstGeom>
          <a:noFill/>
        </p:spPr>
        <p:txBody>
          <a:bodyPr wrap="square">
            <a:spAutoFit/>
          </a:bodyPr>
          <a:lstStyle/>
          <a:p>
            <a:pPr>
              <a:buNone/>
            </a:pPr>
            <a:r>
              <a:rPr lang="en-US" sz="3600" dirty="0"/>
              <a:t>By the end of this presentation, you will master:</a:t>
            </a:r>
          </a:p>
          <a:p>
            <a:pPr>
              <a:buFont typeface="Arial" panose="020B0604020202020204" pitchFamily="34" charset="0"/>
              <a:buChar char="•"/>
            </a:pPr>
            <a:r>
              <a:rPr lang="en-US" sz="3600" dirty="0"/>
              <a:t>Nature and properties of light</a:t>
            </a:r>
          </a:p>
          <a:p>
            <a:pPr>
              <a:buFont typeface="Arial" panose="020B0604020202020204" pitchFamily="34" charset="0"/>
              <a:buChar char="•"/>
            </a:pPr>
            <a:r>
              <a:rPr lang="en-US" sz="3600" dirty="0"/>
              <a:t>Laws of reflection and refraction</a:t>
            </a:r>
          </a:p>
          <a:p>
            <a:pPr>
              <a:buFont typeface="Arial" panose="020B0604020202020204" pitchFamily="34" charset="0"/>
              <a:buChar char="•"/>
            </a:pPr>
            <a:r>
              <a:rPr lang="en-US" sz="3600" dirty="0"/>
              <a:t>Mirror and lens formulas with calculations</a:t>
            </a:r>
          </a:p>
          <a:p>
            <a:pPr>
              <a:buFont typeface="Arial" panose="020B0604020202020204" pitchFamily="34" charset="0"/>
              <a:buChar char="•"/>
            </a:pPr>
            <a:r>
              <a:rPr lang="en-US" sz="3600" dirty="0"/>
              <a:t>Advanced optical phenomena</a:t>
            </a:r>
          </a:p>
          <a:p>
            <a:pPr>
              <a:buFont typeface="Arial" panose="020B0604020202020204" pitchFamily="34" charset="0"/>
              <a:buChar char="•"/>
            </a:pPr>
            <a:r>
              <a:rPr lang="en-US" sz="3600" dirty="0"/>
              <a:t>Human eye and vision defects</a:t>
            </a:r>
          </a:p>
          <a:p>
            <a:pPr>
              <a:buFont typeface="Arial" panose="020B0604020202020204" pitchFamily="34" charset="0"/>
              <a:buChar char="•"/>
            </a:pPr>
            <a:r>
              <a:rPr lang="en-US" sz="3600" dirty="0"/>
              <a:t>Atmospheric optical effects</a:t>
            </a:r>
          </a:p>
        </p:txBody>
      </p:sp>
    </p:spTree>
    <p:extLst>
      <p:ext uri="{BB962C8B-B14F-4D97-AF65-F5344CB8AC3E}">
        <p14:creationId xmlns:p14="http://schemas.microsoft.com/office/powerpoint/2010/main" val="2099935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86A9-FCA9-BB2C-ED80-B11804783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7B2F8E-08A8-781F-0CBA-F448A9AE716B}"/>
              </a:ext>
            </a:extLst>
          </p:cNvPr>
          <p:cNvSpPr txBox="1"/>
          <p:nvPr/>
        </p:nvSpPr>
        <p:spPr>
          <a:xfrm>
            <a:off x="7543800" y="800100"/>
            <a:ext cx="4800600" cy="646331"/>
          </a:xfrm>
          <a:prstGeom prst="rect">
            <a:avLst/>
          </a:prstGeom>
          <a:noFill/>
        </p:spPr>
        <p:txBody>
          <a:bodyPr wrap="square" rtlCol="0">
            <a:spAutoFit/>
          </a:bodyPr>
          <a:lstStyle/>
          <a:p>
            <a:r>
              <a:rPr lang="en-IN" sz="3600" dirty="0"/>
              <a:t>NATURE OF LIGHT</a:t>
            </a:r>
          </a:p>
        </p:txBody>
      </p:sp>
      <p:sp>
        <p:nvSpPr>
          <p:cNvPr id="4" name="TextBox 3">
            <a:extLst>
              <a:ext uri="{FF2B5EF4-FFF2-40B4-BE49-F238E27FC236}">
                <a16:creationId xmlns:a16="http://schemas.microsoft.com/office/drawing/2014/main" id="{B5280159-3533-2E26-AD68-0219AF3447C0}"/>
              </a:ext>
            </a:extLst>
          </p:cNvPr>
          <p:cNvSpPr txBox="1"/>
          <p:nvPr/>
        </p:nvSpPr>
        <p:spPr>
          <a:xfrm>
            <a:off x="952500" y="3114675"/>
            <a:ext cx="9144000" cy="3416320"/>
          </a:xfrm>
          <a:prstGeom prst="rect">
            <a:avLst/>
          </a:prstGeom>
          <a:noFill/>
        </p:spPr>
        <p:txBody>
          <a:bodyPr wrap="square">
            <a:spAutoFit/>
          </a:bodyPr>
          <a:lstStyle/>
          <a:p>
            <a:pPr>
              <a:buNone/>
            </a:pPr>
            <a:r>
              <a:rPr lang="en-IN" sz="2400" b="1" dirty="0"/>
              <a:t>Dual Nature of Light</a:t>
            </a:r>
          </a:p>
          <a:p>
            <a:pPr>
              <a:buNone/>
            </a:pPr>
            <a:r>
              <a:rPr lang="en-IN" sz="2400" dirty="0"/>
              <a:t>Light exhibits both:</a:t>
            </a:r>
          </a:p>
          <a:p>
            <a:pPr>
              <a:buFont typeface="+mj-lt"/>
              <a:buAutoNum type="arabicPeriod"/>
            </a:pPr>
            <a:r>
              <a:rPr lang="en-IN" sz="2400" b="1" dirty="0"/>
              <a:t>Wave Nature</a:t>
            </a:r>
            <a:r>
              <a:rPr lang="en-IN" sz="2400" dirty="0"/>
              <a:t> - Interference, diffraction, polarization</a:t>
            </a:r>
          </a:p>
          <a:p>
            <a:pPr>
              <a:buFont typeface="+mj-lt"/>
              <a:buAutoNum type="arabicPeriod"/>
            </a:pPr>
            <a:r>
              <a:rPr lang="en-IN" sz="2400" b="1" dirty="0"/>
              <a:t>Particle Nature</a:t>
            </a:r>
            <a:r>
              <a:rPr lang="en-IN" sz="2400" dirty="0"/>
              <a:t> - Photoelectric effect, emission/absorption</a:t>
            </a:r>
          </a:p>
          <a:p>
            <a:pPr>
              <a:buNone/>
            </a:pPr>
            <a:r>
              <a:rPr lang="en-IN" sz="2400" b="1" dirty="0"/>
              <a:t>Key Properties:</a:t>
            </a:r>
          </a:p>
          <a:p>
            <a:pPr>
              <a:buFont typeface="Arial" panose="020B0604020202020204" pitchFamily="34" charset="0"/>
              <a:buChar char="•"/>
            </a:pPr>
            <a:r>
              <a:rPr lang="en-IN" sz="2400" dirty="0"/>
              <a:t>Speed in vacuum: c = 3 × 10⁸ m/s</a:t>
            </a:r>
          </a:p>
          <a:p>
            <a:pPr>
              <a:buFont typeface="Arial" panose="020B0604020202020204" pitchFamily="34" charset="0"/>
              <a:buChar char="•"/>
            </a:pPr>
            <a:r>
              <a:rPr lang="en-IN" sz="2400" dirty="0"/>
              <a:t>Electromagnetic radiation</a:t>
            </a:r>
          </a:p>
          <a:p>
            <a:pPr>
              <a:buFont typeface="Arial" panose="020B0604020202020204" pitchFamily="34" charset="0"/>
              <a:buChar char="•"/>
            </a:pPr>
            <a:r>
              <a:rPr lang="en-IN" sz="2400" dirty="0"/>
              <a:t>Frequency range: 4.3 × 10¹⁴ Hz to 7.5 × 10¹⁴ Hz (visible light)</a:t>
            </a:r>
          </a:p>
          <a:p>
            <a:pPr>
              <a:buFont typeface="Arial" panose="020B0604020202020204" pitchFamily="34" charset="0"/>
              <a:buChar char="•"/>
            </a:pPr>
            <a:r>
              <a:rPr lang="en-IN" sz="2400" dirty="0"/>
              <a:t>Wavelength range: 400 nm (violet) to 700 nm (red)</a:t>
            </a:r>
          </a:p>
        </p:txBody>
      </p:sp>
      <p:pic>
        <p:nvPicPr>
          <p:cNvPr id="1026" name="Picture 2" descr="Wave Particle Duality: Definition ...">
            <a:extLst>
              <a:ext uri="{FF2B5EF4-FFF2-40B4-BE49-F238E27FC236}">
                <a16:creationId xmlns:a16="http://schemas.microsoft.com/office/drawing/2014/main" id="{8CB2B281-AD66-5B45-FB46-28DEC4229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2600" y="1803380"/>
            <a:ext cx="7168896" cy="3200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lectromagnetic spectrum | Definition ...">
            <a:extLst>
              <a:ext uri="{FF2B5EF4-FFF2-40B4-BE49-F238E27FC236}">
                <a16:creationId xmlns:a16="http://schemas.microsoft.com/office/drawing/2014/main" id="{53E8C936-B70C-C512-B07D-B8A1A051E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500" y="5753100"/>
            <a:ext cx="5867400" cy="3027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748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BFF5-04DE-19F5-D6AF-0CF9F0C2BB4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92345E-4E83-2A60-4FB8-56B30F9DE949}"/>
              </a:ext>
            </a:extLst>
          </p:cNvPr>
          <p:cNvSpPr txBox="1"/>
          <p:nvPr/>
        </p:nvSpPr>
        <p:spPr>
          <a:xfrm>
            <a:off x="7543800" y="800100"/>
            <a:ext cx="4800600" cy="646331"/>
          </a:xfrm>
          <a:prstGeom prst="rect">
            <a:avLst/>
          </a:prstGeom>
          <a:noFill/>
        </p:spPr>
        <p:txBody>
          <a:bodyPr wrap="square" rtlCol="0">
            <a:spAutoFit/>
          </a:bodyPr>
          <a:lstStyle/>
          <a:p>
            <a:r>
              <a:rPr lang="en-IN" sz="3600" dirty="0"/>
              <a:t>REFLECTION OF LIGHT</a:t>
            </a:r>
          </a:p>
        </p:txBody>
      </p:sp>
      <p:sp>
        <p:nvSpPr>
          <p:cNvPr id="4" name="TextBox 3">
            <a:extLst>
              <a:ext uri="{FF2B5EF4-FFF2-40B4-BE49-F238E27FC236}">
                <a16:creationId xmlns:a16="http://schemas.microsoft.com/office/drawing/2014/main" id="{AB45E6EC-AF35-E1AE-315F-DCAF038B05C2}"/>
              </a:ext>
            </a:extLst>
          </p:cNvPr>
          <p:cNvSpPr txBox="1"/>
          <p:nvPr/>
        </p:nvSpPr>
        <p:spPr>
          <a:xfrm>
            <a:off x="780435" y="3390900"/>
            <a:ext cx="9144000" cy="4154984"/>
          </a:xfrm>
          <a:prstGeom prst="rect">
            <a:avLst/>
          </a:prstGeom>
          <a:noFill/>
        </p:spPr>
        <p:txBody>
          <a:bodyPr wrap="square">
            <a:spAutoFit/>
          </a:bodyPr>
          <a:lstStyle/>
          <a:p>
            <a:pPr>
              <a:buNone/>
            </a:pPr>
            <a:r>
              <a:rPr lang="en-US" sz="2400" b="1" dirty="0"/>
              <a:t>Laws of Reflection:</a:t>
            </a:r>
          </a:p>
          <a:p>
            <a:pPr>
              <a:buFont typeface="+mj-lt"/>
              <a:buAutoNum type="arabicPeriod"/>
            </a:pPr>
            <a:r>
              <a:rPr lang="en-US" sz="2400" dirty="0"/>
              <a:t>Incident ray, reflected ray, and normal lie in the same plane</a:t>
            </a:r>
          </a:p>
          <a:p>
            <a:pPr>
              <a:buFont typeface="+mj-lt"/>
              <a:buAutoNum type="arabicPeriod"/>
            </a:pPr>
            <a:r>
              <a:rPr lang="en-US" sz="2400" dirty="0"/>
              <a:t>Angle of incidence = Angle of reflection (∠</a:t>
            </a:r>
            <a:r>
              <a:rPr lang="en-US" sz="2400" dirty="0" err="1"/>
              <a:t>i</a:t>
            </a:r>
            <a:r>
              <a:rPr lang="en-US" sz="2400" dirty="0"/>
              <a:t> = ∠r)</a:t>
            </a:r>
          </a:p>
          <a:p>
            <a:pPr>
              <a:buNone/>
            </a:pPr>
            <a:r>
              <a:rPr lang="en-US" sz="2400" b="1" dirty="0"/>
              <a:t>Types of Reflection:</a:t>
            </a:r>
          </a:p>
          <a:p>
            <a:pPr>
              <a:buFont typeface="Arial" panose="020B0604020202020204" pitchFamily="34" charset="0"/>
              <a:buChar char="•"/>
            </a:pPr>
            <a:r>
              <a:rPr lang="en-US" sz="2400" b="1" dirty="0"/>
              <a:t>Regular Reflection</a:t>
            </a:r>
            <a:r>
              <a:rPr lang="en-US" sz="2400" dirty="0"/>
              <a:t>: Smooth surfaces (mirrors)</a:t>
            </a:r>
          </a:p>
          <a:p>
            <a:pPr>
              <a:buFont typeface="Arial" panose="020B0604020202020204" pitchFamily="34" charset="0"/>
              <a:buChar char="•"/>
            </a:pPr>
            <a:r>
              <a:rPr lang="en-US" sz="2400" b="1" dirty="0"/>
              <a:t>Diffuse Reflection</a:t>
            </a:r>
            <a:r>
              <a:rPr lang="en-US" sz="2400" dirty="0"/>
              <a:t>: Rough surfaces (paper, walls)</a:t>
            </a:r>
          </a:p>
          <a:p>
            <a:pPr>
              <a:buNone/>
            </a:pPr>
            <a:r>
              <a:rPr lang="en-US" sz="2400" b="1" dirty="0"/>
              <a:t>Important Terms:</a:t>
            </a:r>
          </a:p>
          <a:p>
            <a:pPr>
              <a:buFont typeface="Arial" panose="020B0604020202020204" pitchFamily="34" charset="0"/>
              <a:buChar char="•"/>
            </a:pPr>
            <a:r>
              <a:rPr lang="en-US" sz="2400" b="1" dirty="0"/>
              <a:t>Incident ray</a:t>
            </a:r>
            <a:r>
              <a:rPr lang="en-US" sz="2400" dirty="0"/>
              <a:t>: Ray falling on surface</a:t>
            </a:r>
          </a:p>
          <a:p>
            <a:pPr>
              <a:buFont typeface="Arial" panose="020B0604020202020204" pitchFamily="34" charset="0"/>
              <a:buChar char="•"/>
            </a:pPr>
            <a:r>
              <a:rPr lang="en-US" sz="2400" b="1" dirty="0"/>
              <a:t>Reflected ray</a:t>
            </a:r>
            <a:r>
              <a:rPr lang="en-US" sz="2400" dirty="0"/>
              <a:t>: Ray bouncing off surface</a:t>
            </a:r>
          </a:p>
          <a:p>
            <a:pPr>
              <a:buFont typeface="Arial" panose="020B0604020202020204" pitchFamily="34" charset="0"/>
              <a:buChar char="•"/>
            </a:pPr>
            <a:r>
              <a:rPr lang="en-US" sz="2400" b="1" dirty="0"/>
              <a:t>Normal</a:t>
            </a:r>
            <a:r>
              <a:rPr lang="en-US" sz="2400" dirty="0"/>
              <a:t>: Perpendicular to surface at point of incidence</a:t>
            </a:r>
          </a:p>
          <a:p>
            <a:pPr>
              <a:buFont typeface="Arial" panose="020B0604020202020204" pitchFamily="34" charset="0"/>
              <a:buChar char="•"/>
            </a:pPr>
            <a:r>
              <a:rPr lang="en-US" sz="2400" b="1" dirty="0"/>
              <a:t>Point of incidence</a:t>
            </a:r>
            <a:r>
              <a:rPr lang="en-US" sz="2400" dirty="0"/>
              <a:t>: Where light ray hits surface</a:t>
            </a:r>
          </a:p>
        </p:txBody>
      </p:sp>
      <p:pic>
        <p:nvPicPr>
          <p:cNvPr id="2050" name="Picture 2" descr="Reflection of light — Science Learning Hub">
            <a:extLst>
              <a:ext uri="{FF2B5EF4-FFF2-40B4-BE49-F238E27FC236}">
                <a16:creationId xmlns:a16="http://schemas.microsoft.com/office/drawing/2014/main" id="{2ABAB79A-A126-511A-19EF-963831C67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6800" y="3360174"/>
            <a:ext cx="8488279"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153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5905-17F0-9AD3-4DE4-2A4D43ED1D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5FD3FC-D2D6-596F-B728-6B79EAF90AC8}"/>
              </a:ext>
            </a:extLst>
          </p:cNvPr>
          <p:cNvSpPr txBox="1"/>
          <p:nvPr/>
        </p:nvSpPr>
        <p:spPr>
          <a:xfrm>
            <a:off x="7543800" y="800100"/>
            <a:ext cx="4800600" cy="646331"/>
          </a:xfrm>
          <a:prstGeom prst="rect">
            <a:avLst/>
          </a:prstGeom>
          <a:noFill/>
        </p:spPr>
        <p:txBody>
          <a:bodyPr wrap="square" rtlCol="0">
            <a:spAutoFit/>
          </a:bodyPr>
          <a:lstStyle/>
          <a:p>
            <a:r>
              <a:rPr lang="en-IN" sz="3600" dirty="0"/>
              <a:t>SPHERICAL MIRRORS</a:t>
            </a:r>
          </a:p>
        </p:txBody>
      </p:sp>
      <p:sp>
        <p:nvSpPr>
          <p:cNvPr id="4" name="TextBox 3">
            <a:extLst>
              <a:ext uri="{FF2B5EF4-FFF2-40B4-BE49-F238E27FC236}">
                <a16:creationId xmlns:a16="http://schemas.microsoft.com/office/drawing/2014/main" id="{9BC229C5-5623-DD15-6D56-A1921902EC4E}"/>
              </a:ext>
            </a:extLst>
          </p:cNvPr>
          <p:cNvSpPr txBox="1"/>
          <p:nvPr/>
        </p:nvSpPr>
        <p:spPr>
          <a:xfrm>
            <a:off x="1371600" y="3162300"/>
            <a:ext cx="9144000" cy="3693319"/>
          </a:xfrm>
          <a:prstGeom prst="rect">
            <a:avLst/>
          </a:prstGeom>
          <a:noFill/>
        </p:spPr>
        <p:txBody>
          <a:bodyPr wrap="square">
            <a:spAutoFit/>
          </a:bodyPr>
          <a:lstStyle/>
          <a:p>
            <a:pPr>
              <a:buNone/>
            </a:pPr>
            <a:r>
              <a:rPr lang="en-IN" b="1" dirty="0"/>
              <a:t>Types:</a:t>
            </a:r>
          </a:p>
          <a:p>
            <a:pPr>
              <a:buFont typeface="+mj-lt"/>
              <a:buAutoNum type="arabicPeriod"/>
            </a:pPr>
            <a:r>
              <a:rPr lang="en-IN" b="1" dirty="0"/>
              <a:t>Concave Mirror</a:t>
            </a:r>
            <a:r>
              <a:rPr lang="en-IN" dirty="0"/>
              <a:t> (Converging) </a:t>
            </a:r>
          </a:p>
          <a:p>
            <a:pPr marL="742950" lvl="1" indent="-285750">
              <a:buFont typeface="+mj-lt"/>
              <a:buAutoNum type="arabicPeriod"/>
            </a:pPr>
            <a:r>
              <a:rPr lang="en-IN" dirty="0" err="1"/>
              <a:t>Center</a:t>
            </a:r>
            <a:r>
              <a:rPr lang="en-IN" dirty="0"/>
              <a:t> of curvature (C) and focus (F) in front</a:t>
            </a:r>
          </a:p>
          <a:p>
            <a:pPr marL="742950" lvl="1" indent="-285750">
              <a:buFont typeface="+mj-lt"/>
              <a:buAutoNum type="arabicPeriod"/>
            </a:pPr>
            <a:r>
              <a:rPr lang="en-IN" dirty="0"/>
              <a:t>Real focus</a:t>
            </a:r>
          </a:p>
          <a:p>
            <a:pPr>
              <a:buFont typeface="+mj-lt"/>
              <a:buAutoNum type="arabicPeriod"/>
            </a:pPr>
            <a:r>
              <a:rPr lang="en-IN" b="1" dirty="0"/>
              <a:t>Convex Mirror</a:t>
            </a:r>
            <a:r>
              <a:rPr lang="en-IN" dirty="0"/>
              <a:t> (Diverging) </a:t>
            </a:r>
          </a:p>
          <a:p>
            <a:pPr marL="742950" lvl="1" indent="-285750">
              <a:buFont typeface="+mj-lt"/>
              <a:buAutoNum type="arabicPeriod"/>
            </a:pPr>
            <a:r>
              <a:rPr lang="en-IN" dirty="0" err="1"/>
              <a:t>Center</a:t>
            </a:r>
            <a:r>
              <a:rPr lang="en-IN" dirty="0"/>
              <a:t> of curvature (C) and focus (F) behind</a:t>
            </a:r>
          </a:p>
          <a:p>
            <a:pPr marL="742950" lvl="1" indent="-285750">
              <a:buFont typeface="+mj-lt"/>
              <a:buAutoNum type="arabicPeriod"/>
            </a:pPr>
            <a:r>
              <a:rPr lang="en-IN" dirty="0"/>
              <a:t>Virtual focus</a:t>
            </a:r>
          </a:p>
          <a:p>
            <a:pPr>
              <a:buNone/>
            </a:pPr>
            <a:r>
              <a:rPr lang="en-IN" b="1" dirty="0"/>
              <a:t>Key Terms:</a:t>
            </a:r>
          </a:p>
          <a:p>
            <a:pPr>
              <a:buFont typeface="Arial" panose="020B0604020202020204" pitchFamily="34" charset="0"/>
              <a:buChar char="•"/>
            </a:pPr>
            <a:r>
              <a:rPr lang="en-IN" b="1" dirty="0"/>
              <a:t>Pole (P)</a:t>
            </a:r>
            <a:r>
              <a:rPr lang="en-IN" dirty="0"/>
              <a:t>: </a:t>
            </a:r>
            <a:r>
              <a:rPr lang="en-IN" dirty="0" err="1"/>
              <a:t>Center</a:t>
            </a:r>
            <a:r>
              <a:rPr lang="en-IN" dirty="0"/>
              <a:t> of mirror</a:t>
            </a:r>
          </a:p>
          <a:p>
            <a:pPr>
              <a:buFont typeface="Arial" panose="020B0604020202020204" pitchFamily="34" charset="0"/>
              <a:buChar char="•"/>
            </a:pPr>
            <a:r>
              <a:rPr lang="en-IN" b="1" dirty="0"/>
              <a:t>Principal axis</a:t>
            </a:r>
            <a:r>
              <a:rPr lang="en-IN" dirty="0"/>
              <a:t>: Line joining pole and </a:t>
            </a:r>
            <a:r>
              <a:rPr lang="en-IN" dirty="0" err="1"/>
              <a:t>center</a:t>
            </a:r>
            <a:r>
              <a:rPr lang="en-IN" dirty="0"/>
              <a:t> of curvature</a:t>
            </a:r>
          </a:p>
          <a:p>
            <a:pPr>
              <a:buFont typeface="Arial" panose="020B0604020202020204" pitchFamily="34" charset="0"/>
              <a:buChar char="•"/>
            </a:pPr>
            <a:r>
              <a:rPr lang="en-IN" b="1" dirty="0"/>
              <a:t>Radius of curvature (R)</a:t>
            </a:r>
            <a:r>
              <a:rPr lang="en-IN" dirty="0"/>
              <a:t>: Distance from pole to </a:t>
            </a:r>
            <a:r>
              <a:rPr lang="en-IN" dirty="0" err="1"/>
              <a:t>center</a:t>
            </a:r>
            <a:endParaRPr lang="en-IN" dirty="0"/>
          </a:p>
          <a:p>
            <a:pPr>
              <a:buFont typeface="Arial" panose="020B0604020202020204" pitchFamily="34" charset="0"/>
              <a:buChar char="•"/>
            </a:pPr>
            <a:r>
              <a:rPr lang="en-IN" b="1" dirty="0"/>
              <a:t>Focal length (f)</a:t>
            </a:r>
            <a:r>
              <a:rPr lang="en-IN" dirty="0"/>
              <a:t>: Distance from pole to focus</a:t>
            </a:r>
          </a:p>
          <a:p>
            <a:pPr>
              <a:buFont typeface="Arial" panose="020B0604020202020204" pitchFamily="34" charset="0"/>
              <a:buChar char="•"/>
            </a:pPr>
            <a:r>
              <a:rPr lang="en-IN" b="1" dirty="0"/>
              <a:t>Relationship</a:t>
            </a:r>
            <a:r>
              <a:rPr lang="en-IN" dirty="0"/>
              <a:t>: f = R/2</a:t>
            </a:r>
          </a:p>
        </p:txBody>
      </p:sp>
      <p:pic>
        <p:nvPicPr>
          <p:cNvPr id="3074" name="Picture 2" descr="of Concave and Convex Mirror">
            <a:extLst>
              <a:ext uri="{FF2B5EF4-FFF2-40B4-BE49-F238E27FC236}">
                <a16:creationId xmlns:a16="http://schemas.microsoft.com/office/drawing/2014/main" id="{1FC3B8D0-17FA-8628-0D7B-9B6C2DBD70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6400" y="2863130"/>
            <a:ext cx="7219950" cy="3992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736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C6E58-9576-DF24-6F43-FE7F0EC949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411784-A0CE-9F84-0F69-BBCE68522F55}"/>
              </a:ext>
            </a:extLst>
          </p:cNvPr>
          <p:cNvSpPr txBox="1"/>
          <p:nvPr/>
        </p:nvSpPr>
        <p:spPr>
          <a:xfrm>
            <a:off x="7543800" y="800100"/>
            <a:ext cx="4800600" cy="1200329"/>
          </a:xfrm>
          <a:prstGeom prst="rect">
            <a:avLst/>
          </a:prstGeom>
          <a:noFill/>
        </p:spPr>
        <p:txBody>
          <a:bodyPr wrap="square" rtlCol="0">
            <a:spAutoFit/>
          </a:bodyPr>
          <a:lstStyle/>
          <a:p>
            <a:r>
              <a:rPr lang="en-IN" sz="3600" dirty="0"/>
              <a:t>MIRROR FORMULA &amp; CALCULATIONS</a:t>
            </a:r>
          </a:p>
        </p:txBody>
      </p:sp>
      <p:sp>
        <p:nvSpPr>
          <p:cNvPr id="4" name="TextBox 3">
            <a:extLst>
              <a:ext uri="{FF2B5EF4-FFF2-40B4-BE49-F238E27FC236}">
                <a16:creationId xmlns:a16="http://schemas.microsoft.com/office/drawing/2014/main" id="{04E7BE21-AB1D-052D-3DF4-6528D8175B24}"/>
              </a:ext>
            </a:extLst>
          </p:cNvPr>
          <p:cNvSpPr txBox="1"/>
          <p:nvPr/>
        </p:nvSpPr>
        <p:spPr>
          <a:xfrm>
            <a:off x="1066800" y="2933700"/>
            <a:ext cx="9144000" cy="6124754"/>
          </a:xfrm>
          <a:prstGeom prst="rect">
            <a:avLst/>
          </a:prstGeom>
          <a:noFill/>
        </p:spPr>
        <p:txBody>
          <a:bodyPr wrap="square">
            <a:spAutoFit/>
          </a:bodyPr>
          <a:lstStyle/>
          <a:p>
            <a:pPr>
              <a:buNone/>
            </a:pPr>
            <a:r>
              <a:rPr lang="en-IN" sz="2800" b="1" dirty="0"/>
              <a:t>Mirror Formula:</a:t>
            </a:r>
          </a:p>
          <a:p>
            <a:pPr>
              <a:buNone/>
            </a:pPr>
            <a:r>
              <a:rPr lang="en-IN" sz="2800" b="1" dirty="0"/>
              <a:t>1/f = 1/v + 1/u</a:t>
            </a:r>
            <a:endParaRPr lang="en-IN" sz="2800" dirty="0"/>
          </a:p>
          <a:p>
            <a:pPr>
              <a:buNone/>
            </a:pPr>
            <a:r>
              <a:rPr lang="en-IN" sz="2800" dirty="0"/>
              <a:t>Where:</a:t>
            </a:r>
          </a:p>
          <a:p>
            <a:pPr>
              <a:buFont typeface="Arial" panose="020B0604020202020204" pitchFamily="34" charset="0"/>
              <a:buChar char="•"/>
            </a:pPr>
            <a:r>
              <a:rPr lang="en-IN" sz="2800" dirty="0"/>
              <a:t>f = focal length</a:t>
            </a:r>
          </a:p>
          <a:p>
            <a:pPr>
              <a:buFont typeface="Arial" panose="020B0604020202020204" pitchFamily="34" charset="0"/>
              <a:buChar char="•"/>
            </a:pPr>
            <a:r>
              <a:rPr lang="en-IN" sz="2800" dirty="0"/>
              <a:t>v = image distance</a:t>
            </a:r>
          </a:p>
          <a:p>
            <a:pPr>
              <a:buFont typeface="Arial" panose="020B0604020202020204" pitchFamily="34" charset="0"/>
              <a:buChar char="•"/>
            </a:pPr>
            <a:r>
              <a:rPr lang="en-IN" sz="2800" dirty="0"/>
              <a:t>u = object distance</a:t>
            </a:r>
          </a:p>
          <a:p>
            <a:pPr>
              <a:buNone/>
            </a:pPr>
            <a:r>
              <a:rPr lang="en-IN" sz="2800" b="1" dirty="0"/>
              <a:t>Magnification Formula:</a:t>
            </a:r>
          </a:p>
          <a:p>
            <a:pPr>
              <a:buNone/>
            </a:pPr>
            <a:r>
              <a:rPr lang="en-IN" sz="2800" b="1" dirty="0"/>
              <a:t>m = -v/u = h'/h</a:t>
            </a:r>
            <a:endParaRPr lang="en-IN" sz="2800" dirty="0"/>
          </a:p>
          <a:p>
            <a:pPr>
              <a:buNone/>
            </a:pPr>
            <a:r>
              <a:rPr lang="en-IN" sz="2800" b="1" dirty="0"/>
              <a:t>Sign Conventions:</a:t>
            </a:r>
          </a:p>
          <a:p>
            <a:pPr>
              <a:buFont typeface="Arial" panose="020B0604020202020204" pitchFamily="34" charset="0"/>
              <a:buChar char="•"/>
            </a:pPr>
            <a:r>
              <a:rPr lang="en-IN" sz="2800" dirty="0"/>
              <a:t>Distances measured from pole</a:t>
            </a:r>
          </a:p>
          <a:p>
            <a:pPr>
              <a:buFont typeface="Arial" panose="020B0604020202020204" pitchFamily="34" charset="0"/>
              <a:buChar char="•"/>
            </a:pPr>
            <a:r>
              <a:rPr lang="en-IN" sz="2800" dirty="0"/>
              <a:t>Towards mirror = negative</a:t>
            </a:r>
          </a:p>
          <a:p>
            <a:pPr>
              <a:buFont typeface="Arial" panose="020B0604020202020204" pitchFamily="34" charset="0"/>
              <a:buChar char="•"/>
            </a:pPr>
            <a:r>
              <a:rPr lang="en-IN" sz="2800" dirty="0"/>
              <a:t>Away from mirror = positive</a:t>
            </a:r>
          </a:p>
          <a:p>
            <a:pPr>
              <a:buFont typeface="Arial" panose="020B0604020202020204" pitchFamily="34" charset="0"/>
              <a:buChar char="•"/>
            </a:pPr>
            <a:r>
              <a:rPr lang="en-IN" sz="2800" dirty="0"/>
              <a:t>Above principal axis = positive</a:t>
            </a:r>
          </a:p>
          <a:p>
            <a:pPr>
              <a:buFont typeface="Arial" panose="020B0604020202020204" pitchFamily="34" charset="0"/>
              <a:buChar char="•"/>
            </a:pPr>
            <a:r>
              <a:rPr lang="en-IN" sz="2800" dirty="0"/>
              <a:t>Below principal axis = negative</a:t>
            </a:r>
          </a:p>
        </p:txBody>
      </p:sp>
      <p:pic>
        <p:nvPicPr>
          <p:cNvPr id="4098" name="Picture 2" descr="Sign convention for Spherical Mirrors ...">
            <a:extLst>
              <a:ext uri="{FF2B5EF4-FFF2-40B4-BE49-F238E27FC236}">
                <a16:creationId xmlns:a16="http://schemas.microsoft.com/office/drawing/2014/main" id="{4E49D1F5-E3AC-C783-FC4D-9611EFF6E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0200" y="3162300"/>
            <a:ext cx="5916502" cy="488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406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E5DE2-9BA1-7E25-08D1-94628A7E8A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3FF7AA-122B-7115-8927-FD78FA7CA760}"/>
              </a:ext>
            </a:extLst>
          </p:cNvPr>
          <p:cNvSpPr txBox="1"/>
          <p:nvPr/>
        </p:nvSpPr>
        <p:spPr>
          <a:xfrm>
            <a:off x="7543800" y="800100"/>
            <a:ext cx="4800600" cy="1200329"/>
          </a:xfrm>
          <a:prstGeom prst="rect">
            <a:avLst/>
          </a:prstGeom>
          <a:noFill/>
        </p:spPr>
        <p:txBody>
          <a:bodyPr wrap="square" rtlCol="0">
            <a:spAutoFit/>
          </a:bodyPr>
          <a:lstStyle/>
          <a:p>
            <a:r>
              <a:rPr lang="en-IN" sz="3600" dirty="0"/>
              <a:t>IMAGE FORMATION - CONCAVE MIRROR</a:t>
            </a:r>
          </a:p>
        </p:txBody>
      </p:sp>
      <p:sp>
        <p:nvSpPr>
          <p:cNvPr id="4" name="TextBox 3">
            <a:extLst>
              <a:ext uri="{FF2B5EF4-FFF2-40B4-BE49-F238E27FC236}">
                <a16:creationId xmlns:a16="http://schemas.microsoft.com/office/drawing/2014/main" id="{C97AD244-74FB-74B3-D848-E16DDA90B8C6}"/>
              </a:ext>
            </a:extLst>
          </p:cNvPr>
          <p:cNvSpPr txBox="1"/>
          <p:nvPr/>
        </p:nvSpPr>
        <p:spPr>
          <a:xfrm>
            <a:off x="5715000" y="2781300"/>
            <a:ext cx="9144000" cy="4401205"/>
          </a:xfrm>
          <a:prstGeom prst="rect">
            <a:avLst/>
          </a:prstGeom>
          <a:noFill/>
        </p:spPr>
        <p:txBody>
          <a:bodyPr wrap="square">
            <a:spAutoFit/>
          </a:bodyPr>
          <a:lstStyle/>
          <a:p>
            <a:pPr>
              <a:buNone/>
            </a:pPr>
            <a:r>
              <a:rPr lang="en-US" sz="2800" b="1" dirty="0"/>
              <a:t>Object Positions &amp; Image Characteristics:</a:t>
            </a:r>
          </a:p>
          <a:p>
            <a:pPr>
              <a:buFont typeface="+mj-lt"/>
              <a:buAutoNum type="arabicPeriod"/>
            </a:pPr>
            <a:r>
              <a:rPr lang="en-US" sz="2800" b="1" dirty="0"/>
              <a:t>Beyond C</a:t>
            </a:r>
            <a:r>
              <a:rPr lang="en-US" sz="2800" dirty="0"/>
              <a:t>: Real, inverted, diminished</a:t>
            </a:r>
          </a:p>
          <a:p>
            <a:pPr>
              <a:buFont typeface="+mj-lt"/>
              <a:buAutoNum type="arabicPeriod"/>
            </a:pPr>
            <a:r>
              <a:rPr lang="en-US" sz="2800" b="1" dirty="0"/>
              <a:t>At C</a:t>
            </a:r>
            <a:r>
              <a:rPr lang="en-US" sz="2800" dirty="0"/>
              <a:t>: Real, inverted, same size</a:t>
            </a:r>
          </a:p>
          <a:p>
            <a:pPr>
              <a:buFont typeface="+mj-lt"/>
              <a:buAutoNum type="arabicPeriod"/>
            </a:pPr>
            <a:r>
              <a:rPr lang="en-US" sz="2800" b="1" dirty="0"/>
              <a:t>Between C and F</a:t>
            </a:r>
            <a:r>
              <a:rPr lang="en-US" sz="2800" dirty="0"/>
              <a:t>: Real, inverted, magnified</a:t>
            </a:r>
          </a:p>
          <a:p>
            <a:pPr>
              <a:buFont typeface="+mj-lt"/>
              <a:buAutoNum type="arabicPeriod"/>
            </a:pPr>
            <a:r>
              <a:rPr lang="en-US" sz="2800" b="1" dirty="0"/>
              <a:t>At F</a:t>
            </a:r>
            <a:r>
              <a:rPr lang="en-US" sz="2800" dirty="0"/>
              <a:t>: Image at infinity</a:t>
            </a:r>
          </a:p>
          <a:p>
            <a:pPr>
              <a:buFont typeface="+mj-lt"/>
              <a:buAutoNum type="arabicPeriod"/>
            </a:pPr>
            <a:r>
              <a:rPr lang="en-US" sz="2800" b="1" dirty="0"/>
              <a:t>Between F and P</a:t>
            </a:r>
            <a:r>
              <a:rPr lang="en-US" sz="2800" dirty="0"/>
              <a:t>: Virtual, erect, magnified</a:t>
            </a:r>
          </a:p>
          <a:p>
            <a:pPr>
              <a:buNone/>
            </a:pPr>
            <a:r>
              <a:rPr lang="en-US" sz="2800" b="1" dirty="0"/>
              <a:t>Ray Diagrams Rules:</a:t>
            </a:r>
          </a:p>
          <a:p>
            <a:pPr>
              <a:buFont typeface="Arial" panose="020B0604020202020204" pitchFamily="34" charset="0"/>
              <a:buChar char="•"/>
            </a:pPr>
            <a:r>
              <a:rPr lang="en-US" sz="2800" dirty="0"/>
              <a:t>Ray parallel to axis → passes through focus after reflection</a:t>
            </a:r>
          </a:p>
          <a:p>
            <a:pPr>
              <a:buFont typeface="Arial" panose="020B0604020202020204" pitchFamily="34" charset="0"/>
              <a:buChar char="•"/>
            </a:pPr>
            <a:r>
              <a:rPr lang="en-US" sz="2800" dirty="0"/>
              <a:t>Ray through focus → becomes parallel after reflection</a:t>
            </a:r>
          </a:p>
          <a:p>
            <a:pPr>
              <a:buFont typeface="Arial" panose="020B0604020202020204" pitchFamily="34" charset="0"/>
              <a:buChar char="•"/>
            </a:pPr>
            <a:r>
              <a:rPr lang="en-US" sz="2800" dirty="0"/>
              <a:t>Ray through center → retraces its path</a:t>
            </a:r>
          </a:p>
        </p:txBody>
      </p:sp>
    </p:spTree>
    <p:extLst>
      <p:ext uri="{BB962C8B-B14F-4D97-AF65-F5344CB8AC3E}">
        <p14:creationId xmlns:p14="http://schemas.microsoft.com/office/powerpoint/2010/main" val="1762164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pherical Mirrors Using Ray Diagrams ...">
            <a:extLst>
              <a:ext uri="{FF2B5EF4-FFF2-40B4-BE49-F238E27FC236}">
                <a16:creationId xmlns:a16="http://schemas.microsoft.com/office/drawing/2014/main" id="{A2CFD92A-B079-4E9F-6C4D-BA255A2C91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333500"/>
            <a:ext cx="13563600" cy="70652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30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353975-3658-DEB0-3390-0FEB2AAF5840}"/>
              </a:ext>
            </a:extLst>
          </p:cNvPr>
          <p:cNvPicPr>
            <a:picLocks noChangeAspect="1"/>
          </p:cNvPicPr>
          <p:nvPr/>
        </p:nvPicPr>
        <p:blipFill>
          <a:blip r:embed="rId2"/>
          <a:stretch>
            <a:fillRect/>
          </a:stretch>
        </p:blipFill>
        <p:spPr>
          <a:xfrm>
            <a:off x="3247636" y="3395610"/>
            <a:ext cx="11792728" cy="3495780"/>
          </a:xfrm>
          <a:prstGeom prst="rect">
            <a:avLst/>
          </a:prstGeom>
        </p:spPr>
      </p:pic>
    </p:spTree>
    <p:extLst>
      <p:ext uri="{BB962C8B-B14F-4D97-AF65-F5344CB8AC3E}">
        <p14:creationId xmlns:p14="http://schemas.microsoft.com/office/powerpoint/2010/main" val="3462336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E1033-02C7-F216-BC84-B78448FFB2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FD1E11-E699-A747-DD7B-A8CD19C9DD16}"/>
              </a:ext>
            </a:extLst>
          </p:cNvPr>
          <p:cNvSpPr txBox="1"/>
          <p:nvPr/>
        </p:nvSpPr>
        <p:spPr>
          <a:xfrm>
            <a:off x="7543800" y="800100"/>
            <a:ext cx="4800600" cy="1200329"/>
          </a:xfrm>
          <a:prstGeom prst="rect">
            <a:avLst/>
          </a:prstGeom>
          <a:noFill/>
        </p:spPr>
        <p:txBody>
          <a:bodyPr wrap="square" rtlCol="0">
            <a:spAutoFit/>
          </a:bodyPr>
          <a:lstStyle/>
          <a:p>
            <a:r>
              <a:rPr lang="en-IN" sz="3600" dirty="0"/>
              <a:t>IMAGE FORMATION - CONVEX MIRROR</a:t>
            </a:r>
          </a:p>
        </p:txBody>
      </p:sp>
      <p:sp>
        <p:nvSpPr>
          <p:cNvPr id="4" name="TextBox 3">
            <a:extLst>
              <a:ext uri="{FF2B5EF4-FFF2-40B4-BE49-F238E27FC236}">
                <a16:creationId xmlns:a16="http://schemas.microsoft.com/office/drawing/2014/main" id="{E09D828C-E569-D934-67FE-2A1FFFDEFEF9}"/>
              </a:ext>
            </a:extLst>
          </p:cNvPr>
          <p:cNvSpPr txBox="1"/>
          <p:nvPr/>
        </p:nvSpPr>
        <p:spPr>
          <a:xfrm>
            <a:off x="4343400" y="3158341"/>
            <a:ext cx="9144000" cy="4524315"/>
          </a:xfrm>
          <a:prstGeom prst="rect">
            <a:avLst/>
          </a:prstGeom>
          <a:noFill/>
        </p:spPr>
        <p:txBody>
          <a:bodyPr wrap="square">
            <a:spAutoFit/>
          </a:bodyPr>
          <a:lstStyle/>
          <a:p>
            <a:pPr>
              <a:buNone/>
            </a:pPr>
            <a:r>
              <a:rPr lang="en-US" sz="3600" b="1" dirty="0"/>
              <a:t>Characteristics:</a:t>
            </a:r>
          </a:p>
          <a:p>
            <a:pPr>
              <a:buFont typeface="Arial" panose="020B0604020202020204" pitchFamily="34" charset="0"/>
              <a:buChar char="•"/>
            </a:pPr>
            <a:r>
              <a:rPr lang="en-US" sz="3600" dirty="0"/>
              <a:t>Always forms virtual, erect, diminished images</a:t>
            </a:r>
          </a:p>
          <a:p>
            <a:pPr>
              <a:buFont typeface="Arial" panose="020B0604020202020204" pitchFamily="34" charset="0"/>
              <a:buChar char="•"/>
            </a:pPr>
            <a:r>
              <a:rPr lang="en-US" sz="3600" dirty="0"/>
              <a:t>Image always between pole and focus</a:t>
            </a:r>
          </a:p>
          <a:p>
            <a:pPr>
              <a:buFont typeface="Arial" panose="020B0604020202020204" pitchFamily="34" charset="0"/>
              <a:buChar char="•"/>
            </a:pPr>
            <a:r>
              <a:rPr lang="en-US" sz="3600" dirty="0"/>
              <a:t>Used as rear-view mirrors in vehicles</a:t>
            </a:r>
          </a:p>
          <a:p>
            <a:pPr>
              <a:buNone/>
            </a:pPr>
            <a:r>
              <a:rPr lang="en-US" sz="3600" b="1" dirty="0"/>
              <a:t>Applications:</a:t>
            </a:r>
          </a:p>
          <a:p>
            <a:pPr>
              <a:buFont typeface="Arial" panose="020B0604020202020204" pitchFamily="34" charset="0"/>
              <a:buChar char="•"/>
            </a:pPr>
            <a:r>
              <a:rPr lang="en-US" sz="3600" dirty="0"/>
              <a:t>Security mirrors in shops/hospitals</a:t>
            </a:r>
          </a:p>
          <a:p>
            <a:pPr>
              <a:buFont typeface="Arial" panose="020B0604020202020204" pitchFamily="34" charset="0"/>
              <a:buChar char="•"/>
            </a:pPr>
            <a:r>
              <a:rPr lang="en-US" sz="3600" dirty="0"/>
              <a:t>Street light reflectors</a:t>
            </a:r>
          </a:p>
          <a:p>
            <a:pPr>
              <a:buFont typeface="Arial" panose="020B0604020202020204" pitchFamily="34" charset="0"/>
              <a:buChar char="•"/>
            </a:pPr>
            <a:r>
              <a:rPr lang="en-US" sz="3600" dirty="0"/>
              <a:t>Vehicle headlights (diverging beam)</a:t>
            </a:r>
          </a:p>
        </p:txBody>
      </p:sp>
    </p:spTree>
    <p:extLst>
      <p:ext uri="{BB962C8B-B14F-4D97-AF65-F5344CB8AC3E}">
        <p14:creationId xmlns:p14="http://schemas.microsoft.com/office/powerpoint/2010/main" val="3659738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oncave and Convex Mirror: Ray Diagrams">
            <a:extLst>
              <a:ext uri="{FF2B5EF4-FFF2-40B4-BE49-F238E27FC236}">
                <a16:creationId xmlns:a16="http://schemas.microsoft.com/office/drawing/2014/main" id="{F23AD9ED-F957-F256-E8AC-6DE6BB6DD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573" y="3162300"/>
            <a:ext cx="13386853" cy="3586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922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EA879C-9426-4A66-0FD8-F137E3578D69}"/>
              </a:ext>
            </a:extLst>
          </p:cNvPr>
          <p:cNvPicPr>
            <a:picLocks noChangeAspect="1"/>
          </p:cNvPicPr>
          <p:nvPr/>
        </p:nvPicPr>
        <p:blipFill>
          <a:blip r:embed="rId2"/>
          <a:stretch>
            <a:fillRect/>
          </a:stretch>
        </p:blipFill>
        <p:spPr>
          <a:xfrm>
            <a:off x="6477000" y="2324100"/>
            <a:ext cx="5986681" cy="5113246"/>
          </a:xfrm>
          <a:prstGeom prst="rect">
            <a:avLst/>
          </a:prstGeom>
        </p:spPr>
      </p:pic>
    </p:spTree>
    <p:extLst>
      <p:ext uri="{BB962C8B-B14F-4D97-AF65-F5344CB8AC3E}">
        <p14:creationId xmlns:p14="http://schemas.microsoft.com/office/powerpoint/2010/main" val="642251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E615-73CE-2F4B-F035-FC8F39F713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3FDCBD-BB6C-CA59-5F3A-83D0A10EE482}"/>
              </a:ext>
            </a:extLst>
          </p:cNvPr>
          <p:cNvSpPr txBox="1"/>
          <p:nvPr/>
        </p:nvSpPr>
        <p:spPr>
          <a:xfrm>
            <a:off x="7543800" y="800100"/>
            <a:ext cx="4800600" cy="646331"/>
          </a:xfrm>
          <a:prstGeom prst="rect">
            <a:avLst/>
          </a:prstGeom>
          <a:noFill/>
        </p:spPr>
        <p:txBody>
          <a:bodyPr wrap="square" rtlCol="0">
            <a:spAutoFit/>
          </a:bodyPr>
          <a:lstStyle/>
          <a:p>
            <a:r>
              <a:rPr lang="en-IN" sz="3600" dirty="0"/>
              <a:t>REFRACTION OF LIGHT</a:t>
            </a:r>
          </a:p>
        </p:txBody>
      </p:sp>
      <p:sp>
        <p:nvSpPr>
          <p:cNvPr id="4" name="TextBox 3">
            <a:extLst>
              <a:ext uri="{FF2B5EF4-FFF2-40B4-BE49-F238E27FC236}">
                <a16:creationId xmlns:a16="http://schemas.microsoft.com/office/drawing/2014/main" id="{3F7750F1-2530-FC55-876E-2D8F600F74D7}"/>
              </a:ext>
            </a:extLst>
          </p:cNvPr>
          <p:cNvSpPr txBox="1"/>
          <p:nvPr/>
        </p:nvSpPr>
        <p:spPr>
          <a:xfrm>
            <a:off x="3352800" y="1943100"/>
            <a:ext cx="9144000" cy="7848302"/>
          </a:xfrm>
          <a:prstGeom prst="rect">
            <a:avLst/>
          </a:prstGeom>
          <a:noFill/>
        </p:spPr>
        <p:txBody>
          <a:bodyPr wrap="square">
            <a:spAutoFit/>
          </a:bodyPr>
          <a:lstStyle/>
          <a:p>
            <a:pPr>
              <a:buNone/>
            </a:pPr>
            <a:r>
              <a:rPr lang="en-US" sz="3600" b="1" dirty="0"/>
              <a:t>Definition:</a:t>
            </a:r>
          </a:p>
          <a:p>
            <a:pPr>
              <a:buNone/>
            </a:pPr>
            <a:r>
              <a:rPr lang="en-US" sz="3600" dirty="0"/>
              <a:t>Bending of light when it passes from one transparent medium to another</a:t>
            </a:r>
          </a:p>
          <a:p>
            <a:pPr>
              <a:buNone/>
            </a:pPr>
            <a:r>
              <a:rPr lang="en-US" sz="3600" b="1" dirty="0"/>
              <a:t>Laws of Refraction (Snell's Law):</a:t>
            </a:r>
          </a:p>
          <a:p>
            <a:pPr>
              <a:buFont typeface="+mj-lt"/>
              <a:buAutoNum type="arabicPeriod"/>
            </a:pPr>
            <a:r>
              <a:rPr lang="en-US" sz="3600" dirty="0"/>
              <a:t>Incident ray, refracted ray, and normal lie in same plane</a:t>
            </a:r>
          </a:p>
          <a:p>
            <a:pPr>
              <a:buFont typeface="+mj-lt"/>
              <a:buAutoNum type="arabicPeriod"/>
            </a:pPr>
            <a:r>
              <a:rPr lang="en-US" sz="3600" b="1" dirty="0" err="1"/>
              <a:t>n₁sin</a:t>
            </a:r>
            <a:r>
              <a:rPr lang="en-US" sz="3600" b="1" dirty="0"/>
              <a:t> θ₁ = </a:t>
            </a:r>
            <a:r>
              <a:rPr lang="en-US" sz="3600" b="1" dirty="0" err="1"/>
              <a:t>n₂sin</a:t>
            </a:r>
            <a:r>
              <a:rPr lang="en-US" sz="3600" b="1" dirty="0"/>
              <a:t> θ₂</a:t>
            </a:r>
            <a:endParaRPr lang="en-US" sz="3600" dirty="0"/>
          </a:p>
          <a:p>
            <a:pPr>
              <a:buNone/>
            </a:pPr>
            <a:r>
              <a:rPr lang="en-US" sz="3600" b="1" dirty="0"/>
              <a:t>Refractive Index:</a:t>
            </a:r>
          </a:p>
          <a:p>
            <a:pPr>
              <a:buNone/>
            </a:pPr>
            <a:r>
              <a:rPr lang="en-US" sz="3600" b="1" dirty="0"/>
              <a:t>n = c/v = sin </a:t>
            </a:r>
            <a:r>
              <a:rPr lang="en-US" sz="3600" b="1" dirty="0" err="1"/>
              <a:t>i</a:t>
            </a:r>
            <a:r>
              <a:rPr lang="en-US" sz="3600" b="1" dirty="0"/>
              <a:t>/sin r</a:t>
            </a:r>
            <a:endParaRPr lang="en-US" sz="3600" dirty="0"/>
          </a:p>
          <a:p>
            <a:pPr>
              <a:buNone/>
            </a:pPr>
            <a:r>
              <a:rPr lang="en-US" sz="3600" dirty="0"/>
              <a:t>Where:</a:t>
            </a:r>
          </a:p>
          <a:p>
            <a:pPr>
              <a:buFont typeface="Arial" panose="020B0604020202020204" pitchFamily="34" charset="0"/>
              <a:buChar char="•"/>
            </a:pPr>
            <a:r>
              <a:rPr lang="en-US" sz="3600" dirty="0"/>
              <a:t>c = speed of light in vacuum</a:t>
            </a:r>
          </a:p>
          <a:p>
            <a:pPr>
              <a:buFont typeface="Arial" panose="020B0604020202020204" pitchFamily="34" charset="0"/>
              <a:buChar char="•"/>
            </a:pPr>
            <a:r>
              <a:rPr lang="en-US" sz="3600" dirty="0"/>
              <a:t>v = speed of light in medium</a:t>
            </a:r>
          </a:p>
          <a:p>
            <a:pPr>
              <a:buFont typeface="Arial" panose="020B0604020202020204" pitchFamily="34" charset="0"/>
              <a:buChar char="•"/>
            </a:pPr>
            <a:r>
              <a:rPr lang="en-US" sz="3600" dirty="0" err="1"/>
              <a:t>i</a:t>
            </a:r>
            <a:r>
              <a:rPr lang="en-US" sz="3600" dirty="0"/>
              <a:t> = angle of incidence</a:t>
            </a:r>
          </a:p>
          <a:p>
            <a:pPr>
              <a:buFont typeface="Arial" panose="020B0604020202020204" pitchFamily="34" charset="0"/>
              <a:buChar char="•"/>
            </a:pPr>
            <a:r>
              <a:rPr lang="en-US" sz="3600" dirty="0"/>
              <a:t>r = angle of refraction</a:t>
            </a:r>
          </a:p>
        </p:txBody>
      </p:sp>
    </p:spTree>
    <p:extLst>
      <p:ext uri="{BB962C8B-B14F-4D97-AF65-F5344CB8AC3E}">
        <p14:creationId xmlns:p14="http://schemas.microsoft.com/office/powerpoint/2010/main" val="880841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71149-BFCA-9068-E509-1D418394F5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97F35D-1E3C-5C44-AFC6-9907DE799EE8}"/>
              </a:ext>
            </a:extLst>
          </p:cNvPr>
          <p:cNvSpPr txBox="1"/>
          <p:nvPr/>
        </p:nvSpPr>
        <p:spPr>
          <a:xfrm>
            <a:off x="7543800" y="800100"/>
            <a:ext cx="4800600" cy="1754326"/>
          </a:xfrm>
          <a:prstGeom prst="rect">
            <a:avLst/>
          </a:prstGeom>
          <a:noFill/>
        </p:spPr>
        <p:txBody>
          <a:bodyPr wrap="square" rtlCol="0">
            <a:spAutoFit/>
          </a:bodyPr>
          <a:lstStyle/>
          <a:p>
            <a:r>
              <a:rPr lang="en-IN" sz="3600" dirty="0"/>
              <a:t>CRITICAL ANGLE &amp; TOTAL INTERNAL REFLECTION</a:t>
            </a:r>
          </a:p>
        </p:txBody>
      </p:sp>
      <p:sp>
        <p:nvSpPr>
          <p:cNvPr id="4" name="TextBox 3">
            <a:extLst>
              <a:ext uri="{FF2B5EF4-FFF2-40B4-BE49-F238E27FC236}">
                <a16:creationId xmlns:a16="http://schemas.microsoft.com/office/drawing/2014/main" id="{F9DD7D53-77FB-38FE-779D-F250C8FA1D58}"/>
              </a:ext>
            </a:extLst>
          </p:cNvPr>
          <p:cNvSpPr txBox="1"/>
          <p:nvPr/>
        </p:nvSpPr>
        <p:spPr>
          <a:xfrm>
            <a:off x="3200400" y="2554426"/>
            <a:ext cx="9144000" cy="7294305"/>
          </a:xfrm>
          <a:prstGeom prst="rect">
            <a:avLst/>
          </a:prstGeom>
          <a:noFill/>
        </p:spPr>
        <p:txBody>
          <a:bodyPr wrap="square">
            <a:spAutoFit/>
          </a:bodyPr>
          <a:lstStyle/>
          <a:p>
            <a:pPr>
              <a:buNone/>
            </a:pPr>
            <a:r>
              <a:rPr lang="en-US" sz="3600" b="1" dirty="0"/>
              <a:t>Critical Angle (</a:t>
            </a:r>
            <a:r>
              <a:rPr lang="en-US" sz="3600" b="1" dirty="0" err="1"/>
              <a:t>θc</a:t>
            </a:r>
            <a:r>
              <a:rPr lang="en-US" sz="3600" b="1" dirty="0"/>
              <a:t>):</a:t>
            </a:r>
          </a:p>
          <a:p>
            <a:pPr>
              <a:buNone/>
            </a:pPr>
            <a:r>
              <a:rPr lang="en-US" sz="3600" dirty="0"/>
              <a:t>Angle of incidence in denser medium for which angle of refraction = 90°</a:t>
            </a:r>
          </a:p>
          <a:p>
            <a:pPr>
              <a:buNone/>
            </a:pPr>
            <a:r>
              <a:rPr lang="en-US" sz="3600" b="1" dirty="0"/>
              <a:t>sin </a:t>
            </a:r>
            <a:r>
              <a:rPr lang="en-US" sz="3600" b="1" dirty="0" err="1"/>
              <a:t>θc</a:t>
            </a:r>
            <a:r>
              <a:rPr lang="en-US" sz="3600" b="1" dirty="0"/>
              <a:t> = 1/n</a:t>
            </a:r>
            <a:r>
              <a:rPr lang="en-US" sz="3600" dirty="0"/>
              <a:t> (for air interface)</a:t>
            </a:r>
          </a:p>
          <a:p>
            <a:pPr>
              <a:buNone/>
            </a:pPr>
            <a:r>
              <a:rPr lang="en-US" sz="3600" b="1" dirty="0"/>
              <a:t>Total Internal Reflection:</a:t>
            </a:r>
          </a:p>
          <a:p>
            <a:pPr>
              <a:buNone/>
            </a:pPr>
            <a:r>
              <a:rPr lang="en-US" sz="3600" dirty="0"/>
              <a:t>When angle of incidence &gt; critical angle</a:t>
            </a:r>
          </a:p>
          <a:p>
            <a:pPr>
              <a:buFont typeface="Arial" panose="020B0604020202020204" pitchFamily="34" charset="0"/>
              <a:buChar char="•"/>
            </a:pPr>
            <a:r>
              <a:rPr lang="en-US" sz="3600" dirty="0"/>
              <a:t>Complete reflection occurs</a:t>
            </a:r>
          </a:p>
          <a:p>
            <a:pPr>
              <a:buFont typeface="Arial" panose="020B0604020202020204" pitchFamily="34" charset="0"/>
              <a:buChar char="•"/>
            </a:pPr>
            <a:r>
              <a:rPr lang="en-US" sz="3600" dirty="0"/>
              <a:t>No refraction takes place</a:t>
            </a:r>
          </a:p>
          <a:p>
            <a:pPr>
              <a:buNone/>
            </a:pPr>
            <a:r>
              <a:rPr lang="en-US" sz="3600" b="1" dirty="0"/>
              <a:t>Applications:</a:t>
            </a:r>
          </a:p>
          <a:p>
            <a:pPr>
              <a:buFont typeface="Arial" panose="020B0604020202020204" pitchFamily="34" charset="0"/>
              <a:buChar char="•"/>
            </a:pPr>
            <a:r>
              <a:rPr lang="en-US" sz="3600" dirty="0"/>
              <a:t>Optical fibers</a:t>
            </a:r>
          </a:p>
          <a:p>
            <a:pPr>
              <a:buFont typeface="Arial" panose="020B0604020202020204" pitchFamily="34" charset="0"/>
              <a:buChar char="•"/>
            </a:pPr>
            <a:r>
              <a:rPr lang="en-US" sz="3600" dirty="0"/>
              <a:t>Prisms in periscopes</a:t>
            </a:r>
          </a:p>
          <a:p>
            <a:pPr>
              <a:buFont typeface="Arial" panose="020B0604020202020204" pitchFamily="34" charset="0"/>
              <a:buChar char="•"/>
            </a:pPr>
            <a:r>
              <a:rPr lang="en-US" sz="3600" dirty="0"/>
              <a:t>Diamond sparkle</a:t>
            </a:r>
          </a:p>
          <a:p>
            <a:pPr>
              <a:buFont typeface="Arial" panose="020B0604020202020204" pitchFamily="34" charset="0"/>
              <a:buChar char="•"/>
            </a:pPr>
            <a:r>
              <a:rPr lang="en-US" sz="3600" dirty="0"/>
              <a:t>Mirage formation</a:t>
            </a:r>
          </a:p>
        </p:txBody>
      </p:sp>
    </p:spTree>
    <p:extLst>
      <p:ext uri="{BB962C8B-B14F-4D97-AF65-F5344CB8AC3E}">
        <p14:creationId xmlns:p14="http://schemas.microsoft.com/office/powerpoint/2010/main" val="863864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plain total internal reflection with diagram.">
            <a:extLst>
              <a:ext uri="{FF2B5EF4-FFF2-40B4-BE49-F238E27FC236}">
                <a16:creationId xmlns:a16="http://schemas.microsoft.com/office/drawing/2014/main" id="{32CD1262-30FC-91BD-82B4-0AB637AB67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9581" y="1790700"/>
            <a:ext cx="10928838" cy="5919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281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at are Fiber Optics and How Do They Work? | Coherent">
            <a:extLst>
              <a:ext uri="{FF2B5EF4-FFF2-40B4-BE49-F238E27FC236}">
                <a16:creationId xmlns:a16="http://schemas.microsoft.com/office/drawing/2014/main" id="{C54C15A7-542B-0E21-2D39-38BCFF0F6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9625" y="2928938"/>
            <a:ext cx="9048750" cy="442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687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9C868-F18A-4F59-2358-CFAB053E21E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4979996-84C1-4A89-8466-99D9D2873739}"/>
              </a:ext>
            </a:extLst>
          </p:cNvPr>
          <p:cNvSpPr txBox="1"/>
          <p:nvPr/>
        </p:nvSpPr>
        <p:spPr>
          <a:xfrm>
            <a:off x="7543800" y="800100"/>
            <a:ext cx="4800600" cy="646331"/>
          </a:xfrm>
          <a:prstGeom prst="rect">
            <a:avLst/>
          </a:prstGeom>
          <a:noFill/>
        </p:spPr>
        <p:txBody>
          <a:bodyPr wrap="square" rtlCol="0">
            <a:spAutoFit/>
          </a:bodyPr>
          <a:lstStyle/>
          <a:p>
            <a:r>
              <a:rPr lang="en-IN" sz="3600" dirty="0"/>
              <a:t>SPHERICAL LENSES</a:t>
            </a:r>
          </a:p>
        </p:txBody>
      </p:sp>
      <p:sp>
        <p:nvSpPr>
          <p:cNvPr id="4" name="TextBox 3">
            <a:extLst>
              <a:ext uri="{FF2B5EF4-FFF2-40B4-BE49-F238E27FC236}">
                <a16:creationId xmlns:a16="http://schemas.microsoft.com/office/drawing/2014/main" id="{47ED31D4-04DE-47C0-6456-078DE8082979}"/>
              </a:ext>
            </a:extLst>
          </p:cNvPr>
          <p:cNvSpPr txBox="1"/>
          <p:nvPr/>
        </p:nvSpPr>
        <p:spPr>
          <a:xfrm>
            <a:off x="4343400" y="3158341"/>
            <a:ext cx="9144000" cy="5693866"/>
          </a:xfrm>
          <a:prstGeom prst="rect">
            <a:avLst/>
          </a:prstGeom>
          <a:noFill/>
        </p:spPr>
        <p:txBody>
          <a:bodyPr wrap="square">
            <a:spAutoFit/>
          </a:bodyPr>
          <a:lstStyle/>
          <a:p>
            <a:pPr>
              <a:buNone/>
            </a:pPr>
            <a:r>
              <a:rPr lang="en-IN" sz="2800" b="1" dirty="0"/>
              <a:t>Types:</a:t>
            </a:r>
          </a:p>
          <a:p>
            <a:pPr>
              <a:buFont typeface="+mj-lt"/>
              <a:buAutoNum type="arabicPeriod"/>
            </a:pPr>
            <a:r>
              <a:rPr lang="en-IN" sz="2800" b="1" dirty="0"/>
              <a:t>Convex Lens</a:t>
            </a:r>
            <a:r>
              <a:rPr lang="en-IN" sz="2800" dirty="0"/>
              <a:t> (Converging) </a:t>
            </a:r>
          </a:p>
          <a:p>
            <a:pPr marL="742950" lvl="1" indent="-285750">
              <a:buFont typeface="+mj-lt"/>
              <a:buAutoNum type="arabicPeriod"/>
            </a:pPr>
            <a:r>
              <a:rPr lang="en-IN" sz="2800" dirty="0"/>
              <a:t>Thicker at </a:t>
            </a:r>
            <a:r>
              <a:rPr lang="en-IN" sz="2800" dirty="0" err="1"/>
              <a:t>center</a:t>
            </a:r>
            <a:endParaRPr lang="en-IN" sz="2800" dirty="0"/>
          </a:p>
          <a:p>
            <a:pPr marL="742950" lvl="1" indent="-285750">
              <a:buFont typeface="+mj-lt"/>
              <a:buAutoNum type="arabicPeriod"/>
            </a:pPr>
            <a:r>
              <a:rPr lang="en-IN" sz="2800" dirty="0"/>
              <a:t>Converges parallel rays</a:t>
            </a:r>
          </a:p>
          <a:p>
            <a:pPr>
              <a:buFont typeface="+mj-lt"/>
              <a:buAutoNum type="arabicPeriod"/>
            </a:pPr>
            <a:r>
              <a:rPr lang="en-IN" sz="2800" b="1" dirty="0"/>
              <a:t>Concave Lens</a:t>
            </a:r>
            <a:r>
              <a:rPr lang="en-IN" sz="2800" dirty="0"/>
              <a:t> (Diverging) </a:t>
            </a:r>
          </a:p>
          <a:p>
            <a:pPr marL="742950" lvl="1" indent="-285750">
              <a:buFont typeface="+mj-lt"/>
              <a:buAutoNum type="arabicPeriod"/>
            </a:pPr>
            <a:r>
              <a:rPr lang="en-IN" sz="2800" dirty="0"/>
              <a:t>Thinner at </a:t>
            </a:r>
            <a:r>
              <a:rPr lang="en-IN" sz="2800" dirty="0" err="1"/>
              <a:t>center</a:t>
            </a:r>
            <a:endParaRPr lang="en-IN" sz="2800" dirty="0"/>
          </a:p>
          <a:p>
            <a:pPr marL="742950" lvl="1" indent="-285750">
              <a:buFont typeface="+mj-lt"/>
              <a:buAutoNum type="arabicPeriod"/>
            </a:pPr>
            <a:r>
              <a:rPr lang="en-IN" sz="2800" dirty="0"/>
              <a:t>Diverges parallel rays</a:t>
            </a:r>
          </a:p>
          <a:p>
            <a:pPr>
              <a:buNone/>
            </a:pPr>
            <a:r>
              <a:rPr lang="en-IN" sz="2800" b="1" dirty="0"/>
              <a:t>Key Terms:</a:t>
            </a:r>
          </a:p>
          <a:p>
            <a:pPr>
              <a:buFont typeface="Arial" panose="020B0604020202020204" pitchFamily="34" charset="0"/>
              <a:buChar char="•"/>
            </a:pPr>
            <a:r>
              <a:rPr lang="en-IN" sz="2800" b="1" dirty="0"/>
              <a:t>Optical </a:t>
            </a:r>
            <a:r>
              <a:rPr lang="en-IN" sz="2800" b="1" dirty="0" err="1"/>
              <a:t>center</a:t>
            </a:r>
            <a:r>
              <a:rPr lang="en-IN" sz="2800" b="1" dirty="0"/>
              <a:t> (O)</a:t>
            </a:r>
            <a:r>
              <a:rPr lang="en-IN" sz="2800" dirty="0"/>
              <a:t>: </a:t>
            </a:r>
            <a:r>
              <a:rPr lang="en-IN" sz="2800" dirty="0" err="1"/>
              <a:t>Center</a:t>
            </a:r>
            <a:r>
              <a:rPr lang="en-IN" sz="2800" dirty="0"/>
              <a:t> of lens</a:t>
            </a:r>
          </a:p>
          <a:p>
            <a:pPr>
              <a:buFont typeface="Arial" panose="020B0604020202020204" pitchFamily="34" charset="0"/>
              <a:buChar char="•"/>
            </a:pPr>
            <a:r>
              <a:rPr lang="en-IN" sz="2800" b="1" dirty="0"/>
              <a:t>Principal focus (F)</a:t>
            </a:r>
            <a:r>
              <a:rPr lang="en-IN" sz="2800" dirty="0"/>
              <a:t>: Point where parallel rays converge/appear to diverge</a:t>
            </a:r>
          </a:p>
          <a:p>
            <a:pPr>
              <a:buFont typeface="Arial" panose="020B0604020202020204" pitchFamily="34" charset="0"/>
              <a:buChar char="•"/>
            </a:pPr>
            <a:r>
              <a:rPr lang="en-IN" sz="2800" b="1" dirty="0"/>
              <a:t>Focal length (f)</a:t>
            </a:r>
            <a:r>
              <a:rPr lang="en-IN" sz="2800" dirty="0"/>
              <a:t>: Distance from optical </a:t>
            </a:r>
            <a:r>
              <a:rPr lang="en-IN" sz="2800" dirty="0" err="1"/>
              <a:t>center</a:t>
            </a:r>
            <a:r>
              <a:rPr lang="en-IN" sz="2800" dirty="0"/>
              <a:t> to focus</a:t>
            </a:r>
          </a:p>
          <a:p>
            <a:pPr>
              <a:buFont typeface="Arial" panose="020B0604020202020204" pitchFamily="34" charset="0"/>
              <a:buChar char="•"/>
            </a:pPr>
            <a:r>
              <a:rPr lang="en-IN" sz="2800" b="1" dirty="0"/>
              <a:t>Principal axis</a:t>
            </a:r>
            <a:r>
              <a:rPr lang="en-IN" sz="2800" dirty="0"/>
              <a:t>: Line passing through </a:t>
            </a:r>
            <a:r>
              <a:rPr lang="en-IN" sz="2800" dirty="0" err="1"/>
              <a:t>centers</a:t>
            </a:r>
            <a:r>
              <a:rPr lang="en-IN" sz="2800" dirty="0"/>
              <a:t> of curvature</a:t>
            </a:r>
          </a:p>
        </p:txBody>
      </p:sp>
    </p:spTree>
    <p:extLst>
      <p:ext uri="{BB962C8B-B14F-4D97-AF65-F5344CB8AC3E}">
        <p14:creationId xmlns:p14="http://schemas.microsoft.com/office/powerpoint/2010/main" val="1477734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Formation by Lenses | GeeksforGeeks">
            <a:extLst>
              <a:ext uri="{FF2B5EF4-FFF2-40B4-BE49-F238E27FC236}">
                <a16:creationId xmlns:a16="http://schemas.microsoft.com/office/drawing/2014/main" id="{F5B437A3-5937-B2EF-1073-410374DC4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4516" y="2705100"/>
            <a:ext cx="9178968"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2885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3ACC5-F7B7-847E-C829-1484C6E070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510BF8C-EE85-E28F-EBED-EB3427E2B69D}"/>
              </a:ext>
            </a:extLst>
          </p:cNvPr>
          <p:cNvSpPr txBox="1"/>
          <p:nvPr/>
        </p:nvSpPr>
        <p:spPr>
          <a:xfrm>
            <a:off x="7543800" y="800100"/>
            <a:ext cx="4800600" cy="1200329"/>
          </a:xfrm>
          <a:prstGeom prst="rect">
            <a:avLst/>
          </a:prstGeom>
          <a:noFill/>
        </p:spPr>
        <p:txBody>
          <a:bodyPr wrap="square" rtlCol="0">
            <a:spAutoFit/>
          </a:bodyPr>
          <a:lstStyle/>
          <a:p>
            <a:r>
              <a:rPr lang="en-IN" sz="3600" dirty="0"/>
              <a:t>LENS FORMULA &amp; CALCULATIONS</a:t>
            </a:r>
          </a:p>
        </p:txBody>
      </p:sp>
      <p:sp>
        <p:nvSpPr>
          <p:cNvPr id="4" name="TextBox 3">
            <a:extLst>
              <a:ext uri="{FF2B5EF4-FFF2-40B4-BE49-F238E27FC236}">
                <a16:creationId xmlns:a16="http://schemas.microsoft.com/office/drawing/2014/main" id="{5628D705-6856-BFA2-586D-6F3AFDA2AA8D}"/>
              </a:ext>
            </a:extLst>
          </p:cNvPr>
          <p:cNvSpPr txBox="1"/>
          <p:nvPr/>
        </p:nvSpPr>
        <p:spPr>
          <a:xfrm>
            <a:off x="4038600" y="2628900"/>
            <a:ext cx="9144000" cy="6186309"/>
          </a:xfrm>
          <a:prstGeom prst="rect">
            <a:avLst/>
          </a:prstGeom>
          <a:noFill/>
        </p:spPr>
        <p:txBody>
          <a:bodyPr wrap="square">
            <a:spAutoFit/>
          </a:bodyPr>
          <a:lstStyle/>
          <a:p>
            <a:pPr>
              <a:buNone/>
            </a:pPr>
            <a:r>
              <a:rPr lang="en-IN" sz="3600" b="1" dirty="0"/>
              <a:t>Lens Formula:</a:t>
            </a:r>
          </a:p>
          <a:p>
            <a:pPr>
              <a:buNone/>
            </a:pPr>
            <a:r>
              <a:rPr lang="en-IN" sz="3600" b="1" dirty="0"/>
              <a:t>1/f = 1/v - 1/u</a:t>
            </a:r>
            <a:endParaRPr lang="en-IN" sz="3600" dirty="0"/>
          </a:p>
          <a:p>
            <a:pPr>
              <a:buNone/>
            </a:pPr>
            <a:r>
              <a:rPr lang="en-IN" sz="3600" b="1" dirty="0"/>
              <a:t>Power of Lens:</a:t>
            </a:r>
          </a:p>
          <a:p>
            <a:pPr>
              <a:buNone/>
            </a:pPr>
            <a:r>
              <a:rPr lang="en-IN" sz="3600" b="1" dirty="0"/>
              <a:t>P = 1/f</a:t>
            </a:r>
            <a:r>
              <a:rPr lang="en-IN" sz="3600" dirty="0"/>
              <a:t> (in meters) Unit: </a:t>
            </a:r>
            <a:r>
              <a:rPr lang="en-IN" sz="3600" dirty="0" err="1"/>
              <a:t>Diopter</a:t>
            </a:r>
            <a:r>
              <a:rPr lang="en-IN" sz="3600" dirty="0"/>
              <a:t> (D)</a:t>
            </a:r>
          </a:p>
          <a:p>
            <a:pPr>
              <a:buNone/>
            </a:pPr>
            <a:r>
              <a:rPr lang="en-IN" sz="3600" b="1" dirty="0"/>
              <a:t>Magnification:</a:t>
            </a:r>
          </a:p>
          <a:p>
            <a:pPr>
              <a:buNone/>
            </a:pPr>
            <a:r>
              <a:rPr lang="en-IN" sz="3600" b="1" dirty="0"/>
              <a:t>m = v/u = h'/h</a:t>
            </a:r>
            <a:endParaRPr lang="en-IN" sz="3600" dirty="0"/>
          </a:p>
          <a:p>
            <a:pPr>
              <a:buNone/>
            </a:pPr>
            <a:r>
              <a:rPr lang="en-IN" sz="3600" b="1" dirty="0"/>
              <a:t>Sign Convention:</a:t>
            </a:r>
          </a:p>
          <a:p>
            <a:pPr>
              <a:buFont typeface="Arial" panose="020B0604020202020204" pitchFamily="34" charset="0"/>
              <a:buChar char="•"/>
            </a:pPr>
            <a:r>
              <a:rPr lang="en-IN" sz="3600" dirty="0"/>
              <a:t>Object side: negative distances</a:t>
            </a:r>
          </a:p>
          <a:p>
            <a:pPr>
              <a:buFont typeface="Arial" panose="020B0604020202020204" pitchFamily="34" charset="0"/>
              <a:buChar char="•"/>
            </a:pPr>
            <a:r>
              <a:rPr lang="en-IN" sz="3600" dirty="0"/>
              <a:t>Image side: positive distances</a:t>
            </a:r>
          </a:p>
          <a:p>
            <a:pPr>
              <a:buFont typeface="Arial" panose="020B0604020202020204" pitchFamily="34" charset="0"/>
              <a:buChar char="•"/>
            </a:pPr>
            <a:r>
              <a:rPr lang="en-IN" sz="3600" dirty="0"/>
              <a:t>Above axis: positive heights</a:t>
            </a:r>
          </a:p>
          <a:p>
            <a:pPr>
              <a:buFont typeface="Arial" panose="020B0604020202020204" pitchFamily="34" charset="0"/>
              <a:buChar char="•"/>
            </a:pPr>
            <a:r>
              <a:rPr lang="en-IN" sz="3600" dirty="0"/>
              <a:t>Below axis: negative heights</a:t>
            </a:r>
          </a:p>
        </p:txBody>
      </p:sp>
    </p:spTree>
    <p:extLst>
      <p:ext uri="{BB962C8B-B14F-4D97-AF65-F5344CB8AC3E}">
        <p14:creationId xmlns:p14="http://schemas.microsoft.com/office/powerpoint/2010/main" val="1481123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onvex and Concave Lens ...">
            <a:extLst>
              <a:ext uri="{FF2B5EF4-FFF2-40B4-BE49-F238E27FC236}">
                <a16:creationId xmlns:a16="http://schemas.microsoft.com/office/drawing/2014/main" id="{2EA97CA3-57DD-2C16-1A17-7A03A4D0D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3086100"/>
            <a:ext cx="7381875" cy="4542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232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A2682-2D3C-05F5-9A09-770187D776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B1D811-A861-141E-2F5E-582EE6A3B714}"/>
              </a:ext>
            </a:extLst>
          </p:cNvPr>
          <p:cNvSpPr txBox="1"/>
          <p:nvPr/>
        </p:nvSpPr>
        <p:spPr>
          <a:xfrm>
            <a:off x="7543800" y="800100"/>
            <a:ext cx="4800600" cy="1200329"/>
          </a:xfrm>
          <a:prstGeom prst="rect">
            <a:avLst/>
          </a:prstGeom>
          <a:noFill/>
        </p:spPr>
        <p:txBody>
          <a:bodyPr wrap="square" rtlCol="0">
            <a:spAutoFit/>
          </a:bodyPr>
          <a:lstStyle/>
          <a:p>
            <a:r>
              <a:rPr lang="en-IN" sz="3600" dirty="0"/>
              <a:t>IMAGE FORMATION - CONVEX LENS</a:t>
            </a:r>
          </a:p>
        </p:txBody>
      </p:sp>
      <p:sp>
        <p:nvSpPr>
          <p:cNvPr id="4" name="TextBox 3">
            <a:extLst>
              <a:ext uri="{FF2B5EF4-FFF2-40B4-BE49-F238E27FC236}">
                <a16:creationId xmlns:a16="http://schemas.microsoft.com/office/drawing/2014/main" id="{BD04BA67-6EB6-D9FE-0049-19BAAF6EAE8B}"/>
              </a:ext>
            </a:extLst>
          </p:cNvPr>
          <p:cNvSpPr txBox="1"/>
          <p:nvPr/>
        </p:nvSpPr>
        <p:spPr>
          <a:xfrm>
            <a:off x="4343400" y="3086100"/>
            <a:ext cx="9144000" cy="5632311"/>
          </a:xfrm>
          <a:prstGeom prst="rect">
            <a:avLst/>
          </a:prstGeom>
          <a:noFill/>
        </p:spPr>
        <p:txBody>
          <a:bodyPr wrap="square">
            <a:spAutoFit/>
          </a:bodyPr>
          <a:lstStyle/>
          <a:p>
            <a:pPr>
              <a:buNone/>
            </a:pPr>
            <a:r>
              <a:rPr lang="en-US" sz="3600" b="1" dirty="0"/>
              <a:t>Object Positions &amp; Images:</a:t>
            </a:r>
          </a:p>
          <a:p>
            <a:pPr>
              <a:buFont typeface="+mj-lt"/>
              <a:buAutoNum type="arabicPeriod"/>
            </a:pPr>
            <a:r>
              <a:rPr lang="en-US" sz="3600" b="1" dirty="0"/>
              <a:t>Beyond 2F</a:t>
            </a:r>
            <a:r>
              <a:rPr lang="en-US" sz="3600" dirty="0"/>
              <a:t>: Real, inverted, diminished</a:t>
            </a:r>
          </a:p>
          <a:p>
            <a:pPr>
              <a:buFont typeface="+mj-lt"/>
              <a:buAutoNum type="arabicPeriod"/>
            </a:pPr>
            <a:r>
              <a:rPr lang="en-US" sz="3600" b="1" dirty="0"/>
              <a:t>At 2F</a:t>
            </a:r>
            <a:r>
              <a:rPr lang="en-US" sz="3600" dirty="0"/>
              <a:t>: Real, inverted, same size</a:t>
            </a:r>
          </a:p>
          <a:p>
            <a:pPr>
              <a:buFont typeface="+mj-lt"/>
              <a:buAutoNum type="arabicPeriod"/>
            </a:pPr>
            <a:r>
              <a:rPr lang="en-US" sz="3600" b="1" dirty="0"/>
              <a:t>Between 2F and F</a:t>
            </a:r>
            <a:r>
              <a:rPr lang="en-US" sz="3600" dirty="0"/>
              <a:t>: Real, inverted, magnified</a:t>
            </a:r>
          </a:p>
          <a:p>
            <a:pPr>
              <a:buFont typeface="+mj-lt"/>
              <a:buAutoNum type="arabicPeriod"/>
            </a:pPr>
            <a:r>
              <a:rPr lang="en-US" sz="3600" b="1" dirty="0"/>
              <a:t>At F</a:t>
            </a:r>
            <a:r>
              <a:rPr lang="en-US" sz="3600" dirty="0"/>
              <a:t>: Image at infinity</a:t>
            </a:r>
          </a:p>
          <a:p>
            <a:pPr>
              <a:buFont typeface="+mj-lt"/>
              <a:buAutoNum type="arabicPeriod"/>
            </a:pPr>
            <a:r>
              <a:rPr lang="en-US" sz="3600" b="1" dirty="0"/>
              <a:t>Between F and O</a:t>
            </a:r>
            <a:r>
              <a:rPr lang="en-US" sz="3600" dirty="0"/>
              <a:t>: Virtual, erect, magnified</a:t>
            </a:r>
          </a:p>
          <a:p>
            <a:pPr>
              <a:buNone/>
            </a:pPr>
            <a:r>
              <a:rPr lang="en-US" sz="3600" b="1" dirty="0"/>
              <a:t>Ray Diagram Rules:</a:t>
            </a:r>
          </a:p>
          <a:p>
            <a:pPr>
              <a:buFont typeface="Arial" panose="020B0604020202020204" pitchFamily="34" charset="0"/>
              <a:buChar char="•"/>
            </a:pPr>
            <a:r>
              <a:rPr lang="en-US" sz="3600" dirty="0"/>
              <a:t>Ray parallel to axis → passes through focus</a:t>
            </a:r>
          </a:p>
          <a:p>
            <a:pPr>
              <a:buFont typeface="Arial" panose="020B0604020202020204" pitchFamily="34" charset="0"/>
              <a:buChar char="•"/>
            </a:pPr>
            <a:r>
              <a:rPr lang="en-US" sz="3600" dirty="0"/>
              <a:t>Ray through optical center → goes straight</a:t>
            </a:r>
          </a:p>
          <a:p>
            <a:pPr>
              <a:buFont typeface="Arial" panose="020B0604020202020204" pitchFamily="34" charset="0"/>
              <a:buChar char="•"/>
            </a:pPr>
            <a:r>
              <a:rPr lang="en-US" sz="3600" dirty="0"/>
              <a:t>Ray through focus → becomes parallel</a:t>
            </a:r>
          </a:p>
        </p:txBody>
      </p:sp>
    </p:spTree>
    <p:extLst>
      <p:ext uri="{BB962C8B-B14F-4D97-AF65-F5344CB8AC3E}">
        <p14:creationId xmlns:p14="http://schemas.microsoft.com/office/powerpoint/2010/main" val="2266510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To Find Image Distance For Varying Object Distances Of A Convex Lens With Ray  Diagrams">
            <a:extLst>
              <a:ext uri="{FF2B5EF4-FFF2-40B4-BE49-F238E27FC236}">
                <a16:creationId xmlns:a16="http://schemas.microsoft.com/office/drawing/2014/main" id="{BBE570CA-07A0-5888-5C74-4DA382D97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2125" y="1595438"/>
            <a:ext cx="7143750" cy="709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011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ay Diagrams For Converging Lens | Mini Physics - Free Physics Notes">
            <a:extLst>
              <a:ext uri="{FF2B5EF4-FFF2-40B4-BE49-F238E27FC236}">
                <a16:creationId xmlns:a16="http://schemas.microsoft.com/office/drawing/2014/main" id="{6217F48C-49FF-FDBB-A2B8-F30E06349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9763" y="847725"/>
            <a:ext cx="6848475" cy="859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843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60FFC-4896-9D4C-B880-0D0B83F02B8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00A734-3CF6-CE65-E2F3-5116F7217EB5}"/>
              </a:ext>
            </a:extLst>
          </p:cNvPr>
          <p:cNvSpPr txBox="1"/>
          <p:nvPr/>
        </p:nvSpPr>
        <p:spPr>
          <a:xfrm>
            <a:off x="7543800" y="800100"/>
            <a:ext cx="4800600" cy="1200329"/>
          </a:xfrm>
          <a:prstGeom prst="rect">
            <a:avLst/>
          </a:prstGeom>
          <a:noFill/>
        </p:spPr>
        <p:txBody>
          <a:bodyPr wrap="square" rtlCol="0">
            <a:spAutoFit/>
          </a:bodyPr>
          <a:lstStyle/>
          <a:p>
            <a:r>
              <a:rPr lang="en-IN" sz="3600" dirty="0"/>
              <a:t>IMAGE FORMATION - CONCAVE LENS</a:t>
            </a:r>
          </a:p>
        </p:txBody>
      </p:sp>
      <p:sp>
        <p:nvSpPr>
          <p:cNvPr id="4" name="TextBox 3">
            <a:extLst>
              <a:ext uri="{FF2B5EF4-FFF2-40B4-BE49-F238E27FC236}">
                <a16:creationId xmlns:a16="http://schemas.microsoft.com/office/drawing/2014/main" id="{DBBC5052-1B88-7B83-98DE-764C2C48F0D7}"/>
              </a:ext>
            </a:extLst>
          </p:cNvPr>
          <p:cNvSpPr txBox="1"/>
          <p:nvPr/>
        </p:nvSpPr>
        <p:spPr>
          <a:xfrm>
            <a:off x="4343400" y="3158341"/>
            <a:ext cx="9144000" cy="4524315"/>
          </a:xfrm>
          <a:prstGeom prst="rect">
            <a:avLst/>
          </a:prstGeom>
          <a:noFill/>
        </p:spPr>
        <p:txBody>
          <a:bodyPr wrap="square">
            <a:spAutoFit/>
          </a:bodyPr>
          <a:lstStyle/>
          <a:p>
            <a:pPr>
              <a:buNone/>
            </a:pPr>
            <a:r>
              <a:rPr lang="en-US" sz="3600" b="1" dirty="0"/>
              <a:t>Characteristics:</a:t>
            </a:r>
          </a:p>
          <a:p>
            <a:pPr>
              <a:buFont typeface="Arial" panose="020B0604020202020204" pitchFamily="34" charset="0"/>
              <a:buChar char="•"/>
            </a:pPr>
            <a:r>
              <a:rPr lang="en-US" sz="3600" dirty="0"/>
              <a:t>Always forms virtual, erect, diminished images</a:t>
            </a:r>
          </a:p>
          <a:p>
            <a:pPr>
              <a:buFont typeface="Arial" panose="020B0604020202020204" pitchFamily="34" charset="0"/>
              <a:buChar char="•"/>
            </a:pPr>
            <a:r>
              <a:rPr lang="en-US" sz="3600" dirty="0"/>
              <a:t>Image always on object side</a:t>
            </a:r>
          </a:p>
          <a:p>
            <a:pPr>
              <a:buFont typeface="Arial" panose="020B0604020202020204" pitchFamily="34" charset="0"/>
              <a:buChar char="•"/>
            </a:pPr>
            <a:r>
              <a:rPr lang="en-US" sz="3600" dirty="0"/>
              <a:t>Image always between optical center and focus</a:t>
            </a:r>
          </a:p>
          <a:p>
            <a:pPr>
              <a:buNone/>
            </a:pPr>
            <a:r>
              <a:rPr lang="en-US" sz="3600" b="1" dirty="0"/>
              <a:t>Applications:</a:t>
            </a:r>
          </a:p>
          <a:p>
            <a:pPr>
              <a:buFont typeface="Arial" panose="020B0604020202020204" pitchFamily="34" charset="0"/>
              <a:buChar char="•"/>
            </a:pPr>
            <a:r>
              <a:rPr lang="en-US" sz="3600" dirty="0"/>
              <a:t>Correcting myopia (short-sightedness)</a:t>
            </a:r>
          </a:p>
          <a:p>
            <a:pPr>
              <a:buFont typeface="Arial" panose="020B0604020202020204" pitchFamily="34" charset="0"/>
              <a:buChar char="•"/>
            </a:pPr>
            <a:r>
              <a:rPr lang="en-US" sz="3600" dirty="0"/>
              <a:t>Wide-angle lenses in cameras</a:t>
            </a:r>
          </a:p>
          <a:p>
            <a:pPr>
              <a:buFont typeface="Arial" panose="020B0604020202020204" pitchFamily="34" charset="0"/>
              <a:buChar char="•"/>
            </a:pPr>
            <a:r>
              <a:rPr lang="en-US" sz="3600" dirty="0"/>
              <a:t>Peepholes in doors</a:t>
            </a:r>
          </a:p>
        </p:txBody>
      </p:sp>
    </p:spTree>
    <p:extLst>
      <p:ext uri="{BB962C8B-B14F-4D97-AF65-F5344CB8AC3E}">
        <p14:creationId xmlns:p14="http://schemas.microsoft.com/office/powerpoint/2010/main" val="2591276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ight class 10 notes - Chapter 9 NCERT book">
            <a:extLst>
              <a:ext uri="{FF2B5EF4-FFF2-40B4-BE49-F238E27FC236}">
                <a16:creationId xmlns:a16="http://schemas.microsoft.com/office/drawing/2014/main" id="{EAC93391-B75E-11CC-6154-7712EB14825C}"/>
              </a:ext>
            </a:extLst>
          </p:cNvPr>
          <p:cNvSpPr>
            <a:spLocks noChangeAspect="1" noChangeArrowheads="1"/>
          </p:cNvSpPr>
          <p:nvPr/>
        </p:nvSpPr>
        <p:spPr bwMode="auto">
          <a:xfrm>
            <a:off x="9766715" y="3814761"/>
            <a:ext cx="408365" cy="4083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172" name="Picture 4" descr="Light class 10 notes - Chapter 9 NCERT book">
            <a:extLst>
              <a:ext uri="{FF2B5EF4-FFF2-40B4-BE49-F238E27FC236}">
                <a16:creationId xmlns:a16="http://schemas.microsoft.com/office/drawing/2014/main" id="{F8D102B0-2D6B-77A2-3D67-703894960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9281" y="1790700"/>
            <a:ext cx="6929438" cy="5831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247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omplete the following table for the image formation by a concave lens">
            <a:extLst>
              <a:ext uri="{FF2B5EF4-FFF2-40B4-BE49-F238E27FC236}">
                <a16:creationId xmlns:a16="http://schemas.microsoft.com/office/drawing/2014/main" id="{20D36B9E-23BE-7C2A-6E50-79539D6F2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2238"/>
            <a:ext cx="18288000" cy="10040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530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F823A-6E92-ADF6-F55E-80195CD165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489037-C60E-B2AD-5D00-E4B7F7679F3D}"/>
              </a:ext>
            </a:extLst>
          </p:cNvPr>
          <p:cNvSpPr txBox="1"/>
          <p:nvPr/>
        </p:nvSpPr>
        <p:spPr>
          <a:xfrm>
            <a:off x="7543800" y="800100"/>
            <a:ext cx="4800600" cy="1200329"/>
          </a:xfrm>
          <a:prstGeom prst="rect">
            <a:avLst/>
          </a:prstGeom>
          <a:noFill/>
        </p:spPr>
        <p:txBody>
          <a:bodyPr wrap="square" rtlCol="0">
            <a:spAutoFit/>
          </a:bodyPr>
          <a:lstStyle/>
          <a:p>
            <a:r>
              <a:rPr lang="en-IN" sz="3600" dirty="0"/>
              <a:t>HUMAN EYE - STRUCTURE</a:t>
            </a:r>
          </a:p>
        </p:txBody>
      </p:sp>
      <p:sp>
        <p:nvSpPr>
          <p:cNvPr id="4" name="TextBox 3">
            <a:extLst>
              <a:ext uri="{FF2B5EF4-FFF2-40B4-BE49-F238E27FC236}">
                <a16:creationId xmlns:a16="http://schemas.microsoft.com/office/drawing/2014/main" id="{92D386C5-7A2C-DD99-7004-F650AB88A8F6}"/>
              </a:ext>
            </a:extLst>
          </p:cNvPr>
          <p:cNvSpPr txBox="1"/>
          <p:nvPr/>
        </p:nvSpPr>
        <p:spPr>
          <a:xfrm>
            <a:off x="2286000" y="2006574"/>
            <a:ext cx="9144000" cy="7294305"/>
          </a:xfrm>
          <a:prstGeom prst="rect">
            <a:avLst/>
          </a:prstGeom>
          <a:noFill/>
        </p:spPr>
        <p:txBody>
          <a:bodyPr wrap="square">
            <a:spAutoFit/>
          </a:bodyPr>
          <a:lstStyle/>
          <a:p>
            <a:pPr>
              <a:buNone/>
            </a:pPr>
            <a:r>
              <a:rPr lang="en-IN" sz="3600" b="1" dirty="0"/>
              <a:t>Parts and Functions:</a:t>
            </a:r>
          </a:p>
          <a:p>
            <a:pPr>
              <a:buFont typeface="Arial" panose="020B0604020202020204" pitchFamily="34" charset="0"/>
              <a:buChar char="•"/>
            </a:pPr>
            <a:r>
              <a:rPr lang="en-IN" sz="3600" b="1" dirty="0"/>
              <a:t>Cornea</a:t>
            </a:r>
            <a:r>
              <a:rPr lang="en-IN" sz="3600" dirty="0"/>
              <a:t>: Primary refraction (40D power)</a:t>
            </a:r>
          </a:p>
          <a:p>
            <a:pPr>
              <a:buFont typeface="Arial" panose="020B0604020202020204" pitchFamily="34" charset="0"/>
              <a:buChar char="•"/>
            </a:pPr>
            <a:r>
              <a:rPr lang="en-IN" sz="3600" b="1" dirty="0"/>
              <a:t>Iris</a:t>
            </a:r>
            <a:r>
              <a:rPr lang="en-IN" sz="3600" dirty="0"/>
              <a:t>: Controls pupil size</a:t>
            </a:r>
          </a:p>
          <a:p>
            <a:pPr>
              <a:buFont typeface="Arial" panose="020B0604020202020204" pitchFamily="34" charset="0"/>
              <a:buChar char="•"/>
            </a:pPr>
            <a:r>
              <a:rPr lang="en-IN" sz="3600" b="1" dirty="0"/>
              <a:t>Pupil</a:t>
            </a:r>
            <a:r>
              <a:rPr lang="en-IN" sz="3600" dirty="0"/>
              <a:t>: Aperture for light entry</a:t>
            </a:r>
          </a:p>
          <a:p>
            <a:pPr>
              <a:buFont typeface="Arial" panose="020B0604020202020204" pitchFamily="34" charset="0"/>
              <a:buChar char="•"/>
            </a:pPr>
            <a:r>
              <a:rPr lang="en-IN" sz="3600" b="1" dirty="0"/>
              <a:t>Lens</a:t>
            </a:r>
            <a:r>
              <a:rPr lang="en-IN" sz="3600" dirty="0"/>
              <a:t>: Fine focusing (15-20D variable power)</a:t>
            </a:r>
          </a:p>
          <a:p>
            <a:pPr>
              <a:buFont typeface="Arial" panose="020B0604020202020204" pitchFamily="34" charset="0"/>
              <a:buChar char="•"/>
            </a:pPr>
            <a:r>
              <a:rPr lang="en-IN" sz="3600" b="1" dirty="0"/>
              <a:t>Retina</a:t>
            </a:r>
            <a:r>
              <a:rPr lang="en-IN" sz="3600" dirty="0"/>
              <a:t>: Light-sensitive screen</a:t>
            </a:r>
          </a:p>
          <a:p>
            <a:pPr>
              <a:buFont typeface="Arial" panose="020B0604020202020204" pitchFamily="34" charset="0"/>
              <a:buChar char="•"/>
            </a:pPr>
            <a:r>
              <a:rPr lang="en-IN" sz="3600" b="1" dirty="0"/>
              <a:t>Optic nerve</a:t>
            </a:r>
            <a:r>
              <a:rPr lang="en-IN" sz="3600" dirty="0"/>
              <a:t>: Carries signals to brain</a:t>
            </a:r>
          </a:p>
          <a:p>
            <a:pPr>
              <a:buNone/>
            </a:pPr>
            <a:r>
              <a:rPr lang="en-IN" sz="3600" b="1" dirty="0"/>
              <a:t>Process of Vision:</a:t>
            </a:r>
          </a:p>
          <a:p>
            <a:pPr>
              <a:buFont typeface="+mj-lt"/>
              <a:buAutoNum type="arabicPeriod"/>
            </a:pPr>
            <a:r>
              <a:rPr lang="en-IN" sz="3600" dirty="0"/>
              <a:t>Light enters through cornea</a:t>
            </a:r>
          </a:p>
          <a:p>
            <a:pPr>
              <a:buFont typeface="+mj-lt"/>
              <a:buAutoNum type="arabicPeriod"/>
            </a:pPr>
            <a:r>
              <a:rPr lang="en-IN" sz="3600" dirty="0"/>
              <a:t>Iris adjusts pupil size</a:t>
            </a:r>
          </a:p>
          <a:p>
            <a:pPr>
              <a:buFont typeface="+mj-lt"/>
              <a:buAutoNum type="arabicPeriod"/>
            </a:pPr>
            <a:r>
              <a:rPr lang="en-IN" sz="3600" dirty="0"/>
              <a:t>Lens adjusts for focusing</a:t>
            </a:r>
          </a:p>
          <a:p>
            <a:pPr>
              <a:buFont typeface="+mj-lt"/>
              <a:buAutoNum type="arabicPeriod"/>
            </a:pPr>
            <a:r>
              <a:rPr lang="en-IN" sz="3600" dirty="0"/>
              <a:t>Image forms on retina</a:t>
            </a:r>
          </a:p>
          <a:p>
            <a:pPr>
              <a:buFont typeface="+mj-lt"/>
              <a:buAutoNum type="arabicPeriod"/>
            </a:pPr>
            <a:r>
              <a:rPr lang="en-IN" sz="3600" dirty="0"/>
              <a:t>Brain interprets signals</a:t>
            </a:r>
          </a:p>
        </p:txBody>
      </p:sp>
    </p:spTree>
    <p:extLst>
      <p:ext uri="{BB962C8B-B14F-4D97-AF65-F5344CB8AC3E}">
        <p14:creationId xmlns:p14="http://schemas.microsoft.com/office/powerpoint/2010/main" val="3497117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raw a labeled sketch of the human eye - Class 8 Light - Teachoo">
            <a:extLst>
              <a:ext uri="{FF2B5EF4-FFF2-40B4-BE49-F238E27FC236}">
                <a16:creationId xmlns:a16="http://schemas.microsoft.com/office/drawing/2014/main" id="{7DA5A85F-67D7-9550-EA66-3C141DD68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6950" y="381000"/>
            <a:ext cx="13754100" cy="952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512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99C49-B4E1-E4FE-8AB3-1C069152B6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1F6511-A78E-489E-867C-30DC68150592}"/>
              </a:ext>
            </a:extLst>
          </p:cNvPr>
          <p:cNvSpPr txBox="1"/>
          <p:nvPr/>
        </p:nvSpPr>
        <p:spPr>
          <a:xfrm>
            <a:off x="7543800" y="800100"/>
            <a:ext cx="4800600" cy="1200329"/>
          </a:xfrm>
          <a:prstGeom prst="rect">
            <a:avLst/>
          </a:prstGeom>
          <a:noFill/>
        </p:spPr>
        <p:txBody>
          <a:bodyPr wrap="square" rtlCol="0">
            <a:spAutoFit/>
          </a:bodyPr>
          <a:lstStyle/>
          <a:p>
            <a:r>
              <a:rPr lang="en-IN" sz="3600" dirty="0"/>
              <a:t>ACCOMMODATION &amp; VISION DEFECTS</a:t>
            </a:r>
          </a:p>
        </p:txBody>
      </p:sp>
      <p:sp>
        <p:nvSpPr>
          <p:cNvPr id="4" name="TextBox 3">
            <a:extLst>
              <a:ext uri="{FF2B5EF4-FFF2-40B4-BE49-F238E27FC236}">
                <a16:creationId xmlns:a16="http://schemas.microsoft.com/office/drawing/2014/main" id="{4127CFAF-ACB7-F8A0-BDD8-66815E15BABE}"/>
              </a:ext>
            </a:extLst>
          </p:cNvPr>
          <p:cNvSpPr txBox="1"/>
          <p:nvPr/>
        </p:nvSpPr>
        <p:spPr>
          <a:xfrm>
            <a:off x="4343400" y="3158341"/>
            <a:ext cx="9144000" cy="5262979"/>
          </a:xfrm>
          <a:prstGeom prst="rect">
            <a:avLst/>
          </a:prstGeom>
          <a:noFill/>
        </p:spPr>
        <p:txBody>
          <a:bodyPr wrap="square">
            <a:spAutoFit/>
          </a:bodyPr>
          <a:lstStyle/>
          <a:p>
            <a:pPr>
              <a:buNone/>
            </a:pPr>
            <a:r>
              <a:rPr lang="en-IN" sz="2400" b="1" dirty="0"/>
              <a:t>Accommodation:</a:t>
            </a:r>
          </a:p>
          <a:p>
            <a:pPr>
              <a:buNone/>
            </a:pPr>
            <a:r>
              <a:rPr lang="en-IN" sz="2400" dirty="0"/>
              <a:t>Ability to change focal length of eye lens</a:t>
            </a:r>
          </a:p>
          <a:p>
            <a:pPr>
              <a:buFont typeface="Arial" panose="020B0604020202020204" pitchFamily="34" charset="0"/>
              <a:buChar char="•"/>
            </a:pPr>
            <a:r>
              <a:rPr lang="en-IN" sz="2400" b="1" dirty="0"/>
              <a:t>Near point</a:t>
            </a:r>
            <a:r>
              <a:rPr lang="en-IN" sz="2400" dirty="0"/>
              <a:t>: 25 cm (normal eye)</a:t>
            </a:r>
          </a:p>
          <a:p>
            <a:pPr>
              <a:buFont typeface="Arial" panose="020B0604020202020204" pitchFamily="34" charset="0"/>
              <a:buChar char="•"/>
            </a:pPr>
            <a:r>
              <a:rPr lang="en-IN" sz="2400" b="1" dirty="0"/>
              <a:t>Far point</a:t>
            </a:r>
            <a:r>
              <a:rPr lang="en-IN" sz="2400" dirty="0"/>
              <a:t>: Infinity (normal eye)</a:t>
            </a:r>
          </a:p>
          <a:p>
            <a:pPr>
              <a:buNone/>
            </a:pPr>
            <a:r>
              <a:rPr lang="en-IN" sz="2400" b="1" dirty="0"/>
              <a:t>Vision Defects:</a:t>
            </a:r>
          </a:p>
          <a:p>
            <a:pPr>
              <a:buFont typeface="+mj-lt"/>
              <a:buAutoNum type="arabicPeriod"/>
            </a:pPr>
            <a:r>
              <a:rPr lang="en-IN" sz="2400" b="1" dirty="0"/>
              <a:t>Myopia</a:t>
            </a:r>
            <a:r>
              <a:rPr lang="en-IN" sz="2400" dirty="0"/>
              <a:t> (Short-sightedness) </a:t>
            </a:r>
          </a:p>
          <a:p>
            <a:pPr marL="742950" lvl="1" indent="-285750">
              <a:buFont typeface="+mj-lt"/>
              <a:buAutoNum type="arabicPeriod"/>
            </a:pPr>
            <a:r>
              <a:rPr lang="en-IN" sz="2400" dirty="0"/>
              <a:t>Can't see distant objects clearly</a:t>
            </a:r>
          </a:p>
          <a:p>
            <a:pPr marL="742950" lvl="1" indent="-285750">
              <a:buFont typeface="+mj-lt"/>
              <a:buAutoNum type="arabicPeriod"/>
            </a:pPr>
            <a:r>
              <a:rPr lang="en-IN" sz="2400" dirty="0"/>
              <a:t>Correction: Concave lens</a:t>
            </a:r>
          </a:p>
          <a:p>
            <a:pPr>
              <a:buFont typeface="+mj-lt"/>
              <a:buAutoNum type="arabicPeriod"/>
            </a:pPr>
            <a:r>
              <a:rPr lang="en-IN" sz="2400" b="1" dirty="0"/>
              <a:t>Hypermetropia</a:t>
            </a:r>
            <a:r>
              <a:rPr lang="en-IN" sz="2400" dirty="0"/>
              <a:t> (Long-sightedness) </a:t>
            </a:r>
          </a:p>
          <a:p>
            <a:pPr marL="742950" lvl="1" indent="-285750">
              <a:buFont typeface="+mj-lt"/>
              <a:buAutoNum type="arabicPeriod"/>
            </a:pPr>
            <a:r>
              <a:rPr lang="en-IN" sz="2400" dirty="0"/>
              <a:t>Can't see near objects clearly</a:t>
            </a:r>
          </a:p>
          <a:p>
            <a:pPr marL="742950" lvl="1" indent="-285750">
              <a:buFont typeface="+mj-lt"/>
              <a:buAutoNum type="arabicPeriod"/>
            </a:pPr>
            <a:r>
              <a:rPr lang="en-IN" sz="2400" dirty="0"/>
              <a:t>Correction: Convex lens</a:t>
            </a:r>
          </a:p>
          <a:p>
            <a:pPr>
              <a:buFont typeface="+mj-lt"/>
              <a:buAutoNum type="arabicPeriod"/>
            </a:pPr>
            <a:r>
              <a:rPr lang="en-IN" sz="2400" b="1" dirty="0"/>
              <a:t>Astigmatism</a:t>
            </a:r>
            <a:r>
              <a:rPr lang="en-IN" sz="2400" dirty="0"/>
              <a:t> </a:t>
            </a:r>
          </a:p>
          <a:p>
            <a:pPr marL="742950" lvl="1" indent="-285750">
              <a:buFont typeface="+mj-lt"/>
              <a:buAutoNum type="arabicPeriod"/>
            </a:pPr>
            <a:r>
              <a:rPr lang="en-IN" sz="2400" dirty="0"/>
              <a:t>Unequal curvature of cornea</a:t>
            </a:r>
          </a:p>
          <a:p>
            <a:pPr marL="742950" lvl="1" indent="-285750">
              <a:buFont typeface="+mj-lt"/>
              <a:buAutoNum type="arabicPeriod"/>
            </a:pPr>
            <a:r>
              <a:rPr lang="en-IN" sz="2400" dirty="0"/>
              <a:t>Correction: Cylindrical lens</a:t>
            </a:r>
          </a:p>
        </p:txBody>
      </p:sp>
    </p:spTree>
    <p:extLst>
      <p:ext uri="{BB962C8B-B14F-4D97-AF65-F5344CB8AC3E}">
        <p14:creationId xmlns:p14="http://schemas.microsoft.com/office/powerpoint/2010/main" val="1167972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a) What is myopia? State the two causes of myopia. With the help of l">
            <a:extLst>
              <a:ext uri="{FF2B5EF4-FFF2-40B4-BE49-F238E27FC236}">
                <a16:creationId xmlns:a16="http://schemas.microsoft.com/office/drawing/2014/main" id="{8B8613BF-AF65-7157-D4BD-1F92F9F99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390900"/>
            <a:ext cx="4714875" cy="519295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efects of Vision and their Correction">
            <a:extLst>
              <a:ext uri="{FF2B5EF4-FFF2-40B4-BE49-F238E27FC236}">
                <a16:creationId xmlns:a16="http://schemas.microsoft.com/office/drawing/2014/main" id="{655B9DD2-6599-6075-C0A8-DB76443EF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830" y="1333500"/>
            <a:ext cx="4957763" cy="4848562"/>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Astigmatism: Over 2,733 Royalty-Free ...">
            <a:extLst>
              <a:ext uri="{FF2B5EF4-FFF2-40B4-BE49-F238E27FC236}">
                <a16:creationId xmlns:a16="http://schemas.microsoft.com/office/drawing/2014/main" id="{16B4A302-75F4-9EF6-5775-50CE8FD7E6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9077" y="4686300"/>
            <a:ext cx="5591175" cy="4187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533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3BB41-61F7-6821-BB55-B0A483BDA4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4FB72C-8A02-1EDA-E4AD-E2D224EAEEC8}"/>
              </a:ext>
            </a:extLst>
          </p:cNvPr>
          <p:cNvSpPr txBox="1"/>
          <p:nvPr/>
        </p:nvSpPr>
        <p:spPr>
          <a:xfrm>
            <a:off x="7543800" y="800100"/>
            <a:ext cx="4800600" cy="1200329"/>
          </a:xfrm>
          <a:prstGeom prst="rect">
            <a:avLst/>
          </a:prstGeom>
          <a:noFill/>
        </p:spPr>
        <p:txBody>
          <a:bodyPr wrap="square" rtlCol="0">
            <a:spAutoFit/>
          </a:bodyPr>
          <a:lstStyle/>
          <a:p>
            <a:r>
              <a:rPr lang="en-IN" sz="3600" dirty="0"/>
              <a:t>ATMOSPHERIC PHENOMENA</a:t>
            </a:r>
          </a:p>
        </p:txBody>
      </p:sp>
      <p:sp>
        <p:nvSpPr>
          <p:cNvPr id="4" name="TextBox 3">
            <a:extLst>
              <a:ext uri="{FF2B5EF4-FFF2-40B4-BE49-F238E27FC236}">
                <a16:creationId xmlns:a16="http://schemas.microsoft.com/office/drawing/2014/main" id="{ABA89B6C-204B-E110-ADC6-74312A9E5A9B}"/>
              </a:ext>
            </a:extLst>
          </p:cNvPr>
          <p:cNvSpPr txBox="1"/>
          <p:nvPr/>
        </p:nvSpPr>
        <p:spPr>
          <a:xfrm>
            <a:off x="1828800" y="2095500"/>
            <a:ext cx="9144000" cy="7848302"/>
          </a:xfrm>
          <a:prstGeom prst="rect">
            <a:avLst/>
          </a:prstGeom>
          <a:noFill/>
        </p:spPr>
        <p:txBody>
          <a:bodyPr wrap="square">
            <a:spAutoFit/>
          </a:bodyPr>
          <a:lstStyle/>
          <a:p>
            <a:pPr>
              <a:buNone/>
            </a:pPr>
            <a:r>
              <a:rPr lang="en-US" sz="3600" b="1" dirty="0"/>
              <a:t>Scattering of Light:</a:t>
            </a:r>
          </a:p>
          <a:p>
            <a:pPr>
              <a:buFont typeface="Arial" panose="020B0604020202020204" pitchFamily="34" charset="0"/>
              <a:buChar char="•"/>
            </a:pPr>
            <a:r>
              <a:rPr lang="en-US" sz="3600" b="1" dirty="0"/>
              <a:t>Rayleigh Scattering</a:t>
            </a:r>
            <a:r>
              <a:rPr lang="en-US" sz="3600" dirty="0"/>
              <a:t>: λ⁻⁴ dependence</a:t>
            </a:r>
          </a:p>
          <a:p>
            <a:pPr>
              <a:buFont typeface="Arial" panose="020B0604020202020204" pitchFamily="34" charset="0"/>
              <a:buChar char="•"/>
            </a:pPr>
            <a:r>
              <a:rPr lang="en-US" sz="3600" dirty="0"/>
              <a:t>Blue light scattered more than red</a:t>
            </a:r>
          </a:p>
          <a:p>
            <a:pPr>
              <a:buFont typeface="Arial" panose="020B0604020202020204" pitchFamily="34" charset="0"/>
              <a:buChar char="•"/>
            </a:pPr>
            <a:r>
              <a:rPr lang="en-US" sz="3600" b="1" dirty="0"/>
              <a:t>Why sky is blue</a:t>
            </a:r>
            <a:r>
              <a:rPr lang="en-US" sz="3600" dirty="0"/>
              <a:t>: More blue light reaches our eyes</a:t>
            </a:r>
          </a:p>
          <a:p>
            <a:pPr>
              <a:buFont typeface="Arial" panose="020B0604020202020204" pitchFamily="34" charset="0"/>
              <a:buChar char="•"/>
            </a:pPr>
            <a:r>
              <a:rPr lang="en-US" sz="3600" b="1" dirty="0"/>
              <a:t>Why sunset is red</a:t>
            </a:r>
            <a:r>
              <a:rPr lang="en-US" sz="3600" dirty="0"/>
              <a:t>: Blue light scattered away, red reaches us</a:t>
            </a:r>
          </a:p>
          <a:p>
            <a:pPr>
              <a:buNone/>
            </a:pPr>
            <a:r>
              <a:rPr lang="en-US" sz="3600" b="1" dirty="0"/>
              <a:t>Other Phenomena:</a:t>
            </a:r>
          </a:p>
          <a:p>
            <a:pPr>
              <a:buFont typeface="+mj-lt"/>
              <a:buAutoNum type="arabicPeriod"/>
            </a:pPr>
            <a:r>
              <a:rPr lang="en-US" sz="3600" b="1" dirty="0"/>
              <a:t>Rainbow</a:t>
            </a:r>
            <a:r>
              <a:rPr lang="en-US" sz="3600" dirty="0"/>
              <a:t>: Dispersion + Total internal reflection in water droplets</a:t>
            </a:r>
          </a:p>
          <a:p>
            <a:pPr>
              <a:buFont typeface="+mj-lt"/>
              <a:buAutoNum type="arabicPeriod"/>
            </a:pPr>
            <a:r>
              <a:rPr lang="en-US" sz="3600" b="1" dirty="0"/>
              <a:t>Mirage</a:t>
            </a:r>
            <a:r>
              <a:rPr lang="en-US" sz="3600" dirty="0"/>
              <a:t>: Total internal reflection due to temperature gradients</a:t>
            </a:r>
          </a:p>
          <a:p>
            <a:pPr>
              <a:buFont typeface="+mj-lt"/>
              <a:buAutoNum type="arabicPeriod"/>
            </a:pPr>
            <a:r>
              <a:rPr lang="en-US" sz="3600" b="1" dirty="0"/>
              <a:t>Twinkling of stars</a:t>
            </a:r>
            <a:r>
              <a:rPr lang="en-US" sz="3600" dirty="0"/>
              <a:t>: Atmospheric refraction variations</a:t>
            </a:r>
          </a:p>
        </p:txBody>
      </p:sp>
    </p:spTree>
    <p:extLst>
      <p:ext uri="{BB962C8B-B14F-4D97-AF65-F5344CB8AC3E}">
        <p14:creationId xmlns:p14="http://schemas.microsoft.com/office/powerpoint/2010/main" val="371253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Scattering of Light | GeeksforGeeks">
            <a:extLst>
              <a:ext uri="{FF2B5EF4-FFF2-40B4-BE49-F238E27FC236}">
                <a16:creationId xmlns:a16="http://schemas.microsoft.com/office/drawing/2014/main" id="{4D18C3FA-2862-F033-78A4-B41EFDB8B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43100"/>
            <a:ext cx="5429250" cy="609510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ow Rainbows Form - Overview">
            <a:extLst>
              <a:ext uri="{FF2B5EF4-FFF2-40B4-BE49-F238E27FC236}">
                <a16:creationId xmlns:a16="http://schemas.microsoft.com/office/drawing/2014/main" id="{BEF20D40-DE0B-26DD-3D51-A000A3EFB5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2814187"/>
            <a:ext cx="4876800" cy="4352925"/>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What is a mirage? Give a reason for its ...">
            <a:extLst>
              <a:ext uri="{FF2B5EF4-FFF2-40B4-BE49-F238E27FC236}">
                <a16:creationId xmlns:a16="http://schemas.microsoft.com/office/drawing/2014/main" id="{486DE6B0-6A1F-6DF5-6224-B48BA2E332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68176" y="4076700"/>
            <a:ext cx="48006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441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6FE57-53BE-ACA4-C926-C579945982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C4B6E7-26F5-591B-1516-753ABC88C804}"/>
              </a:ext>
            </a:extLst>
          </p:cNvPr>
          <p:cNvSpPr txBox="1"/>
          <p:nvPr/>
        </p:nvSpPr>
        <p:spPr>
          <a:xfrm>
            <a:off x="7848600" y="723900"/>
            <a:ext cx="4800600" cy="646331"/>
          </a:xfrm>
          <a:prstGeom prst="rect">
            <a:avLst/>
          </a:prstGeom>
          <a:noFill/>
        </p:spPr>
        <p:txBody>
          <a:bodyPr wrap="square" rtlCol="0">
            <a:spAutoFit/>
          </a:bodyPr>
          <a:lstStyle/>
          <a:p>
            <a:r>
              <a:rPr lang="en-IN" sz="3600" dirty="0"/>
              <a:t>DISPERSION &amp; PRISMS</a:t>
            </a:r>
          </a:p>
        </p:txBody>
      </p:sp>
      <p:sp>
        <p:nvSpPr>
          <p:cNvPr id="4" name="TextBox 3">
            <a:extLst>
              <a:ext uri="{FF2B5EF4-FFF2-40B4-BE49-F238E27FC236}">
                <a16:creationId xmlns:a16="http://schemas.microsoft.com/office/drawing/2014/main" id="{540693E5-86CE-398E-2CE8-4BF026A1D334}"/>
              </a:ext>
            </a:extLst>
          </p:cNvPr>
          <p:cNvSpPr txBox="1"/>
          <p:nvPr/>
        </p:nvSpPr>
        <p:spPr>
          <a:xfrm>
            <a:off x="2362200" y="1082707"/>
            <a:ext cx="9144000" cy="8956298"/>
          </a:xfrm>
          <a:prstGeom prst="rect">
            <a:avLst/>
          </a:prstGeom>
          <a:noFill/>
        </p:spPr>
        <p:txBody>
          <a:bodyPr wrap="square">
            <a:spAutoFit/>
          </a:bodyPr>
          <a:lstStyle/>
          <a:p>
            <a:pPr>
              <a:buNone/>
            </a:pPr>
            <a:r>
              <a:rPr lang="en-IN" sz="3600" b="1" dirty="0"/>
              <a:t>Dispersion:</a:t>
            </a:r>
          </a:p>
          <a:p>
            <a:pPr>
              <a:buNone/>
            </a:pPr>
            <a:r>
              <a:rPr lang="en-IN" sz="3600" dirty="0"/>
              <a:t>Splitting of white light into constituent </a:t>
            </a:r>
            <a:r>
              <a:rPr lang="en-IN" sz="3600" dirty="0" err="1"/>
              <a:t>colors</a:t>
            </a:r>
            <a:endParaRPr lang="en-IN" sz="3600" dirty="0"/>
          </a:p>
          <a:p>
            <a:pPr>
              <a:buFont typeface="Arial" panose="020B0604020202020204" pitchFamily="34" charset="0"/>
              <a:buChar char="•"/>
            </a:pPr>
            <a:r>
              <a:rPr lang="en-IN" sz="3600" dirty="0"/>
              <a:t>Different </a:t>
            </a:r>
            <a:r>
              <a:rPr lang="en-IN" sz="3600" dirty="0" err="1"/>
              <a:t>colors</a:t>
            </a:r>
            <a:r>
              <a:rPr lang="en-IN" sz="3600" dirty="0"/>
              <a:t> have different refractive indices</a:t>
            </a:r>
          </a:p>
          <a:p>
            <a:pPr>
              <a:buFont typeface="Arial" panose="020B0604020202020204" pitchFamily="34" charset="0"/>
              <a:buChar char="•"/>
            </a:pPr>
            <a:r>
              <a:rPr lang="en-IN" sz="3600" dirty="0"/>
              <a:t>Red light deviates least, violet most</a:t>
            </a:r>
          </a:p>
          <a:p>
            <a:pPr>
              <a:buNone/>
            </a:pPr>
            <a:r>
              <a:rPr lang="en-IN" sz="3600" b="1" dirty="0"/>
              <a:t>Prism Formula:</a:t>
            </a:r>
          </a:p>
          <a:p>
            <a:pPr>
              <a:buNone/>
            </a:pPr>
            <a:r>
              <a:rPr lang="el-GR" sz="3600" b="1" dirty="0"/>
              <a:t>δ = </a:t>
            </a:r>
            <a:r>
              <a:rPr lang="en-IN" sz="3600" b="1" dirty="0"/>
              <a:t>A + </a:t>
            </a:r>
            <a:r>
              <a:rPr lang="en-IN" sz="3600" b="1" dirty="0" err="1"/>
              <a:t>i</a:t>
            </a:r>
            <a:r>
              <a:rPr lang="en-IN" sz="3600" b="1" dirty="0"/>
              <a:t> - r</a:t>
            </a:r>
            <a:r>
              <a:rPr lang="en-IN" sz="3600" dirty="0"/>
              <a:t> (for minimum deviation) </a:t>
            </a:r>
            <a:r>
              <a:rPr lang="en-IN" sz="3600" b="1" dirty="0"/>
              <a:t>n = sin[(A + </a:t>
            </a:r>
            <a:r>
              <a:rPr lang="el-GR" sz="3600" b="1" dirty="0"/>
              <a:t>δ</a:t>
            </a:r>
            <a:r>
              <a:rPr lang="en-IN" sz="3600" b="1" dirty="0"/>
              <a:t>m)/2]/sin(A/2)</a:t>
            </a:r>
            <a:endParaRPr lang="en-IN" sz="3600" dirty="0"/>
          </a:p>
          <a:p>
            <a:pPr>
              <a:buNone/>
            </a:pPr>
            <a:r>
              <a:rPr lang="en-IN" sz="3600" dirty="0"/>
              <a:t>Where:</a:t>
            </a:r>
          </a:p>
          <a:p>
            <a:pPr>
              <a:buFont typeface="Arial" panose="020B0604020202020204" pitchFamily="34" charset="0"/>
              <a:buChar char="•"/>
            </a:pPr>
            <a:r>
              <a:rPr lang="el-GR" sz="3600" dirty="0"/>
              <a:t>δ = </a:t>
            </a:r>
            <a:r>
              <a:rPr lang="en-IN" sz="3600" dirty="0"/>
              <a:t>angle of deviation</a:t>
            </a:r>
          </a:p>
          <a:p>
            <a:pPr>
              <a:buFont typeface="Arial" panose="020B0604020202020204" pitchFamily="34" charset="0"/>
              <a:buChar char="•"/>
            </a:pPr>
            <a:r>
              <a:rPr lang="en-IN" sz="3600" dirty="0"/>
              <a:t>A = angle of prism</a:t>
            </a:r>
          </a:p>
          <a:p>
            <a:pPr>
              <a:buFont typeface="Arial" panose="020B0604020202020204" pitchFamily="34" charset="0"/>
              <a:buChar char="•"/>
            </a:pPr>
            <a:r>
              <a:rPr lang="el-GR" sz="3600" dirty="0"/>
              <a:t>δ</a:t>
            </a:r>
            <a:r>
              <a:rPr lang="en-IN" sz="3600" dirty="0"/>
              <a:t>m = minimum deviation</a:t>
            </a:r>
          </a:p>
          <a:p>
            <a:pPr>
              <a:buNone/>
            </a:pPr>
            <a:r>
              <a:rPr lang="en-IN" sz="3600" b="1" dirty="0"/>
              <a:t>Applications:</a:t>
            </a:r>
          </a:p>
          <a:p>
            <a:pPr>
              <a:buFont typeface="Arial" panose="020B0604020202020204" pitchFamily="34" charset="0"/>
              <a:buChar char="•"/>
            </a:pPr>
            <a:r>
              <a:rPr lang="en-IN" sz="3600" dirty="0"/>
              <a:t>Spectrometers</a:t>
            </a:r>
          </a:p>
          <a:p>
            <a:pPr>
              <a:buFont typeface="Arial" panose="020B0604020202020204" pitchFamily="34" charset="0"/>
              <a:buChar char="•"/>
            </a:pPr>
            <a:r>
              <a:rPr lang="en-IN" sz="3600" dirty="0"/>
              <a:t>Optical instruments</a:t>
            </a:r>
          </a:p>
          <a:p>
            <a:pPr>
              <a:buFont typeface="Arial" panose="020B0604020202020204" pitchFamily="34" charset="0"/>
              <a:buChar char="•"/>
            </a:pPr>
            <a:r>
              <a:rPr lang="en-IN" sz="3600" dirty="0"/>
              <a:t>Study of atomic spectra</a:t>
            </a:r>
          </a:p>
        </p:txBody>
      </p:sp>
    </p:spTree>
    <p:extLst>
      <p:ext uri="{BB962C8B-B14F-4D97-AF65-F5344CB8AC3E}">
        <p14:creationId xmlns:p14="http://schemas.microsoft.com/office/powerpoint/2010/main" val="4393535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Dispersion of light through Prism ...">
            <a:extLst>
              <a:ext uri="{FF2B5EF4-FFF2-40B4-BE49-F238E27FC236}">
                <a16:creationId xmlns:a16="http://schemas.microsoft.com/office/drawing/2014/main" id="{7680B21D-DA60-4B35-EF36-1CADE83EC6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933700"/>
            <a:ext cx="7535852"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486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1516-1366-27B9-9A0B-288060D769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3FE48A-2DAE-8AFC-73BE-E160C1891538}"/>
              </a:ext>
            </a:extLst>
          </p:cNvPr>
          <p:cNvSpPr txBox="1"/>
          <p:nvPr/>
        </p:nvSpPr>
        <p:spPr>
          <a:xfrm>
            <a:off x="7848600" y="723900"/>
            <a:ext cx="4800600" cy="1200329"/>
          </a:xfrm>
          <a:prstGeom prst="rect">
            <a:avLst/>
          </a:prstGeom>
          <a:noFill/>
        </p:spPr>
        <p:txBody>
          <a:bodyPr wrap="square" rtlCol="0">
            <a:spAutoFit/>
          </a:bodyPr>
          <a:lstStyle/>
          <a:p>
            <a:r>
              <a:rPr lang="en-IN" sz="3600" dirty="0"/>
              <a:t>OPTICAL INSTRUMENTS - BASICS</a:t>
            </a:r>
          </a:p>
        </p:txBody>
      </p:sp>
      <p:sp>
        <p:nvSpPr>
          <p:cNvPr id="4" name="TextBox 3">
            <a:extLst>
              <a:ext uri="{FF2B5EF4-FFF2-40B4-BE49-F238E27FC236}">
                <a16:creationId xmlns:a16="http://schemas.microsoft.com/office/drawing/2014/main" id="{D9C65AE8-E0D2-19F9-5235-22A9200AEB9A}"/>
              </a:ext>
            </a:extLst>
          </p:cNvPr>
          <p:cNvSpPr txBox="1"/>
          <p:nvPr/>
        </p:nvSpPr>
        <p:spPr>
          <a:xfrm>
            <a:off x="2590800" y="2552700"/>
            <a:ext cx="9144000" cy="6186309"/>
          </a:xfrm>
          <a:prstGeom prst="rect">
            <a:avLst/>
          </a:prstGeom>
          <a:noFill/>
        </p:spPr>
        <p:txBody>
          <a:bodyPr wrap="square">
            <a:spAutoFit/>
          </a:bodyPr>
          <a:lstStyle/>
          <a:p>
            <a:pPr>
              <a:buNone/>
            </a:pPr>
            <a:r>
              <a:rPr lang="en-IN" sz="3600" b="1" dirty="0"/>
              <a:t>Simple Microscope (Magnifying Glass):</a:t>
            </a:r>
          </a:p>
          <a:p>
            <a:pPr>
              <a:buFont typeface="Arial" panose="020B0604020202020204" pitchFamily="34" charset="0"/>
              <a:buChar char="•"/>
            </a:pPr>
            <a:r>
              <a:rPr lang="en-IN" sz="3600" dirty="0"/>
              <a:t>Single convex lens</a:t>
            </a:r>
          </a:p>
          <a:p>
            <a:pPr>
              <a:buFont typeface="Arial" panose="020B0604020202020204" pitchFamily="34" charset="0"/>
              <a:buChar char="•"/>
            </a:pPr>
            <a:r>
              <a:rPr lang="en-IN" sz="3600" dirty="0"/>
              <a:t>Object placed between F and optical </a:t>
            </a:r>
            <a:r>
              <a:rPr lang="en-IN" sz="3600" dirty="0" err="1"/>
              <a:t>center</a:t>
            </a:r>
            <a:endParaRPr lang="en-IN" sz="3600" dirty="0"/>
          </a:p>
          <a:p>
            <a:pPr>
              <a:buFont typeface="Arial" panose="020B0604020202020204" pitchFamily="34" charset="0"/>
              <a:buChar char="•"/>
            </a:pPr>
            <a:r>
              <a:rPr lang="en-IN" sz="3600" b="1" dirty="0"/>
              <a:t>Magnification</a:t>
            </a:r>
            <a:r>
              <a:rPr lang="en-IN" sz="3600" dirty="0"/>
              <a:t>: m = D/f (D = 25 cm)</a:t>
            </a:r>
          </a:p>
          <a:p>
            <a:pPr>
              <a:buNone/>
            </a:pPr>
            <a:r>
              <a:rPr lang="en-IN" sz="3600" b="1" dirty="0"/>
              <a:t>Compound Microscope:</a:t>
            </a:r>
          </a:p>
          <a:p>
            <a:pPr>
              <a:buFont typeface="Arial" panose="020B0604020202020204" pitchFamily="34" charset="0"/>
              <a:buChar char="•"/>
            </a:pPr>
            <a:r>
              <a:rPr lang="en-IN" sz="3600" dirty="0"/>
              <a:t>Two convex lenses (objective + eyepiece)</a:t>
            </a:r>
          </a:p>
          <a:p>
            <a:pPr>
              <a:buFont typeface="Arial" panose="020B0604020202020204" pitchFamily="34" charset="0"/>
              <a:buChar char="•"/>
            </a:pPr>
            <a:r>
              <a:rPr lang="en-IN" sz="3600" b="1" dirty="0"/>
              <a:t>Total magnification</a:t>
            </a:r>
            <a:r>
              <a:rPr lang="en-IN" sz="3600" dirty="0"/>
              <a:t>: m = </a:t>
            </a:r>
            <a:r>
              <a:rPr lang="en-IN" sz="3600" dirty="0" err="1"/>
              <a:t>mo</a:t>
            </a:r>
            <a:r>
              <a:rPr lang="en-IN" sz="3600" dirty="0"/>
              <a:t> × me</a:t>
            </a:r>
          </a:p>
          <a:p>
            <a:pPr>
              <a:buFont typeface="Arial" panose="020B0604020202020204" pitchFamily="34" charset="0"/>
              <a:buChar char="•"/>
            </a:pPr>
            <a:r>
              <a:rPr lang="en-IN" sz="3600" dirty="0"/>
              <a:t>Used for observing small objects</a:t>
            </a:r>
          </a:p>
          <a:p>
            <a:pPr>
              <a:buNone/>
            </a:pPr>
            <a:r>
              <a:rPr lang="en-IN" sz="3600" b="1" dirty="0"/>
              <a:t>Telescope:</a:t>
            </a:r>
          </a:p>
          <a:p>
            <a:pPr>
              <a:buFont typeface="Arial" panose="020B0604020202020204" pitchFamily="34" charset="0"/>
              <a:buChar char="•"/>
            </a:pPr>
            <a:r>
              <a:rPr lang="en-IN" sz="3600" dirty="0"/>
              <a:t>For observing distant objects</a:t>
            </a:r>
          </a:p>
          <a:p>
            <a:pPr>
              <a:buFont typeface="Arial" panose="020B0604020202020204" pitchFamily="34" charset="0"/>
              <a:buChar char="•"/>
            </a:pPr>
            <a:r>
              <a:rPr lang="en-IN" sz="3600" b="1" dirty="0"/>
              <a:t>Magnifying power</a:t>
            </a:r>
            <a:r>
              <a:rPr lang="en-IN" sz="3600" dirty="0"/>
              <a:t>: </a:t>
            </a:r>
            <a:r>
              <a:rPr lang="en-IN" sz="3600" dirty="0" err="1"/>
              <a:t>fo</a:t>
            </a:r>
            <a:r>
              <a:rPr lang="en-IN" sz="3600" dirty="0"/>
              <a:t>/</a:t>
            </a:r>
            <a:r>
              <a:rPr lang="en-IN" sz="3600" dirty="0" err="1"/>
              <a:t>fe</a:t>
            </a:r>
            <a:endParaRPr lang="en-IN" sz="3600" dirty="0"/>
          </a:p>
        </p:txBody>
      </p:sp>
    </p:spTree>
    <p:extLst>
      <p:ext uri="{BB962C8B-B14F-4D97-AF65-F5344CB8AC3E}">
        <p14:creationId xmlns:p14="http://schemas.microsoft.com/office/powerpoint/2010/main" val="3630404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2E25A-6D47-D0BE-01AD-F112C7D067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2BD273-F098-5770-12B9-491BC9245B6A}"/>
              </a:ext>
            </a:extLst>
          </p:cNvPr>
          <p:cNvSpPr txBox="1"/>
          <p:nvPr/>
        </p:nvSpPr>
        <p:spPr>
          <a:xfrm>
            <a:off x="7848600" y="723900"/>
            <a:ext cx="4800600" cy="646331"/>
          </a:xfrm>
          <a:prstGeom prst="rect">
            <a:avLst/>
          </a:prstGeom>
          <a:noFill/>
        </p:spPr>
        <p:txBody>
          <a:bodyPr wrap="square" rtlCol="0">
            <a:spAutoFit/>
          </a:bodyPr>
          <a:lstStyle/>
          <a:p>
            <a:r>
              <a:rPr lang="en-IN" sz="3600" dirty="0"/>
              <a:t>Questions</a:t>
            </a:r>
          </a:p>
        </p:txBody>
      </p:sp>
      <p:sp>
        <p:nvSpPr>
          <p:cNvPr id="10" name="Rectangle 6">
            <a:extLst>
              <a:ext uri="{FF2B5EF4-FFF2-40B4-BE49-F238E27FC236}">
                <a16:creationId xmlns:a16="http://schemas.microsoft.com/office/drawing/2014/main" id="{0B851409-5C57-A964-188B-C9298258A87C}"/>
              </a:ext>
            </a:extLst>
          </p:cNvPr>
          <p:cNvSpPr>
            <a:spLocks noChangeArrowheads="1"/>
          </p:cNvSpPr>
          <p:nvPr/>
        </p:nvSpPr>
        <p:spPr bwMode="auto">
          <a:xfrm>
            <a:off x="990600" y="3256865"/>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MIRRORS - Basic Problems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Problem 1:</a:t>
            </a:r>
            <a:r>
              <a:rPr kumimoji="0" lang="en-US" altLang="en-US" sz="1800" b="0" i="0" u="none" strike="noStrike" cap="none" normalizeH="0" baseline="0" dirty="0">
                <a:ln>
                  <a:noFill/>
                </a:ln>
                <a:solidFill>
                  <a:schemeClr val="tx1"/>
                </a:solidFill>
                <a:effectLst/>
                <a:latin typeface="Arial" panose="020B0604020202020204" pitchFamily="34" charset="0"/>
              </a:rPr>
              <a:t> A concave mirror has a focal length of 15 cm. An object is placed 30 cm in front of the mirror. Find: a) Image distance b) Magnification c) Nature of the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2:</a:t>
            </a:r>
            <a:r>
              <a:rPr kumimoji="0" lang="en-US" altLang="en-US" sz="1800" b="0" i="0" u="none" strike="noStrike" cap="none" normalizeH="0" baseline="0" dirty="0">
                <a:ln>
                  <a:noFill/>
                </a:ln>
                <a:solidFill>
                  <a:schemeClr val="tx1"/>
                </a:solidFill>
                <a:effectLst/>
                <a:latin typeface="Arial" panose="020B0604020202020204" pitchFamily="34" charset="0"/>
              </a:rPr>
              <a:t> A convex mirror has a radius of curvature of 40 cm. Where should an object be placed to get an image that is 1/3 the size of the object?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3:</a:t>
            </a:r>
            <a:r>
              <a:rPr kumimoji="0" lang="en-US" altLang="en-US" sz="1800" b="0" i="0" u="none" strike="noStrike" cap="none" normalizeH="0" baseline="0" dirty="0">
                <a:ln>
                  <a:noFill/>
                </a:ln>
                <a:solidFill>
                  <a:schemeClr val="tx1"/>
                </a:solidFill>
                <a:effectLst/>
                <a:latin typeface="Arial" panose="020B0604020202020204" pitchFamily="34" charset="0"/>
              </a:rPr>
              <a:t> An object 5 cm tall is placed 20 cm from a concave mirror of focal length 12 cm. Find the height and nature of the image formed.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4:</a:t>
            </a:r>
            <a:r>
              <a:rPr kumimoji="0" lang="en-US" altLang="en-US" sz="1800" b="0" i="0" u="none" strike="noStrike" cap="none" normalizeH="0" baseline="0" dirty="0">
                <a:ln>
                  <a:noFill/>
                </a:ln>
                <a:solidFill>
                  <a:schemeClr val="tx1"/>
                </a:solidFill>
                <a:effectLst/>
                <a:latin typeface="Arial" panose="020B0604020202020204" pitchFamily="34" charset="0"/>
              </a:rPr>
              <a:t> A dentist uses a concave mirror with focal length 2 cm. If the tooth is 1.5 cm from the mirror, find the magnification and image distance.</a:t>
            </a:r>
          </a:p>
        </p:txBody>
      </p:sp>
      <p:sp>
        <p:nvSpPr>
          <p:cNvPr id="12" name="Rectangle 8">
            <a:extLst>
              <a:ext uri="{FF2B5EF4-FFF2-40B4-BE49-F238E27FC236}">
                <a16:creationId xmlns:a16="http://schemas.microsoft.com/office/drawing/2014/main" id="{DCB3F601-F702-E5A0-02DD-E4F70864F3F1}"/>
              </a:ext>
            </a:extLst>
          </p:cNvPr>
          <p:cNvSpPr>
            <a:spLocks noChangeArrowheads="1"/>
          </p:cNvSpPr>
          <p:nvPr/>
        </p:nvSpPr>
        <p:spPr bwMode="auto">
          <a:xfrm>
            <a:off x="990600" y="6552042"/>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LENSES - Basic Problems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Problem 5:</a:t>
            </a:r>
            <a:r>
              <a:rPr kumimoji="0" lang="en-US" altLang="en-US" sz="1800" b="0" i="0" u="none" strike="noStrike" cap="none" normalizeH="0" baseline="0" dirty="0">
                <a:ln>
                  <a:noFill/>
                </a:ln>
                <a:solidFill>
                  <a:schemeClr val="tx1"/>
                </a:solidFill>
                <a:effectLst/>
                <a:latin typeface="Arial" panose="020B0604020202020204" pitchFamily="34" charset="0"/>
              </a:rPr>
              <a:t> A convex lens has focal length 20 cm. An object is placed 30 cm from the lens. Calculate: a) Image distance b) Magnification c) Nature of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6:</a:t>
            </a:r>
            <a:r>
              <a:rPr kumimoji="0" lang="en-US" altLang="en-US" sz="1800" b="0" i="0" u="none" strike="noStrike" cap="none" normalizeH="0" baseline="0" dirty="0">
                <a:ln>
                  <a:noFill/>
                </a:ln>
                <a:solidFill>
                  <a:schemeClr val="tx1"/>
                </a:solidFill>
                <a:effectLst/>
                <a:latin typeface="Arial" panose="020B0604020202020204" pitchFamily="34" charset="0"/>
              </a:rPr>
              <a:t> A concave lens of focal length -15 cm forms an image 10 cm from the lens. Find the object distance and magnification.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7:</a:t>
            </a:r>
            <a:r>
              <a:rPr kumimoji="0" lang="en-US" altLang="en-US" sz="1800" b="0" i="0" u="none" strike="noStrike" cap="none" normalizeH="0" baseline="0" dirty="0">
                <a:ln>
                  <a:noFill/>
                </a:ln>
                <a:solidFill>
                  <a:schemeClr val="tx1"/>
                </a:solidFill>
                <a:effectLst/>
                <a:latin typeface="Arial" panose="020B0604020202020204" pitchFamily="34" charset="0"/>
              </a:rPr>
              <a:t> An object 4 cm high is placed 25 cm from a convex lens of focal length 15 cm. Determine the size and position of the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8:</a:t>
            </a:r>
            <a:r>
              <a:rPr kumimoji="0" lang="en-US" altLang="en-US" sz="1800" b="0" i="0" u="none" strike="noStrike" cap="none" normalizeH="0" baseline="0" dirty="0">
                <a:ln>
                  <a:noFill/>
                </a:ln>
                <a:solidFill>
                  <a:schemeClr val="tx1"/>
                </a:solidFill>
                <a:effectLst/>
                <a:latin typeface="Arial" panose="020B0604020202020204" pitchFamily="34" charset="0"/>
              </a:rPr>
              <a:t> Calculate the power of a lens that can produce a virtual image at 25 cm when the object is placed at 50 cm from the lens.</a:t>
            </a:r>
          </a:p>
        </p:txBody>
      </p:sp>
    </p:spTree>
    <p:extLst>
      <p:ext uri="{BB962C8B-B14F-4D97-AF65-F5344CB8AC3E}">
        <p14:creationId xmlns:p14="http://schemas.microsoft.com/office/powerpoint/2010/main" val="1790372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7A7F9C-27F1-B031-17D9-6B99C10BC380}"/>
              </a:ext>
            </a:extLst>
          </p:cNvPr>
          <p:cNvSpPr>
            <a:spLocks noChangeArrowheads="1"/>
          </p:cNvSpPr>
          <p:nvPr/>
        </p:nvSpPr>
        <p:spPr bwMode="auto">
          <a:xfrm>
            <a:off x="1978742" y="2353032"/>
            <a:ext cx="12573000"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MIRRORS - Intermediate Problems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Problem 9:</a:t>
            </a:r>
            <a:r>
              <a:rPr kumimoji="0" lang="en-US" altLang="en-US" sz="1800" b="0" i="0" u="none" strike="noStrike" cap="none" normalizeH="0" baseline="0" dirty="0">
                <a:ln>
                  <a:noFill/>
                </a:ln>
                <a:solidFill>
                  <a:schemeClr val="tx1"/>
                </a:solidFill>
                <a:effectLst/>
                <a:latin typeface="Arial" panose="020B0604020202020204" pitchFamily="34" charset="0"/>
              </a:rPr>
              <a:t> A concave mirror produces a real image 3 times larger than the object. If the object is 16 cm from the mirror, find: a) Focal length of mirror b) Image distance c) Radius of curvature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10:</a:t>
            </a:r>
            <a:r>
              <a:rPr kumimoji="0" lang="en-US" altLang="en-US" sz="1800" b="0" i="0" u="none" strike="noStrike" cap="none" normalizeH="0" baseline="0" dirty="0">
                <a:ln>
                  <a:noFill/>
                </a:ln>
                <a:solidFill>
                  <a:schemeClr val="tx1"/>
                </a:solidFill>
                <a:effectLst/>
                <a:latin typeface="Arial" panose="020B0604020202020204" pitchFamily="34" charset="0"/>
              </a:rPr>
              <a:t> An object is placed between the pole and focus of a concave mirror of focal length 10 cm. If the virtual image formed is twice the height of the object, find the object distance.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11:</a:t>
            </a:r>
            <a:r>
              <a:rPr kumimoji="0" lang="en-US" altLang="en-US" sz="1800" b="0" i="0" u="none" strike="noStrike" cap="none" normalizeH="0" baseline="0" dirty="0">
                <a:ln>
                  <a:noFill/>
                </a:ln>
                <a:solidFill>
                  <a:schemeClr val="tx1"/>
                </a:solidFill>
                <a:effectLst/>
                <a:latin typeface="Arial" panose="020B0604020202020204" pitchFamily="34" charset="0"/>
              </a:rPr>
              <a:t> A spherical mirror forms an erect image twice the size of the object. If the object is 20 cm from the mirror, find: a) Type of mirror b) Focal length c) Image distance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12:</a:t>
            </a:r>
            <a:r>
              <a:rPr kumimoji="0" lang="en-US" altLang="en-US" sz="1800" b="0" i="0" u="none" strike="noStrike" cap="none" normalizeH="0" baseline="0" dirty="0">
                <a:ln>
                  <a:noFill/>
                </a:ln>
                <a:solidFill>
                  <a:schemeClr val="tx1"/>
                </a:solidFill>
                <a:effectLst/>
                <a:latin typeface="Arial" panose="020B0604020202020204" pitchFamily="34" charset="0"/>
              </a:rPr>
              <a:t> Two plane mirrors are inclined at 60° to each other. A point object is placed between them. Find the number of images formed and draw the ray diagram.</a:t>
            </a:r>
          </a:p>
        </p:txBody>
      </p:sp>
      <p:sp>
        <p:nvSpPr>
          <p:cNvPr id="4" name="Rectangle 3">
            <a:extLst>
              <a:ext uri="{FF2B5EF4-FFF2-40B4-BE49-F238E27FC236}">
                <a16:creationId xmlns:a16="http://schemas.microsoft.com/office/drawing/2014/main" id="{36CBEE99-D86F-B25B-1AB5-0E314141EFA4}"/>
              </a:ext>
            </a:extLst>
          </p:cNvPr>
          <p:cNvSpPr>
            <a:spLocks noChangeArrowheads="1"/>
          </p:cNvSpPr>
          <p:nvPr/>
        </p:nvSpPr>
        <p:spPr bwMode="auto">
          <a:xfrm>
            <a:off x="1981200" y="6591300"/>
            <a:ext cx="14325600"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LENSES - Intermediate Problems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Problem 13:</a:t>
            </a:r>
            <a:r>
              <a:rPr kumimoji="0" lang="en-US" altLang="en-US" sz="1800" b="0" i="0" u="none" strike="noStrike" cap="none" normalizeH="0" baseline="0" dirty="0">
                <a:ln>
                  <a:noFill/>
                </a:ln>
                <a:solidFill>
                  <a:schemeClr val="tx1"/>
                </a:solidFill>
                <a:effectLst/>
                <a:latin typeface="Arial" panose="020B0604020202020204" pitchFamily="34" charset="0"/>
              </a:rPr>
              <a:t> A convex lens forms a real image 4 times larger than the object when the object is 15 cm from the lens. Find: a) Focal length of lens b) Image distance c) Power of lens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14:</a:t>
            </a:r>
            <a:r>
              <a:rPr kumimoji="0" lang="en-US" altLang="en-US" sz="1800" b="0" i="0" u="none" strike="noStrike" cap="none" normalizeH="0" baseline="0" dirty="0">
                <a:ln>
                  <a:noFill/>
                </a:ln>
                <a:solidFill>
                  <a:schemeClr val="tx1"/>
                </a:solidFill>
                <a:effectLst/>
                <a:latin typeface="Arial" panose="020B0604020202020204" pitchFamily="34" charset="0"/>
              </a:rPr>
              <a:t> An object placed 40 cm from a lens forms a virtual image at 120 cm from the lens on the same side. Determine: a) Type of lens b) Focal length c) Magnification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15:</a:t>
            </a:r>
            <a:r>
              <a:rPr kumimoji="0" lang="en-US" altLang="en-US" sz="1800" b="0" i="0" u="none" strike="noStrike" cap="none" normalizeH="0" baseline="0" dirty="0">
                <a:ln>
                  <a:noFill/>
                </a:ln>
                <a:solidFill>
                  <a:schemeClr val="tx1"/>
                </a:solidFill>
                <a:effectLst/>
                <a:latin typeface="Arial" panose="020B0604020202020204" pitchFamily="34" charset="0"/>
              </a:rPr>
              <a:t> A lens of power +2.5 D forms a virtual image at 30 cm from the lens. Calculate: a) Focal length b) Object distance c) Magnification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16:</a:t>
            </a:r>
            <a:r>
              <a:rPr kumimoji="0" lang="en-US" altLang="en-US" sz="1800" b="0" i="0" u="none" strike="noStrike" cap="none" normalizeH="0" baseline="0" dirty="0">
                <a:ln>
                  <a:noFill/>
                </a:ln>
                <a:solidFill>
                  <a:schemeClr val="tx1"/>
                </a:solidFill>
                <a:effectLst/>
                <a:latin typeface="Arial" panose="020B0604020202020204" pitchFamily="34" charset="0"/>
              </a:rPr>
              <a:t> A concave lens of focal length 20 cm is placed 10 cm behind a convex lens of focal length 15 cm. An object is placed 30 cm in front of the convex lens. Find the final image position and magnification.</a:t>
            </a:r>
          </a:p>
        </p:txBody>
      </p:sp>
    </p:spTree>
    <p:extLst>
      <p:ext uri="{BB962C8B-B14F-4D97-AF65-F5344CB8AC3E}">
        <p14:creationId xmlns:p14="http://schemas.microsoft.com/office/powerpoint/2010/main" val="2035005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D52AAF-B986-020B-5260-8F316CA1146B}"/>
              </a:ext>
            </a:extLst>
          </p:cNvPr>
          <p:cNvSpPr>
            <a:spLocks noChangeArrowheads="1"/>
          </p:cNvSpPr>
          <p:nvPr/>
        </p:nvSpPr>
        <p:spPr bwMode="auto">
          <a:xfrm>
            <a:off x="609600" y="1299175"/>
            <a:ext cx="9525000"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COMPLEX MIRROR PROBLEMS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Problem 17:</a:t>
            </a:r>
            <a:r>
              <a:rPr kumimoji="0" lang="en-US" altLang="en-US" sz="1800" b="0" i="0" u="none" strike="noStrike" cap="none" normalizeH="0" baseline="0" dirty="0">
                <a:ln>
                  <a:noFill/>
                </a:ln>
                <a:solidFill>
                  <a:schemeClr val="tx1"/>
                </a:solidFill>
                <a:effectLst/>
                <a:latin typeface="Arial" panose="020B0604020202020204" pitchFamily="34" charset="0"/>
              </a:rPr>
              <a:t> A concave mirror and a convex lens are placed 50 cm apart. The mirror has focal length 15 cm and lens has focal length 10 cm. An object is placed 20 cm in front of the lens (away from mirror). Find the position and nature of the final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18:</a:t>
            </a:r>
            <a:r>
              <a:rPr kumimoji="0" lang="en-US" altLang="en-US" sz="1800" b="0" i="0" u="none" strike="noStrike" cap="none" normalizeH="0" baseline="0" dirty="0">
                <a:ln>
                  <a:noFill/>
                </a:ln>
                <a:solidFill>
                  <a:schemeClr val="tx1"/>
                </a:solidFill>
                <a:effectLst/>
                <a:latin typeface="Arial" panose="020B0604020202020204" pitchFamily="34" charset="0"/>
              </a:rPr>
              <a:t> A ray of light incident on a concave mirror at an angle of 30° with the principal axis passes through the focus after reflection. If the distance between the pole and point of incidence is 15 cm, find the focal length of the mirror.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19:</a:t>
            </a:r>
            <a:r>
              <a:rPr kumimoji="0" lang="en-US" altLang="en-US" sz="1800" b="0" i="0" u="none" strike="noStrike" cap="none" normalizeH="0" baseline="0" dirty="0">
                <a:ln>
                  <a:noFill/>
                </a:ln>
                <a:solidFill>
                  <a:schemeClr val="tx1"/>
                </a:solidFill>
                <a:effectLst/>
                <a:latin typeface="Arial" panose="020B0604020202020204" pitchFamily="34" charset="0"/>
              </a:rPr>
              <a:t> A concave mirror of radius 30 cm has an object placed at distance x from the pole. The image formed is real and 4 times smaller than the object. Find x and the image distance.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20:</a:t>
            </a:r>
            <a:r>
              <a:rPr kumimoji="0" lang="en-US" altLang="en-US" sz="1800" b="0" i="0" u="none" strike="noStrike" cap="none" normalizeH="0" baseline="0" dirty="0">
                <a:ln>
                  <a:noFill/>
                </a:ln>
                <a:solidFill>
                  <a:schemeClr val="tx1"/>
                </a:solidFill>
                <a:effectLst/>
                <a:latin typeface="Arial" panose="020B0604020202020204" pitchFamily="34" charset="0"/>
              </a:rPr>
              <a:t> A person standing 1.5 m in front of a plane mirror walks 0.5 m toward the mirror. How far is the person from his image after walking?</a:t>
            </a:r>
          </a:p>
        </p:txBody>
      </p:sp>
      <p:sp>
        <p:nvSpPr>
          <p:cNvPr id="4" name="Rectangle 3">
            <a:extLst>
              <a:ext uri="{FF2B5EF4-FFF2-40B4-BE49-F238E27FC236}">
                <a16:creationId xmlns:a16="http://schemas.microsoft.com/office/drawing/2014/main" id="{C6BC0CB8-646A-653A-5069-3636A0A08092}"/>
              </a:ext>
            </a:extLst>
          </p:cNvPr>
          <p:cNvSpPr>
            <a:spLocks noChangeArrowheads="1"/>
          </p:cNvSpPr>
          <p:nvPr/>
        </p:nvSpPr>
        <p:spPr bwMode="auto">
          <a:xfrm>
            <a:off x="609600" y="6467495"/>
            <a:ext cx="11125200"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COMPLEX LENS PROBLEMS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Problem 21:</a:t>
            </a:r>
            <a:r>
              <a:rPr kumimoji="0" lang="en-US" altLang="en-US" sz="1800" b="0" i="0" u="none" strike="noStrike" cap="none" normalizeH="0" baseline="0" dirty="0">
                <a:ln>
                  <a:noFill/>
                </a:ln>
                <a:solidFill>
                  <a:schemeClr val="tx1"/>
                </a:solidFill>
                <a:effectLst/>
                <a:latin typeface="Arial" panose="020B0604020202020204" pitchFamily="34" charset="0"/>
              </a:rPr>
              <a:t> Two thin lenses of focal lengths +10 cm and -5 cm are placed in contact. An object is placed 15 cm from this combination. Find: a) Equivalent focal length b) Image distance c) Overall magnification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22:</a:t>
            </a:r>
            <a:r>
              <a:rPr kumimoji="0" lang="en-US" altLang="en-US" sz="1800" b="0" i="0" u="none" strike="noStrike" cap="none" normalizeH="0" baseline="0" dirty="0">
                <a:ln>
                  <a:noFill/>
                </a:ln>
                <a:solidFill>
                  <a:schemeClr val="tx1"/>
                </a:solidFill>
                <a:effectLst/>
                <a:latin typeface="Arial" panose="020B0604020202020204" pitchFamily="34" charset="0"/>
              </a:rPr>
              <a:t> A convex lens of focal length 20 cm is cut into two equal halves along its principal axis. The two halves are separated by 2 cm. An object is placed 30 cm from the first half. Find where the final image is formed.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23:</a:t>
            </a:r>
            <a:r>
              <a:rPr kumimoji="0" lang="en-US" altLang="en-US" sz="1800" b="0" i="0" u="none" strike="noStrike" cap="none" normalizeH="0" baseline="0" dirty="0">
                <a:ln>
                  <a:noFill/>
                </a:ln>
                <a:solidFill>
                  <a:schemeClr val="tx1"/>
                </a:solidFill>
                <a:effectLst/>
                <a:latin typeface="Arial" panose="020B0604020202020204" pitchFamily="34" charset="0"/>
              </a:rPr>
              <a:t> A glass lens (n = 1.5) has focal length 20 cm in air. What will be its focal length when immersed in water (n = 1.33)?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Problem 24:</a:t>
            </a:r>
            <a:r>
              <a:rPr kumimoji="0" lang="en-US" altLang="en-US" sz="1800" b="0" i="0" u="none" strike="noStrike" cap="none" normalizeH="0" baseline="0" dirty="0">
                <a:ln>
                  <a:noFill/>
                </a:ln>
                <a:solidFill>
                  <a:schemeClr val="tx1"/>
                </a:solidFill>
                <a:effectLst/>
                <a:latin typeface="Arial" panose="020B0604020202020204" pitchFamily="34" charset="0"/>
              </a:rPr>
              <a:t> A double convex lens has radii of curvature 15 cm and 25 cm. If made of glass with refractive index 1.6, find its focal length and power.</a:t>
            </a:r>
          </a:p>
        </p:txBody>
      </p:sp>
    </p:spTree>
    <p:extLst>
      <p:ext uri="{BB962C8B-B14F-4D97-AF65-F5344CB8AC3E}">
        <p14:creationId xmlns:p14="http://schemas.microsoft.com/office/powerpoint/2010/main" val="1284374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F80711-3A66-9CD0-AF96-7E8BA2354369}"/>
              </a:ext>
            </a:extLst>
          </p:cNvPr>
          <p:cNvSpPr txBox="1"/>
          <p:nvPr/>
        </p:nvSpPr>
        <p:spPr>
          <a:xfrm>
            <a:off x="3581400" y="2095500"/>
            <a:ext cx="10668000" cy="4524315"/>
          </a:xfrm>
          <a:prstGeom prst="rect">
            <a:avLst/>
          </a:prstGeom>
          <a:noFill/>
        </p:spPr>
        <p:txBody>
          <a:bodyPr wrap="square">
            <a:spAutoFit/>
          </a:bodyPr>
          <a:lstStyle/>
          <a:p>
            <a:pPr>
              <a:buNone/>
            </a:pPr>
            <a:r>
              <a:rPr lang="en-US" b="1" dirty="0"/>
              <a:t>CHALLENGING PROBLEMS</a:t>
            </a:r>
          </a:p>
          <a:p>
            <a:pPr>
              <a:buNone/>
            </a:pPr>
            <a:r>
              <a:rPr lang="en-US" b="1" dirty="0"/>
              <a:t>Problem 25:</a:t>
            </a:r>
            <a:r>
              <a:rPr lang="en-US" dirty="0"/>
              <a:t> A luminous object is placed 20 cm from a converging lens of focal length 15 cm. A plane mirror is placed 25 cm behind the lens. Find all image positions and their magnifications.</a:t>
            </a:r>
          </a:p>
          <a:p>
            <a:pPr>
              <a:buNone/>
            </a:pPr>
            <a:r>
              <a:rPr lang="en-US" b="1" dirty="0"/>
              <a:t>Problem 26:</a:t>
            </a:r>
            <a:r>
              <a:rPr lang="en-US" dirty="0"/>
              <a:t> An equiconvex lens of focal length f is cut along a plane perpendicular to the principal axis into two identical parts. What is the focal length of each part?</a:t>
            </a:r>
          </a:p>
          <a:p>
            <a:pPr>
              <a:buNone/>
            </a:pPr>
            <a:r>
              <a:rPr lang="en-US" b="1" dirty="0"/>
              <a:t>Problem 27:</a:t>
            </a:r>
            <a:r>
              <a:rPr lang="en-US" dirty="0"/>
              <a:t> A concave mirror of focal length 10 cm is placed horizontally at the bottom of a beaker. Water is poured into the beaker to a height of 5 cm above the mirror. If refractive index of water is 4/3, find the equivalent focal length of the system.</a:t>
            </a:r>
          </a:p>
          <a:p>
            <a:pPr>
              <a:buNone/>
            </a:pPr>
            <a:r>
              <a:rPr lang="en-US" b="1" dirty="0"/>
              <a:t>Problem 28:</a:t>
            </a:r>
            <a:r>
              <a:rPr lang="en-US" dirty="0"/>
              <a:t> A ray of light passes through a glass prism (A = 60°, n = 1.5) and then reflects from a concave mirror of focal length 30 cm placed 40 cm away. If the ray retraces its path, find the angle of incidence on the prism.</a:t>
            </a:r>
          </a:p>
          <a:p>
            <a:pPr>
              <a:buNone/>
            </a:pPr>
            <a:r>
              <a:rPr lang="en-US" b="1" dirty="0"/>
              <a:t>Problem 29:</a:t>
            </a:r>
            <a:r>
              <a:rPr lang="en-US" dirty="0"/>
              <a:t> A person with normal near point (25 cm) uses a magnifying glass of power 10 D. Calculate: a) Maximum magnification b) Distance of object for maximum magnification c) Magnification when image is formed at infinity</a:t>
            </a:r>
          </a:p>
          <a:p>
            <a:r>
              <a:rPr lang="en-US" b="1" dirty="0"/>
              <a:t>Problem 30:</a:t>
            </a:r>
            <a:r>
              <a:rPr lang="en-US" dirty="0"/>
              <a:t> Two identical convex lenses each of focal length 10 cm are placed 30 cm apart. An object is placed 15 cm in front of the first lens. Find: a) Position of image formed by first lens b) Position of final image c) Overall magnification d) Nature of final image</a:t>
            </a:r>
          </a:p>
        </p:txBody>
      </p:sp>
    </p:spTree>
    <p:extLst>
      <p:ext uri="{BB962C8B-B14F-4D97-AF65-F5344CB8AC3E}">
        <p14:creationId xmlns:p14="http://schemas.microsoft.com/office/powerpoint/2010/main" val="1748992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9EE"/>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2523</Words>
  <Application>Microsoft Office PowerPoint</Application>
  <PresentationFormat>Custom</PresentationFormat>
  <Paragraphs>260</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KIT Format</dc:title>
  <dc:creator>Sanskriti Jain</dc:creator>
  <cp:lastModifiedBy>Sanskriti Jain</cp:lastModifiedBy>
  <cp:revision>7</cp:revision>
  <dcterms:created xsi:type="dcterms:W3CDTF">2006-08-16T00:00:00Z</dcterms:created>
  <dcterms:modified xsi:type="dcterms:W3CDTF">2025-05-28T02:51:59Z</dcterms:modified>
  <dc:identifier>DAGm2atu-Zk</dc:identifier>
</cp:coreProperties>
</file>