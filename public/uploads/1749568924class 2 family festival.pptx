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Arial Bold" panose="020B0704020202020204" pitchFamily="34" charset="0"/>
      <p:regular r:id="rId16"/>
      <p:bold r:id="rId17"/>
    </p:embeddedFont>
    <p:embeddedFont>
      <p:font typeface="Arial Bold Italics" panose="020B0604020202020204" charset="0"/>
      <p:regular r:id="rId18"/>
    </p:embeddedFont>
    <p:embeddedFont>
      <p:font typeface="Calibri (MS)" panose="020B0604020202020204" charset="0"/>
      <p:regular r:id="rId19"/>
    </p:embeddedFont>
    <p:embeddedFont>
      <p:font typeface="Calibri (MS) Bold" panose="020B0604020202020204" charset="0"/>
      <p:regular r:id="rId20"/>
    </p:embeddedFont>
    <p:embeddedFont>
      <p:font typeface="Calibri (MS) Italics" panose="020B0604020202020204" charset="0"/>
      <p:regular r:id="rId21"/>
    </p:embeddedFont>
    <p:embeddedFont>
      <p:font typeface="IBM Plex Sans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26.jpe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" y="190433"/>
            <a:ext cx="2181225" cy="712537"/>
          </a:xfrm>
          <a:custGeom>
            <a:avLst/>
            <a:gdLst/>
            <a:ahLst/>
            <a:cxnLst/>
            <a:rect l="l" t="t" r="r" b="b"/>
            <a:pathLst>
              <a:path w="2181225" h="712537">
                <a:moveTo>
                  <a:pt x="0" y="0"/>
                </a:moveTo>
                <a:lnTo>
                  <a:pt x="2181225" y="0"/>
                </a:lnTo>
                <a:lnTo>
                  <a:pt x="2181225" y="712537"/>
                </a:lnTo>
                <a:lnTo>
                  <a:pt x="0" y="7125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206995" y="6541265"/>
            <a:ext cx="6492240" cy="38100"/>
          </a:xfrm>
          <a:custGeom>
            <a:avLst/>
            <a:gdLst/>
            <a:ahLst/>
            <a:cxnLst/>
            <a:rect l="l" t="t" r="r" b="b"/>
            <a:pathLst>
              <a:path w="6492240" h="38100">
                <a:moveTo>
                  <a:pt x="0" y="0"/>
                </a:moveTo>
                <a:lnTo>
                  <a:pt x="6492240" y="0"/>
                </a:lnTo>
                <a:lnTo>
                  <a:pt x="649224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10" r="-5319" b="-19070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3380" b="-3423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902576" y="1564005"/>
            <a:ext cx="7101202" cy="2316737"/>
          </a:xfrm>
          <a:custGeom>
            <a:avLst/>
            <a:gdLst/>
            <a:ahLst/>
            <a:cxnLst/>
            <a:rect l="l" t="t" r="r" b="b"/>
            <a:pathLst>
              <a:path w="7101202" h="2316737">
                <a:moveTo>
                  <a:pt x="0" y="0"/>
                </a:moveTo>
                <a:lnTo>
                  <a:pt x="7101202" y="0"/>
                </a:lnTo>
                <a:lnTo>
                  <a:pt x="7101202" y="2316737"/>
                </a:lnTo>
                <a:lnTo>
                  <a:pt x="0" y="23167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8782679"/>
            <a:ext cx="18288000" cy="1392050"/>
          </a:xfrm>
          <a:custGeom>
            <a:avLst/>
            <a:gdLst/>
            <a:ahLst/>
            <a:cxnLst/>
            <a:rect l="l" t="t" r="r" b="b"/>
            <a:pathLst>
              <a:path w="18288000" h="1392050">
                <a:moveTo>
                  <a:pt x="0" y="0"/>
                </a:moveTo>
                <a:lnTo>
                  <a:pt x="18288000" y="0"/>
                </a:lnTo>
                <a:lnTo>
                  <a:pt x="18288000" y="1392050"/>
                </a:lnTo>
                <a:lnTo>
                  <a:pt x="0" y="13920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389238" y="4176379"/>
            <a:ext cx="4809754" cy="1173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04"/>
              </a:lnSpc>
            </a:pPr>
            <a:r>
              <a:rPr lang="en-US" sz="6659" b="1" spc="5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Family and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20530" y="5357860"/>
            <a:ext cx="3727885" cy="2139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04"/>
              </a:lnSpc>
            </a:pPr>
            <a:r>
              <a:rPr lang="en-US" sz="6659" b="1" spc="5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Festivals</a:t>
            </a:r>
          </a:p>
          <a:p>
            <a:pPr algn="ctr">
              <a:lnSpc>
                <a:spcPts val="5043"/>
              </a:lnSpc>
            </a:pPr>
            <a:r>
              <a:rPr lang="en-US" sz="3602" b="1" spc="32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By Sanskriti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56960" y="8971721"/>
            <a:ext cx="6941163" cy="77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98"/>
              </a:lnSpc>
            </a:pPr>
            <a:r>
              <a:rPr lang="en-US" sz="4356" b="1" spc="39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www.vaagaacademy.com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" y="190433"/>
            <a:ext cx="2181225" cy="712537"/>
          </a:xfrm>
          <a:custGeom>
            <a:avLst/>
            <a:gdLst/>
            <a:ahLst/>
            <a:cxnLst/>
            <a:rect l="l" t="t" r="r" b="b"/>
            <a:pathLst>
              <a:path w="2181225" h="712537">
                <a:moveTo>
                  <a:pt x="0" y="0"/>
                </a:moveTo>
                <a:lnTo>
                  <a:pt x="2181225" y="0"/>
                </a:lnTo>
                <a:lnTo>
                  <a:pt x="2181225" y="712537"/>
                </a:lnTo>
                <a:lnTo>
                  <a:pt x="0" y="7125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80160" y="5762244"/>
            <a:ext cx="784098" cy="640842"/>
          </a:xfrm>
          <a:custGeom>
            <a:avLst/>
            <a:gdLst/>
            <a:ahLst/>
            <a:cxnLst/>
            <a:rect l="l" t="t" r="r" b="b"/>
            <a:pathLst>
              <a:path w="784098" h="640842">
                <a:moveTo>
                  <a:pt x="0" y="0"/>
                </a:moveTo>
                <a:lnTo>
                  <a:pt x="784098" y="0"/>
                </a:lnTo>
                <a:lnTo>
                  <a:pt x="784098" y="640842"/>
                </a:lnTo>
                <a:lnTo>
                  <a:pt x="0" y="6408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991600" y="5143500"/>
            <a:ext cx="7586472" cy="2923032"/>
          </a:xfrm>
          <a:custGeom>
            <a:avLst/>
            <a:gdLst/>
            <a:ahLst/>
            <a:cxnLst/>
            <a:rect l="l" t="t" r="r" b="b"/>
            <a:pathLst>
              <a:path w="7586472" h="2923032">
                <a:moveTo>
                  <a:pt x="0" y="0"/>
                </a:moveTo>
                <a:lnTo>
                  <a:pt x="7586472" y="0"/>
                </a:lnTo>
                <a:lnTo>
                  <a:pt x="7586472" y="2923032"/>
                </a:lnTo>
                <a:lnTo>
                  <a:pt x="0" y="29230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63040" y="3983107"/>
            <a:ext cx="7853286" cy="1899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</a:pPr>
            <a:r>
              <a:rPr lang="en-US" sz="24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</a:t>
            </a:r>
            <a:r>
              <a:rPr lang="en-US" sz="2402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family</a:t>
            </a:r>
            <a:r>
              <a:rPr lang="en-US" sz="24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is a group of people </a:t>
            </a:r>
            <a:r>
              <a:rPr lang="en-US" sz="2402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related by blood, love, and care</a:t>
            </a:r>
            <a:r>
              <a:rPr lang="en-US" sz="24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l">
              <a:lnSpc>
                <a:spcPts val="2889"/>
              </a:lnSpc>
            </a:pPr>
            <a:r>
              <a:rPr lang="en-US" sz="2400" spc="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Families: •Love and support us •Celebrate and live together •Teach us good habits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82397" y="5863085"/>
            <a:ext cx="5273183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Olympiad Tip: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 family is our </a:t>
            </a:r>
            <a:r>
              <a:rPr lang="en-US" sz="2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first school!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54878" y="1386678"/>
            <a:ext cx="2921098" cy="582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5"/>
              </a:lnSpc>
            </a:pPr>
            <a:r>
              <a:rPr lang="en-US" sz="32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WHAT IS FAMILY?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" y="190433"/>
            <a:ext cx="2181225" cy="712537"/>
          </a:xfrm>
          <a:custGeom>
            <a:avLst/>
            <a:gdLst/>
            <a:ahLst/>
            <a:cxnLst/>
            <a:rect l="l" t="t" r="r" b="b"/>
            <a:pathLst>
              <a:path w="2181225" h="712537">
                <a:moveTo>
                  <a:pt x="0" y="0"/>
                </a:moveTo>
                <a:lnTo>
                  <a:pt x="2181225" y="0"/>
                </a:lnTo>
                <a:lnTo>
                  <a:pt x="2181225" y="712537"/>
                </a:lnTo>
                <a:lnTo>
                  <a:pt x="0" y="7125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08436" y="3956304"/>
            <a:ext cx="560070" cy="479298"/>
          </a:xfrm>
          <a:custGeom>
            <a:avLst/>
            <a:gdLst/>
            <a:ahLst/>
            <a:cxnLst/>
            <a:rect l="l" t="t" r="r" b="b"/>
            <a:pathLst>
              <a:path w="560070" h="479298">
                <a:moveTo>
                  <a:pt x="0" y="0"/>
                </a:moveTo>
                <a:lnTo>
                  <a:pt x="560070" y="0"/>
                </a:lnTo>
                <a:lnTo>
                  <a:pt x="560070" y="479298"/>
                </a:lnTo>
                <a:lnTo>
                  <a:pt x="0" y="4792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219688" y="4459224"/>
            <a:ext cx="1187958" cy="479298"/>
          </a:xfrm>
          <a:custGeom>
            <a:avLst/>
            <a:gdLst/>
            <a:ahLst/>
            <a:cxnLst/>
            <a:rect l="l" t="t" r="r" b="b"/>
            <a:pathLst>
              <a:path w="1187958" h="479298">
                <a:moveTo>
                  <a:pt x="0" y="0"/>
                </a:moveTo>
                <a:lnTo>
                  <a:pt x="1187958" y="0"/>
                </a:lnTo>
                <a:lnTo>
                  <a:pt x="1187958" y="479298"/>
                </a:lnTo>
                <a:lnTo>
                  <a:pt x="0" y="4792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399520" y="5739384"/>
            <a:ext cx="587502" cy="479298"/>
          </a:xfrm>
          <a:custGeom>
            <a:avLst/>
            <a:gdLst/>
            <a:ahLst/>
            <a:cxnLst/>
            <a:rect l="l" t="t" r="r" b="b"/>
            <a:pathLst>
              <a:path w="587502" h="479298">
                <a:moveTo>
                  <a:pt x="0" y="0"/>
                </a:moveTo>
                <a:lnTo>
                  <a:pt x="587502" y="0"/>
                </a:lnTo>
                <a:lnTo>
                  <a:pt x="587502" y="479298"/>
                </a:lnTo>
                <a:lnTo>
                  <a:pt x="0" y="4792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678680" y="7757160"/>
            <a:ext cx="587502" cy="479298"/>
          </a:xfrm>
          <a:custGeom>
            <a:avLst/>
            <a:gdLst/>
            <a:ahLst/>
            <a:cxnLst/>
            <a:rect l="l" t="t" r="r" b="b"/>
            <a:pathLst>
              <a:path w="587502" h="479298">
                <a:moveTo>
                  <a:pt x="0" y="0"/>
                </a:moveTo>
                <a:lnTo>
                  <a:pt x="587502" y="0"/>
                </a:lnTo>
                <a:lnTo>
                  <a:pt x="587502" y="479298"/>
                </a:lnTo>
                <a:lnTo>
                  <a:pt x="0" y="4792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282697" y="3585848"/>
            <a:ext cx="1359389" cy="1236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Type of Family </a:t>
            </a:r>
            <a:r>
              <a:rPr lang="en-US" sz="18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Nuclear</a:t>
            </a:r>
          </a:p>
          <a:p>
            <a:pPr algn="l">
              <a:lnSpc>
                <a:spcPts val="4500"/>
              </a:lnSpc>
            </a:pPr>
            <a:r>
              <a:rPr lang="en-US" sz="1800" b="1" spc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Joint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82697" y="4932931"/>
            <a:ext cx="909599" cy="52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Extended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82697" y="5573011"/>
            <a:ext cx="1524010" cy="52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Foster/Adopted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07278" y="1737741"/>
            <a:ext cx="1415586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Types of family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26278" y="3585848"/>
            <a:ext cx="2490045" cy="2653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Who Lives in It Parents and their children Grandparents, uncles, </a:t>
            </a:r>
          </a:p>
          <a:p>
            <a:pPr algn="l">
              <a:lnSpc>
                <a:spcPts val="144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aunts too</a:t>
            </a:r>
          </a:p>
          <a:p>
            <a:pPr algn="l">
              <a:lnSpc>
                <a:spcPts val="4323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Family living in other </a:t>
            </a:r>
          </a:p>
          <a:p>
            <a:pPr algn="l">
              <a:lnSpc>
                <a:spcPts val="900"/>
              </a:lnSpc>
            </a:pPr>
            <a:r>
              <a:rPr lang="en-US" sz="1800" spc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homes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People who take care of a </a:t>
            </a:r>
          </a:p>
          <a:p>
            <a:pPr algn="l">
              <a:lnSpc>
                <a:spcPts val="90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child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69726" y="3576323"/>
            <a:ext cx="1617278" cy="1248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Example Mom, Dad, You 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Big Indian family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69726" y="4932931"/>
            <a:ext cx="1967503" cy="52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Uncle in another city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69726" y="5576059"/>
            <a:ext cx="1802187" cy="52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Special love family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55006" y="7758836"/>
            <a:ext cx="2856748" cy="345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Living with grandparents =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30422" y="7758379"/>
            <a:ext cx="1656455" cy="346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Olympiad Clue: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56366" y="7758836"/>
            <a:ext cx="1360322" cy="345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Joint Family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" y="190433"/>
            <a:ext cx="2181225" cy="712537"/>
          </a:xfrm>
          <a:custGeom>
            <a:avLst/>
            <a:gdLst/>
            <a:ahLst/>
            <a:cxnLst/>
            <a:rect l="l" t="t" r="r" b="b"/>
            <a:pathLst>
              <a:path w="2181225" h="712537">
                <a:moveTo>
                  <a:pt x="0" y="0"/>
                </a:moveTo>
                <a:lnTo>
                  <a:pt x="2181225" y="0"/>
                </a:lnTo>
                <a:lnTo>
                  <a:pt x="2181225" y="712537"/>
                </a:lnTo>
                <a:lnTo>
                  <a:pt x="0" y="7125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383123" y="1462575"/>
            <a:ext cx="11521754" cy="6480987"/>
          </a:xfrm>
          <a:custGeom>
            <a:avLst/>
            <a:gdLst/>
            <a:ahLst/>
            <a:cxnLst/>
            <a:rect l="l" t="t" r="r" b="b"/>
            <a:pathLst>
              <a:path w="11521754" h="6480987">
                <a:moveTo>
                  <a:pt x="0" y="0"/>
                </a:moveTo>
                <a:lnTo>
                  <a:pt x="11521754" y="0"/>
                </a:lnTo>
                <a:lnTo>
                  <a:pt x="11521754" y="6480987"/>
                </a:lnTo>
                <a:lnTo>
                  <a:pt x="0" y="6480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" y="190433"/>
            <a:ext cx="2181225" cy="712537"/>
          </a:xfrm>
          <a:custGeom>
            <a:avLst/>
            <a:gdLst/>
            <a:ahLst/>
            <a:cxnLst/>
            <a:rect l="l" t="t" r="r" b="b"/>
            <a:pathLst>
              <a:path w="2181225" h="712537">
                <a:moveTo>
                  <a:pt x="0" y="0"/>
                </a:moveTo>
                <a:lnTo>
                  <a:pt x="2181225" y="0"/>
                </a:lnTo>
                <a:lnTo>
                  <a:pt x="2181225" y="712537"/>
                </a:lnTo>
                <a:lnTo>
                  <a:pt x="0" y="7125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915400" y="3959352"/>
            <a:ext cx="791718" cy="745998"/>
          </a:xfrm>
          <a:custGeom>
            <a:avLst/>
            <a:gdLst/>
            <a:ahLst/>
            <a:cxnLst/>
            <a:rect l="l" t="t" r="r" b="b"/>
            <a:pathLst>
              <a:path w="791718" h="745998">
                <a:moveTo>
                  <a:pt x="0" y="0"/>
                </a:moveTo>
                <a:lnTo>
                  <a:pt x="791718" y="0"/>
                </a:lnTo>
                <a:lnTo>
                  <a:pt x="791718" y="745998"/>
                </a:lnTo>
                <a:lnTo>
                  <a:pt x="0" y="745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399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079224" y="4477512"/>
            <a:ext cx="913638" cy="745998"/>
          </a:xfrm>
          <a:custGeom>
            <a:avLst/>
            <a:gdLst/>
            <a:ahLst/>
            <a:cxnLst/>
            <a:rect l="l" t="t" r="r" b="b"/>
            <a:pathLst>
              <a:path w="913638" h="745998">
                <a:moveTo>
                  <a:pt x="0" y="0"/>
                </a:moveTo>
                <a:lnTo>
                  <a:pt x="913638" y="0"/>
                </a:lnTo>
                <a:lnTo>
                  <a:pt x="913638" y="745998"/>
                </a:lnTo>
                <a:lnTo>
                  <a:pt x="0" y="7459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966448" y="4995672"/>
            <a:ext cx="913638" cy="745998"/>
          </a:xfrm>
          <a:custGeom>
            <a:avLst/>
            <a:gdLst/>
            <a:ahLst/>
            <a:cxnLst/>
            <a:rect l="l" t="t" r="r" b="b"/>
            <a:pathLst>
              <a:path w="913638" h="745998">
                <a:moveTo>
                  <a:pt x="0" y="0"/>
                </a:moveTo>
                <a:lnTo>
                  <a:pt x="913638" y="0"/>
                </a:lnTo>
                <a:lnTo>
                  <a:pt x="913638" y="745998"/>
                </a:lnTo>
                <a:lnTo>
                  <a:pt x="0" y="7459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915400" y="5940552"/>
            <a:ext cx="791718" cy="745998"/>
          </a:xfrm>
          <a:custGeom>
            <a:avLst/>
            <a:gdLst/>
            <a:ahLst/>
            <a:cxnLst/>
            <a:rect l="l" t="t" r="r" b="b"/>
            <a:pathLst>
              <a:path w="791718" h="745998">
                <a:moveTo>
                  <a:pt x="0" y="0"/>
                </a:moveTo>
                <a:lnTo>
                  <a:pt x="791718" y="0"/>
                </a:lnTo>
                <a:lnTo>
                  <a:pt x="791718" y="745998"/>
                </a:lnTo>
                <a:lnTo>
                  <a:pt x="0" y="7459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539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534144" y="6885432"/>
            <a:ext cx="913638" cy="745998"/>
          </a:xfrm>
          <a:custGeom>
            <a:avLst/>
            <a:gdLst/>
            <a:ahLst/>
            <a:cxnLst/>
            <a:rect l="l" t="t" r="r" b="b"/>
            <a:pathLst>
              <a:path w="913638" h="745998">
                <a:moveTo>
                  <a:pt x="0" y="0"/>
                </a:moveTo>
                <a:lnTo>
                  <a:pt x="913638" y="0"/>
                </a:lnTo>
                <a:lnTo>
                  <a:pt x="913638" y="745998"/>
                </a:lnTo>
                <a:lnTo>
                  <a:pt x="0" y="7459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021824" y="6885432"/>
            <a:ext cx="913638" cy="745998"/>
          </a:xfrm>
          <a:custGeom>
            <a:avLst/>
            <a:gdLst/>
            <a:ahLst/>
            <a:cxnLst/>
            <a:rect l="l" t="t" r="r" b="b"/>
            <a:pathLst>
              <a:path w="913638" h="745998">
                <a:moveTo>
                  <a:pt x="0" y="0"/>
                </a:moveTo>
                <a:lnTo>
                  <a:pt x="913638" y="0"/>
                </a:lnTo>
                <a:lnTo>
                  <a:pt x="913638" y="745998"/>
                </a:lnTo>
                <a:lnTo>
                  <a:pt x="0" y="7459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907280" y="8153400"/>
            <a:ext cx="587502" cy="479298"/>
          </a:xfrm>
          <a:custGeom>
            <a:avLst/>
            <a:gdLst/>
            <a:ahLst/>
            <a:cxnLst/>
            <a:rect l="l" t="t" r="r" b="b"/>
            <a:pathLst>
              <a:path w="587502" h="479298">
                <a:moveTo>
                  <a:pt x="0" y="0"/>
                </a:moveTo>
                <a:lnTo>
                  <a:pt x="587502" y="0"/>
                </a:lnTo>
                <a:lnTo>
                  <a:pt x="587502" y="479298"/>
                </a:lnTo>
                <a:lnTo>
                  <a:pt x="0" y="4792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892297" y="4857912"/>
            <a:ext cx="841010" cy="1435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27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Aunt Uncle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92297" y="2876464"/>
            <a:ext cx="2000393" cy="2166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27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Member Grandmother</a:t>
            </a:r>
          </a:p>
          <a:p>
            <a:pPr algn="l">
              <a:lnSpc>
                <a:spcPts val="3917"/>
              </a:lnSpc>
            </a:pPr>
            <a:r>
              <a:rPr lang="en-US" sz="27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Grandfather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007726" y="3038389"/>
            <a:ext cx="3558197" cy="1059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7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Who They Are To You Mom's or Dad’s mother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007726" y="5022885"/>
            <a:ext cx="3566884" cy="1056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6"/>
              </a:lnSpc>
            </a:pPr>
            <a:r>
              <a:rPr lang="en-US" sz="27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Mom’s or Dad’s sister Mom’s or Dad’s brother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07726" y="6206652"/>
            <a:ext cx="3728066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9"/>
              </a:lnSpc>
            </a:pPr>
            <a:r>
              <a:rPr lang="en-US" sz="27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Children of your uncle or </a:t>
            </a:r>
          </a:p>
          <a:p>
            <a:pPr algn="l">
              <a:lnSpc>
                <a:spcPts val="3917"/>
              </a:lnSpc>
            </a:pPr>
            <a:r>
              <a:rPr lang="en-US" sz="27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aunt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92297" y="6705514"/>
            <a:ext cx="1130294" cy="532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7"/>
              </a:lnSpc>
            </a:pPr>
            <a:r>
              <a:rPr lang="en-US" sz="27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Cousins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07726" y="4513745"/>
            <a:ext cx="3349904" cy="532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7"/>
              </a:lnSpc>
            </a:pPr>
            <a:r>
              <a:rPr lang="en-US" sz="27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Mom's or Dad’s father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59022" y="8192719"/>
            <a:ext cx="2082927" cy="308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Olympiad Example: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45078" y="8467496"/>
            <a:ext cx="5561381" cy="307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Jenny is David’s mother’s sister → Jenny is David’s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02770" y="8429396"/>
            <a:ext cx="525104" cy="345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Aunt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78478" y="664759"/>
            <a:ext cx="3932006" cy="745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4"/>
              </a:lnSpc>
            </a:pPr>
            <a:r>
              <a:rPr lang="en-US" sz="39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FAMILY MEMBERS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" y="190433"/>
            <a:ext cx="2181225" cy="712537"/>
          </a:xfrm>
          <a:custGeom>
            <a:avLst/>
            <a:gdLst/>
            <a:ahLst/>
            <a:cxnLst/>
            <a:rect l="l" t="t" r="r" b="b"/>
            <a:pathLst>
              <a:path w="2181225" h="712537">
                <a:moveTo>
                  <a:pt x="0" y="0"/>
                </a:moveTo>
                <a:lnTo>
                  <a:pt x="2181225" y="0"/>
                </a:lnTo>
                <a:lnTo>
                  <a:pt x="2181225" y="712537"/>
                </a:lnTo>
                <a:lnTo>
                  <a:pt x="0" y="7125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125683" y="696945"/>
            <a:ext cx="11765075" cy="9103227"/>
          </a:xfrm>
          <a:custGeom>
            <a:avLst/>
            <a:gdLst/>
            <a:ahLst/>
            <a:cxnLst/>
            <a:rect l="l" t="t" r="r" b="b"/>
            <a:pathLst>
              <a:path w="11765075" h="9103227">
                <a:moveTo>
                  <a:pt x="0" y="0"/>
                </a:moveTo>
                <a:lnTo>
                  <a:pt x="11765076" y="0"/>
                </a:lnTo>
                <a:lnTo>
                  <a:pt x="11765076" y="9103227"/>
                </a:lnTo>
                <a:lnTo>
                  <a:pt x="0" y="9103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" y="190433"/>
            <a:ext cx="2181225" cy="712537"/>
          </a:xfrm>
          <a:custGeom>
            <a:avLst/>
            <a:gdLst/>
            <a:ahLst/>
            <a:cxnLst/>
            <a:rect l="l" t="t" r="r" b="b"/>
            <a:pathLst>
              <a:path w="2181225" h="712537">
                <a:moveTo>
                  <a:pt x="0" y="0"/>
                </a:moveTo>
                <a:lnTo>
                  <a:pt x="2181225" y="0"/>
                </a:lnTo>
                <a:lnTo>
                  <a:pt x="2181225" y="712537"/>
                </a:lnTo>
                <a:lnTo>
                  <a:pt x="0" y="7125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450080" y="5711952"/>
            <a:ext cx="913638" cy="745998"/>
          </a:xfrm>
          <a:custGeom>
            <a:avLst/>
            <a:gdLst/>
            <a:ahLst/>
            <a:cxnLst/>
            <a:rect l="l" t="t" r="r" b="b"/>
            <a:pathLst>
              <a:path w="913638" h="745998">
                <a:moveTo>
                  <a:pt x="0" y="0"/>
                </a:moveTo>
                <a:lnTo>
                  <a:pt x="913638" y="0"/>
                </a:lnTo>
                <a:lnTo>
                  <a:pt x="913638" y="745998"/>
                </a:lnTo>
                <a:lnTo>
                  <a:pt x="0" y="745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111878" y="1327947"/>
            <a:ext cx="4104742" cy="532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4"/>
              </a:lnSpc>
            </a:pPr>
            <a:r>
              <a:rPr lang="en-US" sz="27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Why Families Are Important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63697" y="4055450"/>
            <a:ext cx="4888135" cy="1780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2"/>
              </a:lnSpc>
            </a:pPr>
            <a:r>
              <a:rPr lang="en-US" sz="27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•Teach us </a:t>
            </a:r>
            <a:r>
              <a:rPr lang="en-US" sz="2795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manners and respect </a:t>
            </a:r>
            <a:r>
              <a:rPr lang="en-US" sz="27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•Celebrate festivals and birthdays •Help when we’re </a:t>
            </a:r>
            <a:r>
              <a:rPr lang="en-US" sz="2795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sick or sad </a:t>
            </a:r>
            <a:r>
              <a:rPr lang="en-US" sz="27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•Make us feel </a:t>
            </a:r>
            <a:r>
              <a:rPr lang="en-US" sz="2795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safe and loved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51758" y="5805840"/>
            <a:ext cx="8312067" cy="475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2"/>
              </a:lnSpc>
            </a:pPr>
            <a:r>
              <a:rPr lang="en-US" sz="27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95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Olympiad HOTS:</a:t>
            </a:r>
            <a:r>
              <a:rPr lang="en-US" sz="27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Playing with your uncle’s kids = playing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63697" y="6229512"/>
            <a:ext cx="2600325" cy="475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2"/>
              </a:lnSpc>
            </a:pPr>
            <a:r>
              <a:rPr lang="en-US" sz="27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with your </a:t>
            </a:r>
            <a:r>
              <a:rPr lang="en-US" sz="2795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cousins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" y="190433"/>
            <a:ext cx="2181225" cy="712537"/>
          </a:xfrm>
          <a:custGeom>
            <a:avLst/>
            <a:gdLst/>
            <a:ahLst/>
            <a:cxnLst/>
            <a:rect l="l" t="t" r="r" b="b"/>
            <a:pathLst>
              <a:path w="2181225" h="712537">
                <a:moveTo>
                  <a:pt x="0" y="0"/>
                </a:moveTo>
                <a:lnTo>
                  <a:pt x="2181225" y="0"/>
                </a:lnTo>
                <a:lnTo>
                  <a:pt x="2181225" y="712537"/>
                </a:lnTo>
                <a:lnTo>
                  <a:pt x="0" y="7125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83080" y="6412992"/>
            <a:ext cx="913638" cy="745998"/>
          </a:xfrm>
          <a:custGeom>
            <a:avLst/>
            <a:gdLst/>
            <a:ahLst/>
            <a:cxnLst/>
            <a:rect l="l" t="t" r="r" b="b"/>
            <a:pathLst>
              <a:path w="913638" h="745998">
                <a:moveTo>
                  <a:pt x="0" y="0"/>
                </a:moveTo>
                <a:lnTo>
                  <a:pt x="913638" y="0"/>
                </a:lnTo>
                <a:lnTo>
                  <a:pt x="913638" y="745998"/>
                </a:lnTo>
                <a:lnTo>
                  <a:pt x="0" y="745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134600" y="3352162"/>
            <a:ext cx="6496050" cy="4330703"/>
          </a:xfrm>
          <a:custGeom>
            <a:avLst/>
            <a:gdLst/>
            <a:ahLst/>
            <a:cxnLst/>
            <a:rect l="l" t="t" r="r" b="b"/>
            <a:pathLst>
              <a:path w="6496050" h="4330703">
                <a:moveTo>
                  <a:pt x="0" y="0"/>
                </a:moveTo>
                <a:lnTo>
                  <a:pt x="6496050" y="0"/>
                </a:lnTo>
                <a:lnTo>
                  <a:pt x="6496050" y="4330703"/>
                </a:lnTo>
                <a:lnTo>
                  <a:pt x="0" y="43307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996697" y="3943264"/>
            <a:ext cx="8134407" cy="2608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6"/>
              </a:lnSpc>
            </a:pPr>
            <a:r>
              <a:rPr lang="en-US" sz="27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Festivals are </a:t>
            </a:r>
            <a:r>
              <a:rPr lang="en-US" sz="2795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special days</a:t>
            </a:r>
            <a:r>
              <a:rPr lang="en-US" sz="27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we celebrate with family and friends. We: •Wear </a:t>
            </a:r>
            <a:r>
              <a:rPr lang="en-US" sz="2795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new clothes </a:t>
            </a:r>
            <a:r>
              <a:rPr lang="en-US" sz="27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•Eat </a:t>
            </a:r>
            <a:r>
              <a:rPr lang="en-US" sz="2795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special food </a:t>
            </a:r>
            <a:r>
              <a:rPr lang="en-US" sz="27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•Share </a:t>
            </a:r>
            <a:r>
              <a:rPr lang="en-US" sz="2795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happiness and gifts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84377" y="6506880"/>
            <a:ext cx="4808334" cy="475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6"/>
              </a:lnSpc>
            </a:pPr>
            <a:r>
              <a:rPr lang="en-US" sz="27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Festivals bring </a:t>
            </a:r>
            <a:r>
              <a:rPr lang="en-US" sz="2795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people together</a:t>
            </a:r>
            <a:r>
              <a:rPr lang="en-US" sz="27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02278" y="1996278"/>
            <a:ext cx="3307090" cy="582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5"/>
              </a:lnSpc>
            </a:pPr>
            <a:r>
              <a:rPr lang="en-US" sz="32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What Are Festivals?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" y="190433"/>
            <a:ext cx="2181225" cy="712537"/>
          </a:xfrm>
          <a:custGeom>
            <a:avLst/>
            <a:gdLst/>
            <a:ahLst/>
            <a:cxnLst/>
            <a:rect l="l" t="t" r="r" b="b"/>
            <a:pathLst>
              <a:path w="2181225" h="712537">
                <a:moveTo>
                  <a:pt x="0" y="0"/>
                </a:moveTo>
                <a:lnTo>
                  <a:pt x="2181225" y="0"/>
                </a:lnTo>
                <a:lnTo>
                  <a:pt x="2181225" y="712537"/>
                </a:lnTo>
                <a:lnTo>
                  <a:pt x="0" y="7125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737848" y="4113276"/>
            <a:ext cx="785622" cy="640842"/>
          </a:xfrm>
          <a:custGeom>
            <a:avLst/>
            <a:gdLst/>
            <a:ahLst/>
            <a:cxnLst/>
            <a:rect l="l" t="t" r="r" b="b"/>
            <a:pathLst>
              <a:path w="785622" h="640842">
                <a:moveTo>
                  <a:pt x="0" y="0"/>
                </a:moveTo>
                <a:lnTo>
                  <a:pt x="785622" y="0"/>
                </a:lnTo>
                <a:lnTo>
                  <a:pt x="785622" y="640842"/>
                </a:lnTo>
                <a:lnTo>
                  <a:pt x="0" y="6408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837676" y="4936236"/>
            <a:ext cx="642366" cy="640842"/>
          </a:xfrm>
          <a:custGeom>
            <a:avLst/>
            <a:gdLst/>
            <a:ahLst/>
            <a:cxnLst/>
            <a:rect l="l" t="t" r="r" b="b"/>
            <a:pathLst>
              <a:path w="642366" h="640842">
                <a:moveTo>
                  <a:pt x="0" y="0"/>
                </a:moveTo>
                <a:lnTo>
                  <a:pt x="642366" y="0"/>
                </a:lnTo>
                <a:lnTo>
                  <a:pt x="642366" y="640842"/>
                </a:lnTo>
                <a:lnTo>
                  <a:pt x="0" y="6408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940796" y="5759196"/>
            <a:ext cx="785622" cy="640842"/>
          </a:xfrm>
          <a:custGeom>
            <a:avLst/>
            <a:gdLst/>
            <a:ahLst/>
            <a:cxnLst/>
            <a:rect l="l" t="t" r="r" b="b"/>
            <a:pathLst>
              <a:path w="785622" h="640842">
                <a:moveTo>
                  <a:pt x="0" y="0"/>
                </a:moveTo>
                <a:lnTo>
                  <a:pt x="785622" y="0"/>
                </a:lnTo>
                <a:lnTo>
                  <a:pt x="785622" y="640842"/>
                </a:lnTo>
                <a:lnTo>
                  <a:pt x="0" y="6408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264908" y="6947916"/>
            <a:ext cx="1113282" cy="640842"/>
          </a:xfrm>
          <a:custGeom>
            <a:avLst/>
            <a:gdLst/>
            <a:ahLst/>
            <a:cxnLst/>
            <a:rect l="l" t="t" r="r" b="b"/>
            <a:pathLst>
              <a:path w="1113282" h="640842">
                <a:moveTo>
                  <a:pt x="0" y="0"/>
                </a:moveTo>
                <a:lnTo>
                  <a:pt x="1113282" y="0"/>
                </a:lnTo>
                <a:lnTo>
                  <a:pt x="1113282" y="640842"/>
                </a:lnTo>
                <a:lnTo>
                  <a:pt x="0" y="6408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450080" y="7985760"/>
            <a:ext cx="587502" cy="479298"/>
          </a:xfrm>
          <a:custGeom>
            <a:avLst/>
            <a:gdLst/>
            <a:ahLst/>
            <a:cxnLst/>
            <a:rect l="l" t="t" r="r" b="b"/>
            <a:pathLst>
              <a:path w="587502" h="479298">
                <a:moveTo>
                  <a:pt x="0" y="0"/>
                </a:moveTo>
                <a:lnTo>
                  <a:pt x="587502" y="0"/>
                </a:lnTo>
                <a:lnTo>
                  <a:pt x="587502" y="479298"/>
                </a:lnTo>
                <a:lnTo>
                  <a:pt x="0" y="4792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502278" y="1996278"/>
            <a:ext cx="2840993" cy="582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5"/>
              </a:lnSpc>
            </a:pPr>
            <a:r>
              <a:rPr lang="en-US" sz="32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Types of festivals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14672" y="3340484"/>
            <a:ext cx="1163288" cy="1076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Type </a:t>
            </a:r>
            <a:r>
              <a:rPr lang="en-US" sz="2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Religious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14672" y="4546730"/>
            <a:ext cx="1103681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2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National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14672" y="5369690"/>
            <a:ext cx="993619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2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Harvest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14672" y="6632953"/>
            <a:ext cx="1625365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Cultural/Fun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58129" y="3321434"/>
            <a:ext cx="2482196" cy="2104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7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Examples Diwali, Christmas, </a:t>
            </a:r>
          </a:p>
          <a:p>
            <a:pPr algn="l">
              <a:lnSpc>
                <a:spcPts val="2217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Eid, Gurpurab</a:t>
            </a:r>
          </a:p>
          <a:p>
            <a:pPr algn="l">
              <a:lnSpc>
                <a:spcPts val="4934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Independence Day, </a:t>
            </a:r>
          </a:p>
          <a:p>
            <a:pPr algn="l">
              <a:lnSpc>
                <a:spcPts val="1200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Republic Day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01710" y="3321434"/>
            <a:ext cx="2465718" cy="2101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7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Why It’s Celebrated Based on </a:t>
            </a:r>
          </a:p>
          <a:p>
            <a:pPr algn="l">
              <a:lnSpc>
                <a:spcPts val="2217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faith/tradition </a:t>
            </a:r>
          </a:p>
          <a:p>
            <a:pPr algn="l">
              <a:lnSpc>
                <a:spcPts val="4934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For our country’s </a:t>
            </a:r>
          </a:p>
          <a:p>
            <a:pPr algn="l">
              <a:lnSpc>
                <a:spcPts val="1200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pride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58129" y="5196335"/>
            <a:ext cx="5380749" cy="683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52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Pongal, Bihu, Onam, Celebrate crops and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58129" y="6009770"/>
            <a:ext cx="2030149" cy="1059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Lohri</a:t>
            </a:r>
          </a:p>
          <a:p>
            <a:pPr algn="l">
              <a:lnSpc>
                <a:spcPts val="5956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Birthday, Rakhi, </a:t>
            </a:r>
          </a:p>
          <a:p>
            <a:pPr algn="l">
              <a:lnSpc>
                <a:spcPts val="1360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Children’s Day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01710" y="6012818"/>
            <a:ext cx="2188702" cy="123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farmers Personal and fun times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30622" y="7987436"/>
            <a:ext cx="2079193" cy="345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Diwali = Festival of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81106" y="7987436"/>
            <a:ext cx="1118064" cy="345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Pongal =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84582" y="7987436"/>
            <a:ext cx="796442" cy="345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festival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01441" y="7986979"/>
            <a:ext cx="1867710" cy="346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Olympiad Insight: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769982" y="7987436"/>
            <a:ext cx="623506" cy="345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lights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78386" y="7987436"/>
            <a:ext cx="822398" cy="345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harvest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" y="190433"/>
            <a:ext cx="2181225" cy="712537"/>
          </a:xfrm>
          <a:custGeom>
            <a:avLst/>
            <a:gdLst/>
            <a:ahLst/>
            <a:cxnLst/>
            <a:rect l="l" t="t" r="r" b="b"/>
            <a:pathLst>
              <a:path w="2181225" h="712537">
                <a:moveTo>
                  <a:pt x="0" y="0"/>
                </a:moveTo>
                <a:lnTo>
                  <a:pt x="2181225" y="0"/>
                </a:lnTo>
                <a:lnTo>
                  <a:pt x="2181225" y="712537"/>
                </a:lnTo>
                <a:lnTo>
                  <a:pt x="0" y="7125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292983" y="2476500"/>
            <a:ext cx="10613517" cy="5943600"/>
          </a:xfrm>
          <a:custGeom>
            <a:avLst/>
            <a:gdLst/>
            <a:ahLst/>
            <a:cxnLst/>
            <a:rect l="l" t="t" r="r" b="b"/>
            <a:pathLst>
              <a:path w="10613517" h="5943600">
                <a:moveTo>
                  <a:pt x="0" y="0"/>
                </a:moveTo>
                <a:lnTo>
                  <a:pt x="10613517" y="0"/>
                </a:lnTo>
                <a:lnTo>
                  <a:pt x="10613517" y="5943600"/>
                </a:lnTo>
                <a:lnTo>
                  <a:pt x="0" y="5943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" y="190433"/>
            <a:ext cx="2181225" cy="712537"/>
          </a:xfrm>
          <a:custGeom>
            <a:avLst/>
            <a:gdLst/>
            <a:ahLst/>
            <a:cxnLst/>
            <a:rect l="l" t="t" r="r" b="b"/>
            <a:pathLst>
              <a:path w="2181225" h="712537">
                <a:moveTo>
                  <a:pt x="0" y="0"/>
                </a:moveTo>
                <a:lnTo>
                  <a:pt x="2181225" y="0"/>
                </a:lnTo>
                <a:lnTo>
                  <a:pt x="2181225" y="712537"/>
                </a:lnTo>
                <a:lnTo>
                  <a:pt x="0" y="7125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933306" y="695717"/>
            <a:ext cx="5877721" cy="8895567"/>
          </a:xfrm>
          <a:custGeom>
            <a:avLst/>
            <a:gdLst/>
            <a:ahLst/>
            <a:cxnLst/>
            <a:rect l="l" t="t" r="r" b="b"/>
            <a:pathLst>
              <a:path w="5877721" h="8895567">
                <a:moveTo>
                  <a:pt x="0" y="0"/>
                </a:moveTo>
                <a:lnTo>
                  <a:pt x="5877721" y="0"/>
                </a:lnTo>
                <a:lnTo>
                  <a:pt x="5877721" y="8895566"/>
                </a:lnTo>
                <a:lnTo>
                  <a:pt x="0" y="88955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8" b="-208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" y="190433"/>
            <a:ext cx="2181225" cy="712537"/>
          </a:xfrm>
          <a:custGeom>
            <a:avLst/>
            <a:gdLst/>
            <a:ahLst/>
            <a:cxnLst/>
            <a:rect l="l" t="t" r="r" b="b"/>
            <a:pathLst>
              <a:path w="2181225" h="712537">
                <a:moveTo>
                  <a:pt x="0" y="0"/>
                </a:moveTo>
                <a:lnTo>
                  <a:pt x="2181225" y="0"/>
                </a:lnTo>
                <a:lnTo>
                  <a:pt x="2181225" y="712537"/>
                </a:lnTo>
                <a:lnTo>
                  <a:pt x="0" y="7125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373624" y="4279392"/>
            <a:ext cx="913638" cy="745998"/>
          </a:xfrm>
          <a:custGeom>
            <a:avLst/>
            <a:gdLst/>
            <a:ahLst/>
            <a:cxnLst/>
            <a:rect l="l" t="t" r="r" b="b"/>
            <a:pathLst>
              <a:path w="913638" h="745998">
                <a:moveTo>
                  <a:pt x="0" y="0"/>
                </a:moveTo>
                <a:lnTo>
                  <a:pt x="913638" y="0"/>
                </a:lnTo>
                <a:lnTo>
                  <a:pt x="913638" y="745998"/>
                </a:lnTo>
                <a:lnTo>
                  <a:pt x="0" y="745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074920" y="4706112"/>
            <a:ext cx="913638" cy="745998"/>
          </a:xfrm>
          <a:custGeom>
            <a:avLst/>
            <a:gdLst/>
            <a:ahLst/>
            <a:cxnLst/>
            <a:rect l="l" t="t" r="r" b="b"/>
            <a:pathLst>
              <a:path w="913638" h="745998">
                <a:moveTo>
                  <a:pt x="0" y="0"/>
                </a:moveTo>
                <a:lnTo>
                  <a:pt x="913638" y="0"/>
                </a:lnTo>
                <a:lnTo>
                  <a:pt x="913638" y="745998"/>
                </a:lnTo>
                <a:lnTo>
                  <a:pt x="0" y="7459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786372" y="5132832"/>
            <a:ext cx="913638" cy="745998"/>
          </a:xfrm>
          <a:custGeom>
            <a:avLst/>
            <a:gdLst/>
            <a:ahLst/>
            <a:cxnLst/>
            <a:rect l="l" t="t" r="r" b="b"/>
            <a:pathLst>
              <a:path w="913638" h="745998">
                <a:moveTo>
                  <a:pt x="0" y="0"/>
                </a:moveTo>
                <a:lnTo>
                  <a:pt x="913638" y="0"/>
                </a:lnTo>
                <a:lnTo>
                  <a:pt x="913638" y="745998"/>
                </a:lnTo>
                <a:lnTo>
                  <a:pt x="0" y="7459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274052" y="5132832"/>
            <a:ext cx="913638" cy="745998"/>
          </a:xfrm>
          <a:custGeom>
            <a:avLst/>
            <a:gdLst/>
            <a:ahLst/>
            <a:cxnLst/>
            <a:rect l="l" t="t" r="r" b="b"/>
            <a:pathLst>
              <a:path w="913638" h="745998">
                <a:moveTo>
                  <a:pt x="0" y="0"/>
                </a:moveTo>
                <a:lnTo>
                  <a:pt x="913638" y="0"/>
                </a:lnTo>
                <a:lnTo>
                  <a:pt x="913638" y="745998"/>
                </a:lnTo>
                <a:lnTo>
                  <a:pt x="0" y="7459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557772" y="5559552"/>
            <a:ext cx="913638" cy="745998"/>
          </a:xfrm>
          <a:custGeom>
            <a:avLst/>
            <a:gdLst/>
            <a:ahLst/>
            <a:cxnLst/>
            <a:rect l="l" t="t" r="r" b="b"/>
            <a:pathLst>
              <a:path w="913638" h="745998">
                <a:moveTo>
                  <a:pt x="0" y="0"/>
                </a:moveTo>
                <a:lnTo>
                  <a:pt x="913638" y="0"/>
                </a:lnTo>
                <a:lnTo>
                  <a:pt x="913638" y="745998"/>
                </a:lnTo>
                <a:lnTo>
                  <a:pt x="0" y="7459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83080" y="6412992"/>
            <a:ext cx="913638" cy="745998"/>
          </a:xfrm>
          <a:custGeom>
            <a:avLst/>
            <a:gdLst/>
            <a:ahLst/>
            <a:cxnLst/>
            <a:rect l="l" t="t" r="r" b="b"/>
            <a:pathLst>
              <a:path w="913638" h="745998">
                <a:moveTo>
                  <a:pt x="0" y="0"/>
                </a:moveTo>
                <a:lnTo>
                  <a:pt x="913638" y="0"/>
                </a:lnTo>
                <a:lnTo>
                  <a:pt x="913638" y="745998"/>
                </a:lnTo>
                <a:lnTo>
                  <a:pt x="0" y="7459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139184" y="6839712"/>
            <a:ext cx="913638" cy="745998"/>
          </a:xfrm>
          <a:custGeom>
            <a:avLst/>
            <a:gdLst/>
            <a:ahLst/>
            <a:cxnLst/>
            <a:rect l="l" t="t" r="r" b="b"/>
            <a:pathLst>
              <a:path w="913638" h="745998">
                <a:moveTo>
                  <a:pt x="0" y="0"/>
                </a:moveTo>
                <a:lnTo>
                  <a:pt x="913638" y="0"/>
                </a:lnTo>
                <a:lnTo>
                  <a:pt x="913638" y="745998"/>
                </a:lnTo>
                <a:lnTo>
                  <a:pt x="0" y="7459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134600" y="3352162"/>
            <a:ext cx="6496050" cy="4330703"/>
          </a:xfrm>
          <a:custGeom>
            <a:avLst/>
            <a:gdLst/>
            <a:ahLst/>
            <a:cxnLst/>
            <a:rect l="l" t="t" r="r" b="b"/>
            <a:pathLst>
              <a:path w="6496050" h="4330703">
                <a:moveTo>
                  <a:pt x="0" y="0"/>
                </a:moveTo>
                <a:lnTo>
                  <a:pt x="6496050" y="0"/>
                </a:lnTo>
                <a:lnTo>
                  <a:pt x="6496050" y="4330703"/>
                </a:lnTo>
                <a:lnTo>
                  <a:pt x="0" y="433070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996697" y="3943264"/>
            <a:ext cx="5203508" cy="2608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During festivals: •We decorate the house •Light diyas or candles •Eat sweets and wear new clothes •Pray and enjoy time with family •Share joy with friends &amp; neighbors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484377" y="6506880"/>
            <a:ext cx="6218872" cy="475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95" spc="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Olympiad Tip: </a:t>
            </a:r>
            <a:r>
              <a:rPr lang="en-US" sz="2795" b="1" spc="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Christmas</a:t>
            </a:r>
            <a:r>
              <a:rPr lang="en-US" sz="2795" spc="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is celebrated on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96697" y="6876202"/>
            <a:ext cx="2399652" cy="532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7"/>
              </a:lnSpc>
            </a:pPr>
            <a:r>
              <a:rPr lang="en-US" sz="2798" b="1" spc="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25th December</a:t>
            </a:r>
            <a:r>
              <a:rPr lang="en-US" sz="2798" spc="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02278" y="1996278"/>
            <a:ext cx="4403636" cy="582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5"/>
              </a:lnSpc>
            </a:pPr>
            <a:r>
              <a:rPr lang="en-US" sz="32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Festival &amp; Family Together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E08042-B885-84EC-F189-EA96B32EF3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285164"/>
              </p:ext>
            </p:extLst>
          </p:nvPr>
        </p:nvGraphicFramePr>
        <p:xfrm>
          <a:off x="3680470" y="866209"/>
          <a:ext cx="10927060" cy="8554582"/>
        </p:xfrm>
        <a:graphic>
          <a:graphicData uri="http://schemas.openxmlformats.org/drawingml/2006/table">
            <a:tbl>
              <a:tblPr/>
              <a:tblGrid>
                <a:gridCol w="2731765">
                  <a:extLst>
                    <a:ext uri="{9D8B030D-6E8A-4147-A177-3AD203B41FA5}">
                      <a16:colId xmlns:a16="http://schemas.microsoft.com/office/drawing/2014/main" val="580486099"/>
                    </a:ext>
                  </a:extLst>
                </a:gridCol>
                <a:gridCol w="2731765">
                  <a:extLst>
                    <a:ext uri="{9D8B030D-6E8A-4147-A177-3AD203B41FA5}">
                      <a16:colId xmlns:a16="http://schemas.microsoft.com/office/drawing/2014/main" val="3644087472"/>
                    </a:ext>
                  </a:extLst>
                </a:gridCol>
                <a:gridCol w="2731765">
                  <a:extLst>
                    <a:ext uri="{9D8B030D-6E8A-4147-A177-3AD203B41FA5}">
                      <a16:colId xmlns:a16="http://schemas.microsoft.com/office/drawing/2014/main" val="3799467598"/>
                    </a:ext>
                  </a:extLst>
                </a:gridCol>
                <a:gridCol w="2731765">
                  <a:extLst>
                    <a:ext uri="{9D8B030D-6E8A-4147-A177-3AD203B41FA5}">
                      <a16:colId xmlns:a16="http://schemas.microsoft.com/office/drawing/2014/main" val="664731344"/>
                    </a:ext>
                  </a:extLst>
                </a:gridCol>
              </a:tblGrid>
              <a:tr h="134794">
                <a:tc>
                  <a:txBody>
                    <a:bodyPr/>
                    <a:lstStyle/>
                    <a:p>
                      <a:pPr algn="l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Month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Festival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Date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462359"/>
                  </a:ext>
                </a:extLst>
              </a:tr>
              <a:tr h="324158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January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Makarsankranti or Pongal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14 January 2025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Wednesday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675243"/>
                  </a:ext>
                </a:extLst>
              </a:tr>
              <a:tr h="229476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February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Vasant Panchami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02 February 2025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Sunday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35943"/>
                  </a:ext>
                </a:extLst>
              </a:tr>
              <a:tr h="229476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February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Thaipusam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11 February 2025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Tuesday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694657"/>
                  </a:ext>
                </a:extLst>
              </a:tr>
              <a:tr h="229476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February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Maha Shivaratri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26 February 2025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Wednesday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012857"/>
                  </a:ext>
                </a:extLst>
              </a:tr>
              <a:tr h="229476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March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Holika Dahan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13 March 2025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Thursday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814330"/>
                  </a:ext>
                </a:extLst>
              </a:tr>
              <a:tr h="229476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March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Holi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14 March 2025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Friday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727201"/>
                  </a:ext>
                </a:extLst>
              </a:tr>
              <a:tr h="229476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March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Hindi New Year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29 March 2025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Saturday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7627"/>
                  </a:ext>
                </a:extLst>
              </a:tr>
              <a:tr h="418840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March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</a:rPr>
                        <a:t>Ugadi or Gudi Padwa or Telugu New Year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30 March 2025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Sunday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341442"/>
                  </a:ext>
                </a:extLst>
              </a:tr>
              <a:tr h="229476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April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Ramanavami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06 April 2025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Sunday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350039"/>
                  </a:ext>
                </a:extLst>
              </a:tr>
              <a:tr h="229476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April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Hanuman Jayanti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12 April 2025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Saturday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543797"/>
                  </a:ext>
                </a:extLst>
              </a:tr>
              <a:tr h="324158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April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Vaisakhi or Baisakhi or Vishu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14 April 2025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Monday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9546"/>
                  </a:ext>
                </a:extLst>
              </a:tr>
              <a:tr h="229476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April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</a:rPr>
                        <a:t>Bengali New Year or Bihu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14 April 2025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Monday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087924"/>
                  </a:ext>
                </a:extLst>
              </a:tr>
              <a:tr h="229476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April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Tamil New Year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14 April 2025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Monday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771093"/>
                  </a:ext>
                </a:extLst>
              </a:tr>
              <a:tr h="229476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May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Akshaya Tritiya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30 May 2025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Friday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5534543"/>
                  </a:ext>
                </a:extLst>
              </a:tr>
              <a:tr h="229476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May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Buddha Purnima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11, May, 2025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Sunday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845276"/>
                  </a:ext>
                </a:extLst>
              </a:tr>
              <a:tr h="229476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June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Jagannath Rathyatra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27, June, 2025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Friday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370278"/>
                  </a:ext>
                </a:extLst>
              </a:tr>
              <a:tr h="229476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July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</a:rPr>
                        <a:t>Guru Purnima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10 July,2025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Thursday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28404"/>
                  </a:ext>
                </a:extLst>
              </a:tr>
              <a:tr h="229476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August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Raksha Bandhan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9 August, 2025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Saturday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346526"/>
                  </a:ext>
                </a:extLst>
              </a:tr>
              <a:tr h="324158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August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Janmasthami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16 August,2025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Saturday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17162"/>
                  </a:ext>
                </a:extLst>
              </a:tr>
              <a:tr h="229476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August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Ganesh Chaturthi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26 August, 2025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Tuesday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5842640"/>
                  </a:ext>
                </a:extLst>
              </a:tr>
              <a:tr h="324158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September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Onam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5 September,2025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Friday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117566"/>
                  </a:ext>
                </a:extLst>
              </a:tr>
              <a:tr h="229476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September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Durga Ashtami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30,September,2025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Tuesday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764789"/>
                  </a:ext>
                </a:extLst>
              </a:tr>
              <a:tr h="324158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October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Dussehra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2 October,2025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Thursday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0144052"/>
                  </a:ext>
                </a:extLst>
              </a:tr>
              <a:tr h="324158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October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Diwali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20 October,2025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Monday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057509"/>
                  </a:ext>
                </a:extLst>
              </a:tr>
              <a:tr h="324158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October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Govardhan Puja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22 October,2025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Wednesday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050650"/>
                  </a:ext>
                </a:extLst>
              </a:tr>
              <a:tr h="324158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October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Chhath Puja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27 October,2025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Monday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160400"/>
                  </a:ext>
                </a:extLst>
              </a:tr>
              <a:tr h="134794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November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Gurpurab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5 Nov, 2025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Wednesday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522190"/>
                  </a:ext>
                </a:extLst>
              </a:tr>
              <a:tr h="324158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December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Christmas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</a:rPr>
                        <a:t>25, December, 2025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</a:rPr>
                        <a:t>Thursday</a:t>
                      </a:r>
                    </a:p>
                  </a:txBody>
                  <a:tcPr marL="12913" marR="12913" marT="12913" marB="1291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6901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6D2AA1-37FD-BCE6-C5DA-CA6F6CE7227F}"/>
              </a:ext>
            </a:extLst>
          </p:cNvPr>
          <p:cNvSpPr txBox="1"/>
          <p:nvPr/>
        </p:nvSpPr>
        <p:spPr>
          <a:xfrm>
            <a:off x="6096000" y="2857500"/>
            <a:ext cx="9144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January:</a:t>
            </a:r>
          </a:p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Republic Day: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 January 26th</a:t>
            </a:r>
          </a:p>
          <a:p>
            <a:pPr algn="l" fontAlgn="ctr">
              <a:lnSpc>
                <a:spcPts val="1650"/>
              </a:lnSpc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Indian Army Day: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 January 15th </a:t>
            </a:r>
          </a:p>
          <a:p>
            <a:pPr algn="l">
              <a:lnSpc>
                <a:spcPts val="195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March:</a:t>
            </a:r>
          </a:p>
          <a:p>
            <a:pPr algn="l" fontAlgn="ctr">
              <a:lnSpc>
                <a:spcPts val="1650"/>
              </a:lnSpc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International Women's Day: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 March 8th </a:t>
            </a:r>
          </a:p>
          <a:p>
            <a:pPr algn="l">
              <a:lnSpc>
                <a:spcPts val="195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August:</a:t>
            </a:r>
          </a:p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Independence Day: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 August 15th</a:t>
            </a:r>
          </a:p>
          <a:p>
            <a:pPr algn="l">
              <a:lnSpc>
                <a:spcPts val="195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October:</a:t>
            </a:r>
          </a:p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Gandhi Jayanti: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 October 2nd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631</Words>
  <Application>Microsoft Office PowerPoint</Application>
  <PresentationFormat>Custom</PresentationFormat>
  <Paragraphs>199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Calibri (MS)</vt:lpstr>
      <vt:lpstr>Arial Bold</vt:lpstr>
      <vt:lpstr>Calibri (MS) Bold</vt:lpstr>
      <vt:lpstr>IBM Plex Sans Bold</vt:lpstr>
      <vt:lpstr>Arial</vt:lpstr>
      <vt:lpstr>Calibri (MS) Italics</vt:lpstr>
      <vt:lpstr>Arial Bold Italics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Sanskriti Jain</cp:lastModifiedBy>
  <cp:revision>2</cp:revision>
  <dcterms:created xsi:type="dcterms:W3CDTF">2006-08-16T00:00:00Z</dcterms:created>
  <dcterms:modified xsi:type="dcterms:W3CDTF">2025-06-10T14:37:52Z</dcterms:modified>
  <dc:identifier>DAGpQ2_OYks</dc:identifier>
</cp:coreProperties>
</file>