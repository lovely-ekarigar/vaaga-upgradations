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  <p:sldId id="269" r:id="rId14"/>
    <p:sldId id="272" r:id="rId15"/>
    <p:sldId id="257" r:id="rId16"/>
  </p:sldIdLst>
  <p:sldSz cx="18288000" cy="10287000"/>
  <p:notesSz cx="6858000" cy="9144000"/>
  <p:embeddedFontLst>
    <p:embeddedFont>
      <p:font typeface="Canva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90CB5-FF00-489F-B6EC-DBD81A1FA319}" v="7" dt="2025-06-10T04:53:48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skriti Jain" userId="df811092909c9c3b" providerId="LiveId" clId="{1C190CB5-FF00-489F-B6EC-DBD81A1FA319}"/>
    <pc:docChg chg="modSld">
      <pc:chgData name="Sanskriti Jain" userId="df811092909c9c3b" providerId="LiveId" clId="{1C190CB5-FF00-489F-B6EC-DBD81A1FA319}" dt="2025-06-10T04:53:48.977" v="6" actId="732"/>
      <pc:docMkLst>
        <pc:docMk/>
      </pc:docMkLst>
      <pc:sldChg chg="modSp">
        <pc:chgData name="Sanskriti Jain" userId="df811092909c9c3b" providerId="LiveId" clId="{1C190CB5-FF00-489F-B6EC-DBD81A1FA319}" dt="2025-06-10T04:52:53.395" v="1" actId="1076"/>
        <pc:sldMkLst>
          <pc:docMk/>
          <pc:sldMk cId="2986337961" sldId="262"/>
        </pc:sldMkLst>
        <pc:picChg chg="mod">
          <ac:chgData name="Sanskriti Jain" userId="df811092909c9c3b" providerId="LiveId" clId="{1C190CB5-FF00-489F-B6EC-DBD81A1FA319}" dt="2025-06-10T04:52:53.395" v="1" actId="1076"/>
          <ac:picMkLst>
            <pc:docMk/>
            <pc:sldMk cId="2986337961" sldId="262"/>
            <ac:picMk id="7170" creationId="{5A017F6B-109D-8B96-2975-E102232FCD1D}"/>
          </ac:picMkLst>
        </pc:picChg>
      </pc:sldChg>
      <pc:sldChg chg="modSp">
        <pc:chgData name="Sanskriti Jain" userId="df811092909c9c3b" providerId="LiveId" clId="{1C190CB5-FF00-489F-B6EC-DBD81A1FA319}" dt="2025-06-10T04:53:31.963" v="5" actId="732"/>
        <pc:sldMkLst>
          <pc:docMk/>
          <pc:sldMk cId="3891981296" sldId="265"/>
        </pc:sldMkLst>
        <pc:picChg chg="mod">
          <ac:chgData name="Sanskriti Jain" userId="df811092909c9c3b" providerId="LiveId" clId="{1C190CB5-FF00-489F-B6EC-DBD81A1FA319}" dt="2025-06-10T04:53:26.591" v="4" actId="732"/>
          <ac:picMkLst>
            <pc:docMk/>
            <pc:sldMk cId="3891981296" sldId="265"/>
            <ac:picMk id="4098" creationId="{ECB3895E-82BB-C7C9-48F3-647C53CA9482}"/>
          </ac:picMkLst>
        </pc:picChg>
        <pc:picChg chg="mod">
          <ac:chgData name="Sanskriti Jain" userId="df811092909c9c3b" providerId="LiveId" clId="{1C190CB5-FF00-489F-B6EC-DBD81A1FA319}" dt="2025-06-10T04:53:31.963" v="5" actId="732"/>
          <ac:picMkLst>
            <pc:docMk/>
            <pc:sldMk cId="3891981296" sldId="265"/>
            <ac:picMk id="4100" creationId="{E3598D6D-BCAD-7712-9DC3-CC9BBF982A2B}"/>
          </ac:picMkLst>
        </pc:picChg>
      </pc:sldChg>
      <pc:sldChg chg="modSp">
        <pc:chgData name="Sanskriti Jain" userId="df811092909c9c3b" providerId="LiveId" clId="{1C190CB5-FF00-489F-B6EC-DBD81A1FA319}" dt="2025-06-10T04:53:10.782" v="3" actId="732"/>
        <pc:sldMkLst>
          <pc:docMk/>
          <pc:sldMk cId="806369449" sldId="268"/>
        </pc:sldMkLst>
        <pc:picChg chg="mod">
          <ac:chgData name="Sanskriti Jain" userId="df811092909c9c3b" providerId="LiveId" clId="{1C190CB5-FF00-489F-B6EC-DBD81A1FA319}" dt="2025-06-10T04:53:04.285" v="2" actId="732"/>
          <ac:picMkLst>
            <pc:docMk/>
            <pc:sldMk cId="806369449" sldId="268"/>
            <ac:picMk id="11266" creationId="{392B91C2-3084-36DD-3CB7-FB90338316FC}"/>
          </ac:picMkLst>
        </pc:picChg>
        <pc:picChg chg="mod">
          <ac:chgData name="Sanskriti Jain" userId="df811092909c9c3b" providerId="LiveId" clId="{1C190CB5-FF00-489F-B6EC-DBD81A1FA319}" dt="2025-06-10T04:53:10.782" v="3" actId="732"/>
          <ac:picMkLst>
            <pc:docMk/>
            <pc:sldMk cId="806369449" sldId="268"/>
            <ac:picMk id="11268" creationId="{E816030E-C9F9-4397-F048-928C61E8A041}"/>
          </ac:picMkLst>
        </pc:picChg>
      </pc:sldChg>
      <pc:sldChg chg="modSp">
        <pc:chgData name="Sanskriti Jain" userId="df811092909c9c3b" providerId="LiveId" clId="{1C190CB5-FF00-489F-B6EC-DBD81A1FA319}" dt="2025-06-10T04:53:48.977" v="6" actId="732"/>
        <pc:sldMkLst>
          <pc:docMk/>
          <pc:sldMk cId="794755793" sldId="272"/>
        </pc:sldMkLst>
        <pc:picChg chg="mod">
          <ac:chgData name="Sanskriti Jain" userId="df811092909c9c3b" providerId="LiveId" clId="{1C190CB5-FF00-489F-B6EC-DBD81A1FA319}" dt="2025-06-10T04:53:48.977" v="6" actId="732"/>
          <ac:picMkLst>
            <pc:docMk/>
            <pc:sldMk cId="794755793" sldId="272"/>
            <ac:picMk id="12290" creationId="{F4417FD3-3F98-727D-DF06-56CDBC51D0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D0E5B-1E2F-3364-AC6F-25945CC6FC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0500"/>
            <a:ext cx="2181225" cy="7125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06986" y="6560301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84800" y="0"/>
            <a:ext cx="19445557" cy="12250701"/>
          </a:xfrm>
          <a:custGeom>
            <a:avLst/>
            <a:gdLst/>
            <a:ahLst/>
            <a:cxnLst/>
            <a:rect l="l" t="t" r="r" b="b"/>
            <a:pathLst>
              <a:path w="19445557" h="12250701">
                <a:moveTo>
                  <a:pt x="0" y="0"/>
                </a:moveTo>
                <a:lnTo>
                  <a:pt x="19445557" y="0"/>
                </a:lnTo>
                <a:lnTo>
                  <a:pt x="19445557" y="12250701"/>
                </a:lnTo>
                <a:lnTo>
                  <a:pt x="0" y="1225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906212" cy="10634744"/>
          </a:xfrm>
          <a:custGeom>
            <a:avLst/>
            <a:gdLst/>
            <a:ahLst/>
            <a:cxnLst/>
            <a:rect l="l" t="t" r="r" b="b"/>
            <a:pathLst>
              <a:path w="18906212" h="10634744">
                <a:moveTo>
                  <a:pt x="0" y="0"/>
                </a:moveTo>
                <a:lnTo>
                  <a:pt x="18906212" y="0"/>
                </a:lnTo>
                <a:lnTo>
                  <a:pt x="18906212" y="10634744"/>
                </a:lnTo>
                <a:lnTo>
                  <a:pt x="0" y="1063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02520" y="1563941"/>
            <a:ext cx="7101172" cy="2316757"/>
          </a:xfrm>
          <a:custGeom>
            <a:avLst/>
            <a:gdLst/>
            <a:ahLst/>
            <a:cxnLst/>
            <a:rect l="l" t="t" r="r" b="b"/>
            <a:pathLst>
              <a:path w="7101172" h="2316757">
                <a:moveTo>
                  <a:pt x="0" y="0"/>
                </a:moveTo>
                <a:lnTo>
                  <a:pt x="7101172" y="0"/>
                </a:lnTo>
                <a:lnTo>
                  <a:pt x="7101172" y="2316758"/>
                </a:lnTo>
                <a:lnTo>
                  <a:pt x="0" y="231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8782628"/>
            <a:ext cx="18486116" cy="1392098"/>
            <a:chOff x="0" y="0"/>
            <a:chExt cx="4868771" cy="366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68771" cy="366643"/>
            </a:xfrm>
            <a:custGeom>
              <a:avLst/>
              <a:gdLst/>
              <a:ahLst/>
              <a:cxnLst/>
              <a:rect l="l" t="t" r="r" b="b"/>
              <a:pathLst>
                <a:path w="4868771" h="366643">
                  <a:moveTo>
                    <a:pt x="0" y="0"/>
                  </a:moveTo>
                  <a:lnTo>
                    <a:pt x="4868771" y="0"/>
                  </a:lnTo>
                  <a:lnTo>
                    <a:pt x="4868771" y="366643"/>
                  </a:lnTo>
                  <a:lnTo>
                    <a:pt x="0" y="3666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68771" cy="40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50751" y="4290765"/>
            <a:ext cx="9404710" cy="2307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sz="666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TRANSPORT AND COMMUNICATION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3600" y="6960351"/>
            <a:ext cx="4221199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Sanskriti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13329" y="9062499"/>
            <a:ext cx="6890363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97"/>
              </a:lnSpc>
            </a:pPr>
            <a:r>
              <a:rPr lang="en-US" sz="435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www.vaagaacademy.com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6604DE-6A63-C9DD-8D69-262D0F170C98}"/>
              </a:ext>
            </a:extLst>
          </p:cNvPr>
          <p:cNvSpPr txBox="1"/>
          <p:nvPr/>
        </p:nvSpPr>
        <p:spPr>
          <a:xfrm>
            <a:off x="1524000" y="36195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Transport</a:t>
            </a:r>
            <a:r>
              <a:rPr lang="en-US" sz="2800" dirty="0"/>
              <a:t> means </a:t>
            </a:r>
            <a:r>
              <a:rPr lang="en-US" sz="2800" b="1" dirty="0"/>
              <a:t>moving people or goods</a:t>
            </a:r>
            <a:r>
              <a:rPr lang="en-US" sz="2800" dirty="0"/>
              <a:t> from one place to another.</a:t>
            </a:r>
            <a:br>
              <a:rPr lang="en-US" sz="2800" dirty="0"/>
            </a:br>
            <a:r>
              <a:rPr lang="en-US" sz="2800" dirty="0"/>
              <a:t>👶 We use transport to go to school, visit places, or travel far away!</a:t>
            </a:r>
            <a:br>
              <a:rPr lang="en-US" sz="2800" dirty="0"/>
            </a:br>
            <a:r>
              <a:rPr lang="en-US" sz="2800" dirty="0"/>
              <a:t>There are </a:t>
            </a:r>
            <a:r>
              <a:rPr lang="en-US" sz="2800" b="1" dirty="0"/>
              <a:t>3 types</a:t>
            </a:r>
            <a:r>
              <a:rPr lang="en-US" sz="2800" dirty="0"/>
              <a:t> of transport: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🚗 </a:t>
            </a:r>
            <a:r>
              <a:rPr lang="en-US" sz="2800" b="1" dirty="0"/>
              <a:t>Land Transport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✈️ </a:t>
            </a:r>
            <a:r>
              <a:rPr lang="en-US" sz="2800" b="1" dirty="0"/>
              <a:t>Air Transport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🚢 </a:t>
            </a:r>
            <a:r>
              <a:rPr lang="en-US" sz="2800" b="1" dirty="0"/>
              <a:t>Water Transport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9A54-E9B6-BB8B-6D29-C065E3A838F4}"/>
              </a:ext>
            </a:extLst>
          </p:cNvPr>
          <p:cNvSpPr txBox="1"/>
          <p:nvPr/>
        </p:nvSpPr>
        <p:spPr>
          <a:xfrm>
            <a:off x="7467600" y="1526269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WHAT IS TRANSPORT?</a:t>
            </a:r>
          </a:p>
        </p:txBody>
      </p:sp>
      <p:pic>
        <p:nvPicPr>
          <p:cNvPr id="1026" name="Picture 2" descr="Transportation Class 2 Notes EVS Free PDF">
            <a:extLst>
              <a:ext uri="{FF2B5EF4-FFF2-40B4-BE49-F238E27FC236}">
                <a16:creationId xmlns:a16="http://schemas.microsoft.com/office/drawing/2014/main" id="{4D9A79A9-EC83-3828-1EE5-2633509A0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5448300"/>
            <a:ext cx="6877897" cy="315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019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7562-E97A-AAB3-6066-D38323B7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479F5-33B9-2ECC-49EA-DDE5AE88E6D3}"/>
              </a:ext>
            </a:extLst>
          </p:cNvPr>
          <p:cNvSpPr txBox="1"/>
          <p:nvPr/>
        </p:nvSpPr>
        <p:spPr>
          <a:xfrm>
            <a:off x="1524000" y="36195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Land transport runs </a:t>
            </a:r>
            <a:r>
              <a:rPr lang="en-US" sz="2800" b="1" dirty="0"/>
              <a:t>on roads or rails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🚗 </a:t>
            </a:r>
            <a:r>
              <a:rPr lang="en-US" sz="2800" b="1" dirty="0"/>
              <a:t>Car</a:t>
            </a:r>
            <a:r>
              <a:rPr lang="en-US" sz="2800" dirty="0"/>
              <a:t> – For small families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🚌 </a:t>
            </a:r>
            <a:r>
              <a:rPr lang="en-US" sz="2800" b="1" dirty="0"/>
              <a:t>Bus</a:t>
            </a:r>
            <a:r>
              <a:rPr lang="en-US" sz="2800" dirty="0"/>
              <a:t> – Many people travel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🚂 </a:t>
            </a:r>
            <a:r>
              <a:rPr lang="en-US" sz="2800" b="1" dirty="0"/>
              <a:t>Train</a:t>
            </a:r>
            <a:r>
              <a:rPr lang="en-US" sz="2800" dirty="0"/>
              <a:t> – Runs on tracks, good for long distances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🚲 </a:t>
            </a:r>
            <a:r>
              <a:rPr lang="en-US" sz="2800" b="1" dirty="0"/>
              <a:t>Bicycle</a:t>
            </a:r>
            <a:r>
              <a:rPr lang="en-US" sz="2800" dirty="0"/>
              <a:t> – Eco-friendly and cheap</a:t>
            </a:r>
          </a:p>
          <a:p>
            <a:r>
              <a:rPr lang="en-US" sz="2800" dirty="0"/>
              <a:t>💡 </a:t>
            </a:r>
            <a:r>
              <a:rPr lang="en-US" sz="2800" b="1" dirty="0"/>
              <a:t>Quiz Tip</a:t>
            </a:r>
            <a:r>
              <a:rPr lang="en-US" sz="2800" dirty="0"/>
              <a:t>: </a:t>
            </a:r>
            <a:r>
              <a:rPr lang="en-US" sz="2800" b="1" dirty="0"/>
              <a:t>Bicycle</a:t>
            </a:r>
            <a:r>
              <a:rPr lang="en-US" sz="2800" dirty="0"/>
              <a:t> is the </a:t>
            </a:r>
            <a:r>
              <a:rPr lang="en-US" sz="2800" b="1" dirty="0"/>
              <a:t>least expensive</a:t>
            </a:r>
            <a:r>
              <a:rPr lang="en-US" sz="2800" dirty="0"/>
              <a:t> means of transport!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23F8F-7AA9-29BA-C0CD-94CEC45EFDFE}"/>
              </a:ext>
            </a:extLst>
          </p:cNvPr>
          <p:cNvSpPr txBox="1"/>
          <p:nvPr/>
        </p:nvSpPr>
        <p:spPr>
          <a:xfrm>
            <a:off x="7467600" y="1526269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LAND TRANSPORT</a:t>
            </a:r>
          </a:p>
        </p:txBody>
      </p:sp>
      <p:pic>
        <p:nvPicPr>
          <p:cNvPr id="10242" name="Picture 2" descr="Land Transport Chart and Worksheets">
            <a:extLst>
              <a:ext uri="{FF2B5EF4-FFF2-40B4-BE49-F238E27FC236}">
                <a16:creationId xmlns:a16="http://schemas.microsoft.com/office/drawing/2014/main" id="{7C649135-75FE-436E-748D-2020FA8D8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1218128"/>
            <a:ext cx="5105400" cy="721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51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8C59-9745-9287-AB7B-7294BE45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F37231-59CD-E566-F855-16DB84562A49}"/>
              </a:ext>
            </a:extLst>
          </p:cNvPr>
          <p:cNvSpPr txBox="1"/>
          <p:nvPr/>
        </p:nvSpPr>
        <p:spPr>
          <a:xfrm>
            <a:off x="1143000" y="3619500"/>
            <a:ext cx="8001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Air transport moves </a:t>
            </a:r>
            <a:r>
              <a:rPr lang="en-US" sz="2800" b="1" dirty="0"/>
              <a:t>through the sky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✈️ </a:t>
            </a:r>
            <a:r>
              <a:rPr lang="en-US" sz="2800" b="1" dirty="0" err="1"/>
              <a:t>Aeroplane</a:t>
            </a:r>
            <a:r>
              <a:rPr lang="en-US" sz="2800" dirty="0"/>
              <a:t> – Fastest way to travel far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🚁 </a:t>
            </a:r>
            <a:r>
              <a:rPr lang="en-US" sz="2800" b="1" dirty="0"/>
              <a:t>Helicopter</a:t>
            </a:r>
            <a:r>
              <a:rPr lang="en-US" sz="2800" dirty="0"/>
              <a:t> – Can land anywhere, even on buildings</a:t>
            </a:r>
          </a:p>
          <a:p>
            <a:r>
              <a:rPr lang="en-US" sz="2800" dirty="0"/>
              <a:t>🌍 </a:t>
            </a:r>
            <a:r>
              <a:rPr lang="en-US" sz="2800" b="1" dirty="0"/>
              <a:t>Olympiad Tip</a:t>
            </a:r>
            <a:r>
              <a:rPr lang="en-US" sz="2800" dirty="0"/>
              <a:t>: To travel from </a:t>
            </a:r>
            <a:r>
              <a:rPr lang="en-US" sz="2800" b="1" dirty="0"/>
              <a:t>Australia to Europe</a:t>
            </a:r>
            <a:r>
              <a:rPr lang="en-US" sz="2800" dirty="0"/>
              <a:t>, use an </a:t>
            </a:r>
            <a:r>
              <a:rPr lang="en-US" sz="2800" b="1" dirty="0" err="1"/>
              <a:t>aeroplane</a:t>
            </a:r>
            <a:r>
              <a:rPr lang="en-US" sz="2800" dirty="0"/>
              <a:t> – it's the fastest!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0BFCF-2B1E-E3C7-B233-0B6F96364D67}"/>
              </a:ext>
            </a:extLst>
          </p:cNvPr>
          <p:cNvSpPr txBox="1"/>
          <p:nvPr/>
        </p:nvSpPr>
        <p:spPr>
          <a:xfrm>
            <a:off x="7467600" y="1526269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AIR TRANSPORT</a:t>
            </a:r>
          </a:p>
        </p:txBody>
      </p:sp>
      <p:pic>
        <p:nvPicPr>
          <p:cNvPr id="9218" name="Picture 2" descr="Air Transport Chart and Worksheets">
            <a:extLst>
              <a:ext uri="{FF2B5EF4-FFF2-40B4-BE49-F238E27FC236}">
                <a16:creationId xmlns:a16="http://schemas.microsoft.com/office/drawing/2014/main" id="{2CC71287-084F-7A5D-9668-88C501E0F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848699"/>
            <a:ext cx="4724400" cy="667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65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0522-6746-0624-8A9B-F0C0C672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37218-0927-3666-D480-40986452A89A}"/>
              </a:ext>
            </a:extLst>
          </p:cNvPr>
          <p:cNvSpPr txBox="1"/>
          <p:nvPr/>
        </p:nvSpPr>
        <p:spPr>
          <a:xfrm>
            <a:off x="1524000" y="361950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Water transport moves on </a:t>
            </a:r>
            <a:r>
              <a:rPr lang="en-US" sz="2800" b="1" dirty="0"/>
              <a:t>rivers, lakes, or oceans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🚢 </a:t>
            </a:r>
            <a:r>
              <a:rPr lang="en-US" sz="2800" b="1" dirty="0"/>
              <a:t>Ship</a:t>
            </a:r>
            <a:r>
              <a:rPr lang="en-US" sz="2800" dirty="0"/>
              <a:t> – Carries heavy goods across seas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🛶 </a:t>
            </a:r>
            <a:r>
              <a:rPr lang="en-US" sz="2800" b="1" dirty="0"/>
              <a:t>Boat</a:t>
            </a:r>
            <a:r>
              <a:rPr lang="en-US" sz="2800" dirty="0"/>
              <a:t> – Used on rivers or small lakes</a:t>
            </a:r>
          </a:p>
          <a:p>
            <a:r>
              <a:rPr lang="en-US" sz="2800" dirty="0"/>
              <a:t>💡 </a:t>
            </a:r>
            <a:r>
              <a:rPr lang="en-US" sz="2800" b="1" dirty="0"/>
              <a:t>Quiz Tip</a:t>
            </a:r>
            <a:r>
              <a:rPr lang="en-US" sz="2800" dirty="0"/>
              <a:t>: </a:t>
            </a:r>
            <a:r>
              <a:rPr lang="en-US" sz="2800" b="1" dirty="0"/>
              <a:t>Boat</a:t>
            </a:r>
            <a:r>
              <a:rPr lang="en-US" sz="2800" dirty="0"/>
              <a:t> is different from cars and buses. It’s a </a:t>
            </a:r>
            <a:r>
              <a:rPr lang="en-US" sz="2800" b="1" dirty="0"/>
              <a:t>water transport</a:t>
            </a:r>
            <a:r>
              <a:rPr lang="en-US" sz="2800" dirty="0"/>
              <a:t>, not land!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C35AD-C1CA-7666-7029-AFEB5AB57844}"/>
              </a:ext>
            </a:extLst>
          </p:cNvPr>
          <p:cNvSpPr txBox="1"/>
          <p:nvPr/>
        </p:nvSpPr>
        <p:spPr>
          <a:xfrm>
            <a:off x="7467600" y="1526269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WATER TRANSPORT</a:t>
            </a:r>
          </a:p>
        </p:txBody>
      </p:sp>
      <p:pic>
        <p:nvPicPr>
          <p:cNvPr id="8194" name="Picture 2" descr="List Of Water Transport Names In English">
            <a:extLst>
              <a:ext uri="{FF2B5EF4-FFF2-40B4-BE49-F238E27FC236}">
                <a16:creationId xmlns:a16="http://schemas.microsoft.com/office/drawing/2014/main" id="{32A2F32E-16BA-8FAF-D315-78506FAD2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800" y="1158876"/>
            <a:ext cx="4648200" cy="69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8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DB30-9EBF-1404-A35C-B1483166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FAD5C-FDFA-3A68-E27A-9BA384ABDE63}"/>
              </a:ext>
            </a:extLst>
          </p:cNvPr>
          <p:cNvSpPr txBox="1"/>
          <p:nvPr/>
        </p:nvSpPr>
        <p:spPr>
          <a:xfrm>
            <a:off x="1524000" y="361950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Some vehicles are used in </a:t>
            </a:r>
            <a:r>
              <a:rPr lang="en-US" sz="2800" b="1" dirty="0"/>
              <a:t>special places</a:t>
            </a:r>
            <a:r>
              <a:rPr lang="en-U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🚜 </a:t>
            </a:r>
            <a:r>
              <a:rPr lang="en-US" sz="2800" b="1" dirty="0"/>
              <a:t>Tractor</a:t>
            </a:r>
            <a:r>
              <a:rPr lang="en-US" sz="2800" dirty="0"/>
              <a:t> – Used on farms to plough or carry things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🚒 </a:t>
            </a:r>
            <a:r>
              <a:rPr lang="en-US" sz="2800" b="1" dirty="0"/>
              <a:t>Fire Truck</a:t>
            </a:r>
            <a:r>
              <a:rPr lang="en-US" sz="2800" dirty="0"/>
              <a:t> – Used during emergencies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🚑 </a:t>
            </a:r>
            <a:r>
              <a:rPr lang="en-US" sz="2800" b="1" dirty="0"/>
              <a:t>Ambulance</a:t>
            </a:r>
            <a:r>
              <a:rPr lang="en-US" sz="2800" dirty="0"/>
              <a:t> – Helps sick people reach the hospital</a:t>
            </a:r>
          </a:p>
          <a:p>
            <a:r>
              <a:rPr lang="en-US" sz="2800" dirty="0"/>
              <a:t>🧠 </a:t>
            </a:r>
            <a:r>
              <a:rPr lang="en-US" sz="2800" b="1" dirty="0"/>
              <a:t>Olympiad Tip</a:t>
            </a:r>
            <a:r>
              <a:rPr lang="en-US" sz="2800" dirty="0"/>
              <a:t>: </a:t>
            </a:r>
            <a:r>
              <a:rPr lang="en-US" sz="2800" b="1" dirty="0"/>
              <a:t>Tractors</a:t>
            </a:r>
            <a:r>
              <a:rPr lang="en-US" sz="2800" dirty="0"/>
              <a:t> are used on </a:t>
            </a:r>
            <a:r>
              <a:rPr lang="en-US" sz="2800" b="1" dirty="0"/>
              <a:t>farms</a:t>
            </a:r>
            <a:r>
              <a:rPr lang="en-US" sz="2800"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B06A6-560F-A117-30FA-607AF76867F9}"/>
              </a:ext>
            </a:extLst>
          </p:cNvPr>
          <p:cNvSpPr txBox="1"/>
          <p:nvPr/>
        </p:nvSpPr>
        <p:spPr>
          <a:xfrm>
            <a:off x="7467600" y="1526269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SPECIAL TRANSPORT</a:t>
            </a:r>
          </a:p>
        </p:txBody>
      </p:sp>
      <p:pic>
        <p:nvPicPr>
          <p:cNvPr id="7170" name="Picture 2" descr="Class 2 Types of Transport - Key ...">
            <a:extLst>
              <a:ext uri="{FF2B5EF4-FFF2-40B4-BE49-F238E27FC236}">
                <a16:creationId xmlns:a16="http://schemas.microsoft.com/office/drawing/2014/main" id="{5A017F6B-109D-8B96-2975-E102232FC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9"/>
          <a:stretch>
            <a:fillRect/>
          </a:stretch>
        </p:blipFill>
        <p:spPr bwMode="auto">
          <a:xfrm>
            <a:off x="10156723" y="4381500"/>
            <a:ext cx="6137343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33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16BF-FC02-FE36-E0B7-FF43AAED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D56B7B-C1D6-5A9B-A740-DAEAABF0300E}"/>
              </a:ext>
            </a:extLst>
          </p:cNvPr>
          <p:cNvSpPr txBox="1"/>
          <p:nvPr/>
        </p:nvSpPr>
        <p:spPr>
          <a:xfrm>
            <a:off x="1524000" y="361950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Public Transport</a:t>
            </a:r>
            <a:r>
              <a:rPr lang="en-IN" sz="2800" dirty="0"/>
              <a:t> = Many people use it (e.g., 🚌 bus, 🚇 metro)</a:t>
            </a:r>
            <a:br>
              <a:rPr lang="en-IN" sz="2800" dirty="0"/>
            </a:br>
            <a:r>
              <a:rPr lang="en-IN" sz="2800" b="1" dirty="0"/>
              <a:t>Private Transport</a:t>
            </a:r>
            <a:r>
              <a:rPr lang="en-IN" sz="2800" dirty="0"/>
              <a:t> = For personal use (e.g., 🚗 car, 🛵 scooter)</a:t>
            </a:r>
          </a:p>
          <a:p>
            <a:r>
              <a:rPr lang="en-IN" sz="2800" dirty="0"/>
              <a:t>✅ </a:t>
            </a:r>
            <a:r>
              <a:rPr lang="en-IN" sz="2800" b="1" dirty="0"/>
              <a:t>Olympiad Tip</a:t>
            </a:r>
            <a:r>
              <a:rPr lang="en-IN" sz="2800" dirty="0"/>
              <a:t>: Both buses and the metro are </a:t>
            </a:r>
            <a:r>
              <a:rPr lang="en-IN" sz="2800" b="1" dirty="0"/>
              <a:t>public transport</a:t>
            </a:r>
            <a:r>
              <a:rPr lang="en-IN" sz="2800"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41B2C-A8B6-D10F-7E82-3085C3AEF067}"/>
              </a:ext>
            </a:extLst>
          </p:cNvPr>
          <p:cNvSpPr txBox="1"/>
          <p:nvPr/>
        </p:nvSpPr>
        <p:spPr>
          <a:xfrm>
            <a:off x="7467600" y="1526269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PUBLIC AND PRIVATE</a:t>
            </a:r>
          </a:p>
        </p:txBody>
      </p:sp>
      <p:pic>
        <p:nvPicPr>
          <p:cNvPr id="1026" name="Picture 2" descr="Transportation Class 2 Notes EVS Free PDF">
            <a:extLst>
              <a:ext uri="{FF2B5EF4-FFF2-40B4-BE49-F238E27FC236}">
                <a16:creationId xmlns:a16="http://schemas.microsoft.com/office/drawing/2014/main" id="{1A3A3B9F-9172-543A-0A7B-50797E5C4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5448300"/>
            <a:ext cx="6877897" cy="315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25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lass 2 Types of Transport - Key ...">
            <a:extLst>
              <a:ext uri="{FF2B5EF4-FFF2-40B4-BE49-F238E27FC236}">
                <a16:creationId xmlns:a16="http://schemas.microsoft.com/office/drawing/2014/main" id="{392B91C2-3084-36DD-3CB7-FB9033831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857250" y="3695700"/>
            <a:ext cx="7677150" cy="489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lass 2 Types of Transport - Key ...">
            <a:extLst>
              <a:ext uri="{FF2B5EF4-FFF2-40B4-BE49-F238E27FC236}">
                <a16:creationId xmlns:a16="http://schemas.microsoft.com/office/drawing/2014/main" id="{E816030E-C9F9-4397-F048-928C61E8A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/>
          <a:stretch>
            <a:fillRect/>
          </a:stretch>
        </p:blipFill>
        <p:spPr bwMode="auto">
          <a:xfrm>
            <a:off x="8991600" y="3695700"/>
            <a:ext cx="8305800" cy="491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36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8D60-2FD3-E46B-30CC-421A74E7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A3549-E12B-B616-52B9-AF9CE0ECE369}"/>
              </a:ext>
            </a:extLst>
          </p:cNvPr>
          <p:cNvSpPr txBox="1"/>
          <p:nvPr/>
        </p:nvSpPr>
        <p:spPr>
          <a:xfrm>
            <a:off x="1524000" y="361950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Communication</a:t>
            </a:r>
            <a:r>
              <a:rPr lang="en-US" sz="2800" dirty="0"/>
              <a:t> means </a:t>
            </a:r>
            <a:r>
              <a:rPr lang="en-US" sz="2800" b="1" dirty="0"/>
              <a:t>sharing messages, ideas, or feelings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We can do this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📞 Talking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💬 Writing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📧 Sending messages or emails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72E4F-422F-2DF6-37B0-D9F27B5023C8}"/>
              </a:ext>
            </a:extLst>
          </p:cNvPr>
          <p:cNvSpPr txBox="1"/>
          <p:nvPr/>
        </p:nvSpPr>
        <p:spPr>
          <a:xfrm>
            <a:off x="7467600" y="1526269"/>
            <a:ext cx="297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WHAT IS COMMUNICATION?</a:t>
            </a:r>
          </a:p>
        </p:txBody>
      </p:sp>
      <p:pic>
        <p:nvPicPr>
          <p:cNvPr id="5122" name="Picture 2" descr="Class 2 - Transport and Communication ...">
            <a:extLst>
              <a:ext uri="{FF2B5EF4-FFF2-40B4-BE49-F238E27FC236}">
                <a16:creationId xmlns:a16="http://schemas.microsoft.com/office/drawing/2014/main" id="{56C0162C-EBFA-354B-5C95-40D101DFC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920757"/>
            <a:ext cx="6019800" cy="416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00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0575-E815-F0CF-ADDB-349F8E01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295BB-1B2C-C790-7E70-67D1E96032DF}"/>
              </a:ext>
            </a:extLst>
          </p:cNvPr>
          <p:cNvSpPr txBox="1"/>
          <p:nvPr/>
        </p:nvSpPr>
        <p:spPr>
          <a:xfrm>
            <a:off x="1524000" y="36195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There are </a:t>
            </a:r>
            <a:r>
              <a:rPr lang="en-US" sz="3200" b="1" dirty="0"/>
              <a:t>2 main types</a:t>
            </a:r>
            <a:r>
              <a:rPr lang="en-US" sz="3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📞 </a:t>
            </a:r>
            <a:r>
              <a:rPr lang="en-US" sz="3200" b="1" dirty="0"/>
              <a:t>Verbal Communication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Talking, using words or sounds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Example: phone call, talking to a friend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📝 </a:t>
            </a:r>
            <a:r>
              <a:rPr lang="en-US" sz="3200" b="1" dirty="0"/>
              <a:t>Non-Verbal Communication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Using signs, pictures, or gestures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Example: emojis, traffic signals, facial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CA069-BE3A-D559-0BBA-95A94CC73B5D}"/>
              </a:ext>
            </a:extLst>
          </p:cNvPr>
          <p:cNvSpPr txBox="1"/>
          <p:nvPr/>
        </p:nvSpPr>
        <p:spPr>
          <a:xfrm>
            <a:off x="7467600" y="1526269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TYPES OF COMMUNICATION</a:t>
            </a:r>
          </a:p>
        </p:txBody>
      </p:sp>
      <p:pic>
        <p:nvPicPr>
          <p:cNvPr id="4098" name="Picture 2" descr="Class 2 Types of Communication - Key ...">
            <a:extLst>
              <a:ext uri="{FF2B5EF4-FFF2-40B4-BE49-F238E27FC236}">
                <a16:creationId xmlns:a16="http://schemas.microsoft.com/office/drawing/2014/main" id="{ECB3895E-82BB-C7C9-48F3-647C53CA9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7"/>
          <a:stretch>
            <a:fillRect/>
          </a:stretch>
        </p:blipFill>
        <p:spPr bwMode="auto">
          <a:xfrm>
            <a:off x="12877800" y="1526269"/>
            <a:ext cx="3514725" cy="301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lass 2 Types of Communication - Key ...">
            <a:extLst>
              <a:ext uri="{FF2B5EF4-FFF2-40B4-BE49-F238E27FC236}">
                <a16:creationId xmlns:a16="http://schemas.microsoft.com/office/drawing/2014/main" id="{E3598D6D-BCAD-7712-9DC3-CC9BBF982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5"/>
          <a:stretch>
            <a:fillRect/>
          </a:stretch>
        </p:blipFill>
        <p:spPr bwMode="auto">
          <a:xfrm>
            <a:off x="12877800" y="5932474"/>
            <a:ext cx="3581400" cy="301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98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080E-0ABC-4377-54F0-EFEAE34B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8D7F5A-D622-BEED-823F-CAF5A69F138B}"/>
              </a:ext>
            </a:extLst>
          </p:cNvPr>
          <p:cNvSpPr txBox="1"/>
          <p:nvPr/>
        </p:nvSpPr>
        <p:spPr>
          <a:xfrm>
            <a:off x="1524000" y="3619500"/>
            <a:ext cx="914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🖼️ </a:t>
            </a:r>
            <a:r>
              <a:rPr lang="en-IN" sz="2800" b="1" dirty="0"/>
              <a:t>Visual</a:t>
            </a:r>
            <a:r>
              <a:rPr lang="en-IN" sz="2800" dirty="0"/>
              <a:t> – Pictures, charts, signs</a:t>
            </a:r>
            <a:br>
              <a:rPr lang="en-IN" sz="2800" dirty="0"/>
            </a:br>
            <a:r>
              <a:rPr lang="en-IN" sz="2800" dirty="0"/>
              <a:t>🔊 </a:t>
            </a:r>
            <a:r>
              <a:rPr lang="en-IN" sz="2800" b="1" dirty="0"/>
              <a:t>Audio</a:t>
            </a:r>
            <a:r>
              <a:rPr lang="en-IN" sz="2800" dirty="0"/>
              <a:t> – Radio, phone</a:t>
            </a:r>
            <a:br>
              <a:rPr lang="en-IN" sz="2800" dirty="0"/>
            </a:br>
            <a:r>
              <a:rPr lang="en-IN" sz="2800" dirty="0"/>
              <a:t>💻 </a:t>
            </a:r>
            <a:r>
              <a:rPr lang="en-IN" sz="2800" b="1" dirty="0"/>
              <a:t>Digital</a:t>
            </a:r>
            <a:r>
              <a:rPr lang="en-IN" sz="2800" dirty="0"/>
              <a:t> – WhatsApp, Email, Video calls</a:t>
            </a:r>
            <a:br>
              <a:rPr lang="en-IN" sz="2800" dirty="0"/>
            </a:br>
            <a:r>
              <a:rPr lang="en-IN" sz="2800" dirty="0"/>
              <a:t>📫 </a:t>
            </a:r>
            <a:r>
              <a:rPr lang="en-IN" sz="2800" b="1" dirty="0"/>
              <a:t>Postal</a:t>
            </a:r>
            <a:r>
              <a:rPr lang="en-IN" sz="2800" dirty="0"/>
              <a:t> – Letters, postcards</a:t>
            </a:r>
          </a:p>
          <a:p>
            <a:pPr>
              <a:buNone/>
            </a:pPr>
            <a:r>
              <a:rPr lang="en-IN" sz="2800" dirty="0"/>
              <a:t>🔍 </a:t>
            </a:r>
            <a:r>
              <a:rPr lang="en-IN" sz="2800" b="1" dirty="0"/>
              <a:t>Quiz Practice</a:t>
            </a:r>
            <a:r>
              <a:rPr lang="en-IN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📧 Email is </a:t>
            </a:r>
            <a:r>
              <a:rPr lang="en-IN" sz="2800" b="1" dirty="0"/>
              <a:t>digital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📨 Letter is </a:t>
            </a:r>
            <a:r>
              <a:rPr lang="en-IN" sz="2800" b="1" dirty="0"/>
              <a:t>postal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E6C02-208A-D6B3-1870-4B5D7587E81C}"/>
              </a:ext>
            </a:extLst>
          </p:cNvPr>
          <p:cNvSpPr txBox="1"/>
          <p:nvPr/>
        </p:nvSpPr>
        <p:spPr>
          <a:xfrm>
            <a:off x="7467600" y="1526269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HOW WE COMMUNICATE TODAY?</a:t>
            </a:r>
          </a:p>
        </p:txBody>
      </p:sp>
    </p:spTree>
    <p:extLst>
      <p:ext uri="{BB962C8B-B14F-4D97-AF65-F5344CB8AC3E}">
        <p14:creationId xmlns:p14="http://schemas.microsoft.com/office/powerpoint/2010/main" val="235065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B9F2-B0C9-BE8B-E047-4792A6B5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B8DE0F-26D3-1A51-3AFE-9D872A06D1CB}"/>
              </a:ext>
            </a:extLst>
          </p:cNvPr>
          <p:cNvSpPr txBox="1"/>
          <p:nvPr/>
        </p:nvSpPr>
        <p:spPr>
          <a:xfrm>
            <a:off x="7467600" y="1526269"/>
            <a:ext cx="335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COMMUNICATION TOOLS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5F525F-76A4-88DE-ADD8-DEF2BEAB9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32221"/>
              </p:ext>
            </p:extLst>
          </p:nvPr>
        </p:nvGraphicFramePr>
        <p:xfrm>
          <a:off x="5638800" y="3565321"/>
          <a:ext cx="8229600" cy="2072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8736753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532857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/>
                        <a:t>Old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/>
                        <a:t>New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257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0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Landline 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Mobile 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5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Newspaper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Television,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777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66E0372-48A1-7A5C-84AF-AC35CA0D6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5913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 and New Communication: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Tip: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give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2045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A45B-C5A2-D46B-E41B-1E4D03DF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562960-18FC-9317-64EE-742AC1E173EB}"/>
              </a:ext>
            </a:extLst>
          </p:cNvPr>
          <p:cNvSpPr txBox="1"/>
          <p:nvPr/>
        </p:nvSpPr>
        <p:spPr>
          <a:xfrm>
            <a:off x="1524000" y="36195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Transport</a:t>
            </a:r>
            <a:r>
              <a:rPr lang="en-US" sz="2800" dirty="0"/>
              <a:t> helps 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Travel to school and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 goods across countries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Visit family and friends</a:t>
            </a:r>
          </a:p>
          <a:p>
            <a:pPr>
              <a:buNone/>
            </a:pPr>
            <a:r>
              <a:rPr lang="en-US" sz="2800" dirty="0"/>
              <a:t>💬 </a:t>
            </a:r>
            <a:r>
              <a:rPr lang="en-US" sz="2800" b="1" dirty="0"/>
              <a:t>Communication</a:t>
            </a:r>
            <a:r>
              <a:rPr lang="en-US" sz="2800" dirty="0"/>
              <a:t> helps 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Stay in touch with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Share knowledge and news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Learn and have fun online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664B1-B57A-754C-BB4F-6E999F64DF61}"/>
              </a:ext>
            </a:extLst>
          </p:cNvPr>
          <p:cNvSpPr txBox="1"/>
          <p:nvPr/>
        </p:nvSpPr>
        <p:spPr>
          <a:xfrm>
            <a:off x="7467600" y="1526269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WHY IMPORTANT?</a:t>
            </a:r>
          </a:p>
        </p:txBody>
      </p:sp>
    </p:spTree>
    <p:extLst>
      <p:ext uri="{BB962C8B-B14F-4D97-AF65-F5344CB8AC3E}">
        <p14:creationId xmlns:p14="http://schemas.microsoft.com/office/powerpoint/2010/main" val="120797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lass 2 Types of Communication - Key ...">
            <a:extLst>
              <a:ext uri="{FF2B5EF4-FFF2-40B4-BE49-F238E27FC236}">
                <a16:creationId xmlns:a16="http://schemas.microsoft.com/office/drawing/2014/main" id="{F4417FD3-3F98-727D-DF06-56CDBC51D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4"/>
          <a:stretch>
            <a:fillRect/>
          </a:stretch>
        </p:blipFill>
        <p:spPr bwMode="auto">
          <a:xfrm>
            <a:off x="4267200" y="1638300"/>
            <a:ext cx="92964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755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512</Words>
  <Application>Microsoft Office PowerPoint</Application>
  <PresentationFormat>Custom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KIT Format</dc:title>
  <dc:creator>Sanskriti Jain</dc:creator>
  <cp:lastModifiedBy>Sanskriti Jain</cp:lastModifiedBy>
  <cp:revision>7</cp:revision>
  <dcterms:created xsi:type="dcterms:W3CDTF">2006-08-16T00:00:00Z</dcterms:created>
  <dcterms:modified xsi:type="dcterms:W3CDTF">2025-06-10T04:53:57Z</dcterms:modified>
  <dc:identifier>DAGm2atu-Zk</dc:identifier>
</cp:coreProperties>
</file>